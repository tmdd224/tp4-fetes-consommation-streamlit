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21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506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du bloc IA. Message d'entrée : entraîner un modèle avec scikit-learn prend trois lignes ; l'entraîner correctement, sans se mentir sur sa performance, est tout le métier. Cette séance n'est pas un catalogue d'algorithmes mais une méthode. Vérifier l'environnement : pip install scikit-learn, version 1.5 ou plus récente pour TunedThresholdClassifierCV (les exemples tournent avec la 1.9). Tous les chiffres affichés sont produits par le code des slides, sur les données football du TP2 et sur un jeu de données médical intégré à scikit-learn. Les imports sont écrits sur chaque slide pour que chaque bloc puisse être copié tel quel.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rouge : à la fin, chaque étudiant doit savoir répondre à la question qu'un responsable posera toujours : « quelle performance aura ce modèle sur des données qu'il n'a jamais vues, et pourquoi devrais-je le croire ? ». Les quatre verbes correspondent aux quatre parties du cours et aux parties du TP4.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continuité : un modèle scikit-learn reçoit un DataFrame Pandas propre, donc la qualité du TP2 conditionne directement le TP4, qui réutilise les mêmes données football. Et les principes vus aujourd'hui, découpage, validation, métriques, fuites, resteront valables en deep learning à la séance 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environ 15 minutes. Même si certains ont déjà utilisé scikit-learn, revoir l'API avec précision : beaucoup d'erreurs avancées, notamment les fuites, viennent d'une confusion entre fit et transform.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étapes 3 à 5 forment une boucle : on itère autant qu'on veut, mais uniquement sur les données d'entraînement grâce à la validation croisée. L'étape 6 n'a lieu qu'une fois : si on regarde le score de test puis qu'on retouche le modèle, le test devient une donnée d'entraînement déguisée et le score annoncé est trop optimiste. C'est la règle numéro un du TP4.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objets scikit-learn suivent ce contrat, d'où la possibilité de les enchaîner. Le suffixe en tiret bas est une convention précieuse : StandardScaler().fit(X).mean_ contient les moyennes apprises. Question à poser à la classe : un StandardScaler ajusté sur toutes les données, puis utilisé sur le test, a-t-il vu le test ? Oui, à travers mean_ et scale_. On le démontrera dans la partie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premières lignes sont supervisées : on dispose de la bonne réponse pour apprendre. Les deux dernières ne le sont pas : on cherche une structure. Le TP4 est une classification à trois classes, avec une variante de régression du nombre de buts. La colonne métrique est la plus importante : choisir la métrique, c'est définir ce que « bon modèle » veut dire, avant d'écrire la moindre ligne.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joueurs viennent du TP2, après nettoyage : doublons supprimés, salaires convertis, âge calculé. On garde 20 % pour le test, avec random_state fixé pour la reproductibilité. Point important : il reste des valeurs manquantes dans minutes_jouees et age. On ne les remplit pas maintenant avec la médiane globale : ce serait une fuite. L'imputation se fera dans le pipeline, apprise sur l'entraînement seulement.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environ 20 minutes. C'est l'outil qui distingue un notebook d'étudiant d'un code professionnel. Dans le TP4, tout modèle évalué hors d'un Pipeline vaut zéro sur la question correspondante.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le scaler calcule moyenne et écart-type sur toutes les lignes, test compris : l'information du test fuit dans l'entraînement. Avec un scaler l'effet est souvent faible, mais avec une imputation, une sélection de variables ou un encodage de cible il peut être énorme ; la démonstration chiffrée arrive en partie 3. À droite, le pipeline garantit que fit ne voit que l'entraînement et que predict applique exactement les mêmes transformations.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groupe de colonnes reçoit son propre traitement : pour les numériques, imputation par la médiane puis standardisation ; pour les catégorielles, encodage one-hot. handle_unknown='ignore' évite un plantage si une catégorie inconnue apparaît en production, par exemple un club promu. sparse_output=False est nécessaire pour HistGradientBoosting, qui refuse les matrices creuses : c'est une erreur classique. Résultat : 5 colonnes numériques et 27 indicatrices.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make_pipeline enchaîne le ColumnTransformer et le modèle. Un seul fit, un seul predict. Ridge est une régression linéaire avec pénalité L2 : alpha contrôle la force de régularisation. MAE de 49 088 FCFA : en moyenne, on se trompe d'environ 49 000 FCFA sur un salaire mensuel. R² de 0,77 : le modèle explique 77 % de la variance des salaires. C'est notre référence.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salaires sont asymétriques : quelques stars gagnent beaucoup plus que la moyenne. Modéliser le logarithme du salaire rend la distribution plus symétrique et les erreurs relatives. TransformedTargetRegressor applique log à y avant fit et exp après predict, de sorte que les prédictions sont bien en FCFA. Le gain est modeste ici, mais on va voir en validation croisée qu'il est stable.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intégrer une étape métier dans un pipeline, on hérite de BaseEstimator et TransformerMixin : fit_transform est alors fourni gratuitement. Règle d'or : tout ce qui est appris des données se calcule dans fit et se stocke dans un attribut à tiret bas ; transform ne fait qu'appliquer. Ici rien n'est appris, mais le transformeur peut quand même être placé dans le pipeline. On copie X pour ne pas modifier le DataFrame de l'appelant. Le TP4 demande un transformeur de ce type.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set_output(transform='pandas') fait sortir des DataFrame avec des noms de colonnes explicites, préfixés par le nom de l'étape : num__ et cat__. get_feature_names_out permet de relier les coefficients aux variables. Lecture : jouer à E01 ajoute environ 238 000 FCFA au salaire prédit par rapport à la référence, toutes choses égales par ailleurs. L'indexation modele[0] et modele[-1] donne la première et la dernière étape.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environ 30 minutes : c'est la plus importante. Un modèle moyen bien évalué vaut mieux qu'un excellent modèle mal évalué, car on sait quoi en attendre.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d'entraînement sont coupées en 5 parts. Chaque part sert une fois de validation pendant que les 4 autres servent à entraîner. On obtient 5 scores : la moyenne estime la performance, l'écart-type sa stabilité. Deux modèles dont les moyennes diffèrent de moins d'un écart-type ne sont pas vraiment départagés. Le test, à droite, n'intervient jamais dans cette boucle. En classification, StratifiedKFold conserve les proportions des classes dans chaque pli.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Surprise pédagogique : la régression Ridge sur le log du salaire bat la forêt aléatoire et le gradient boosting. Sur un tableau d'environ 1 300 lignes où le club et le poste expliquent l'essentiel, un modèle linéaire bien préparé suffit. Les modèles plus puissants ne gagnent pas automatiquement. L'écart Ridge contre forêt, 4 600 FCFA, dépasse les écarts-types : il est significatif.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et RMSE s'expriment en FCFA, ce qui facilite la communication avec un non-spécialiste. La RMSE est toujours supérieure ou égale à la MAE ; un grand écart entre les deux signale quelques erreurs très fortes. Le R² peut être négatif si le modèle fait pire que prédire la moyenne. Le piège du signe : scikit-learn maximise toujours le score, donc les erreurs sont passées en négatif et il faut reprendre l'opposé pour les afficher.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Jeu de données médical intégré à scikit-learn : 569 tumeurs, 30 mesures. On inverse la cible pour que 1 signifie maligne, la classe qui nous intéresse. stratify=yc garde la même proportion de tumeurs malignes dans l'entraînement et le test. Exactitude de 96,5 %, mais le rappel de la classe maligne n'est que de 92,5 % : 4 cancers non détectés. Dans ce contexte, un faux négatif coûte beaucoup plus cher qu'un faux positif. La métrique doit refléter ce coût. Les lignes vides du rapport ont été retirées pour l'affichage.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courbes évaluent le score du modèle, indépendamment du seuil de 0,5. La courbe ROC trace le taux de vrais positifs contre le taux de faux positifs pour tous les seuils. La courbe précision-rappel est plus exigeante quand la classe positive est minoritaire, car elle ignore les vrais négatifs, nombreux et faciles. Ici les deux sont proches de 1 : le classement est excellent. La matrice de confusion, à gauche, montre les 4 faux négatifs et le seul faux positif. Le problème vient donc du seuil, pas du modèle.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 défaut, predict compare la probabilité à 0,5. Ce seuil est arbitraire. TunedThresholdClassifierCV cherche le seuil qui maximise une métrique, par validation croisée sur l'entraînement, donc sans fuite. On choisit le F2, qui accorde deux fois plus de poids au rappel. Optimiser le rappel seul est une erreur : il suffit de tout prédire malin pour obtenir un rappel de 1. Résultat : seuil abaissé à 0,35, un cancer manqué de moins, sans faux positif supplémentaire.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modèle est calibré si, parmi les cas auxquels il donne 80 %, environ 80 % sont effectivement positifs. Naive Bayes classe bien mais donne des probabilités extrêmes, proches de 0 ou 1. CalibratedClassifierCV réapprend la correspondance entre score et probabilité, ici par régression isotonique, avec une validation croisée interne. Le score de Brier, moyenne de (p − y)², passe de 0,053 à 0,037 ; plus il est bas, mieux c'est. C'est crucial pour le TP4 : des probabilités de victoire servent à simuler une saison entière.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calibration_curve regroupe les prédictions par tranches de probabilité et compare, dans chaque tranche, la probabilité moyenne annoncée à la fréquence observée. Une courbe au-dessus de la diagonale signifie que le modèle sous-estime, en dessous qu'il surestime. Avec seulement 143 cas de test, les courbes sont bruitées : on lit la tendance, pas chaque point. Dans le TP4, on trace ce diagramme pour chaque issue : domicile, nul et extérieur.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Expérience frappante : des données entièrement aléatoires, sans aucun lien avec la cible. Un modèle honnête doit obtenir environ 50 %. En sélectionnant les 20 meilleures colonnes sur toutes les données avant la validation croisée, on choisit des colonnes qui, par hasard, corrèlent avec les étiquettes de validation : on obtient 79 %, un faux résultat spectaculaire. Dans un pipeline, la sélection est refaite dans chaque pli et le score retombe à 51 %. Ce type d'erreur a déjà invalidé des publications scientifiques.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les lignes sont ordonnées dans le temps, KFold avec mélange entraîne sur des matchs de mars pour prédire des matchs de janvier : c'est une fuite temporelle. TimeSeriesSplit entraîne toujours sur le passé et valide sur la période suivante, avec un entraînement qui grandit. Il faut trier les données par date avant. C'est exactement le protocole exigé dans le TP4 : la validation croisée utilise TimeSeriesSplit et le test est la dernière saison.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environ 20 minutes. On passe du protocole aux modèles eux-mêmes : comment régler leur complexité et comprendre ce qu'ils ont appris.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validation_curve fait varier un seul hyperparamètre, ici min_samples_leaf d'un arbre de décision. L'axe est inversé pour que la complexité augmente vers la droite. À droite, l'arbre mémorise : R² parfait à l'entraînement, 0,55 en validation, c'est la variance, ou surapprentissage. À gauche, l'arbre est trop contraint : il rate des structures réelles, c'est le biais, ou sous-apprentissage. Le meilleur compromis est au milieu. L'écart entre les deux courbes est le premier diagnostic à regarder.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données tabulaires, la règle pratique est : commencer par un modèle linéaire régularisé, qui sert de référence, puis essayer HistGradientBoosting. Les réseaux de neurones battent rarement le gradient boosting sur ce type de données. PoissonRegressor est mis en avant car le TP4 l'utilise pour prédire le nombre de buts de chaque équipe, une approche classique en analyse sportive.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RandomizedSearchCV tire 30 combinaisons au hasard dans des distributions : loguniform pour le taux d'apprentissage, qui varie sur plusieurs ordres de grandeur, randint pour les entiers. À budget égal, c'est souvent plus efficace qu'une grille exhaustive. Le double tiret bas désigne un paramètre d'une étape du pipeline. Le gradient boosting passe de 53 400 à 49 300 FCFA, mais reste derrière Ridge à 47 700 : l'optimisation ne change pas la hiérarchie. Les arbres retenus sont très peu profonds, signe que le problème est presque additif.</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learning_curve réentraîne le modèle sur des fractions croissantes des données. Si la courbe de validation descend encore à droite, plus de données aidera. Si les deux courbes se rejoignent à un niveau élevé, il faut un modèle plus riche ou de meilleures variables, pas plus de données. Cette question a un coût réel en entreprise : collecter des données coûte cher, et ce graphique permet d'y répondre avant de dépenser.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L'importance par permutation mélange une colonne du test et mesure la dégradation du score. Si mélanger equipe_id fait grimper l'erreur de 65 000 FCFA, le modèle s'appuie fortement sur le club. Avantages : fonctionne pour tout modèle, se calcule sur le test, et porte sur les colonnes d'origine plutôt que sur les indicatrices. Limite : deux variables corrélées se partagent l'importance, et chacune peut paraître peu utile. Une importance n'est pas une causalité.</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de positifs. Sans pondération, le modèle obtient 95,4 % d'exactitude en prédisant presque toujours la classe majoritaire : il ne détecte que 18 % des positifs. class_weight='balanced' pondère les erreurs inversement à la fréquence des classes : l'exactitude chute, mais l'exactitude équilibrée et le rappel de la minorité augmentent fortement. Morale : l'exactitude seule est trompeuse dès que les classes sont déséquilibrées. Dans le TP4, les matchs nuls sont la classe minoritaire et quasiment jamais prédits.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5, environ 10 minutes. Un aperçu du non supervisé, puis le passage en production et la check-list de l'expert.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Joueurs de 2025-2026 ayant joué au moins 450 minutes, décrits par 4 statistiques ramenées à 90 minutes, puis standardisées : K-means utilise des distances, la mise à l'échelle est obligatoire. Honnêteté : la silhouette est maximale pour k = 2, mais k = 4 donne des groupes plus faciles à interpréter. Le groupe 1 marque 0,51 but par 90 minutes et compte 30 attaquants sur 33. Le choix de k est un compromis entre métrique et sens métier. L'ACP projette en 2D pour visualiser ; les deux axes conservent 69 % de la variance.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sauvegarde le pipeline complet, prétraitement compris : en production, on lui donne une ligne brute avec les mêmes colonnes et il fait tout. Deux précautions : charger avec la même version de scikit-learn que celle de l'entraînement, et ne jamais charger un fichier joblib d'origine inconnue, car il peut exécuter du code arbitraire. Pour aller plus loin, ce pipeline peut être servi dans l'application Streamlit de la séance 3.</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points serviront de grille de lecture pour le TP4. Le modèle naïf est souvent oublié : dire que son modèle a 48 % d'exactitude ne veut rien dire si prédire toujours la victoire à domicile en donne 43 %. Le piège technique le plus fréquent cette année : HistGradientBoosting refuse la sortie creuse du OneHotEncoder, d'où sparse_output=False.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à photographier. Chaque ligne correspond à une partie du cours et sera utile dans le TP4. La documentation officielle de scikit-learn est l'une des meilleures de l'écosystème Python, avec un guide utilisateur qui explique la théorie derrière chaque outil : encourager les étudiants à la lire plutôt qu'à demander directement à une IA.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l'énoncé Word. Le sujet réutilise les données football du TP2, déjà nettoyées. Prévenir : il est normal que les modèles ne battent les références que de peu, car le football est un sport à faible score et très aléatoire. Un binôme qui annonce 70 % d'exactitude a très probablement une fuite. Pour la séance, viser la fin des parties 1 et 2.</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idées à retenir, une par partie. Annoncer la séance 5 : on passe aux réseaux de neurones et aux images, mais le protocole reste le même, avec découpage, validation et métrique choisie avant d'entraîner. Demander d'installer PyTorch avant la séance, version CPU suffisante. Rappeler la date de rendu du TP4.</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102344"/>
            <a:ext cx="10566440" cy="447020"/>
          </a:xfrm>
          <a:prstGeom prst="rect">
            <a:avLst/>
          </a:prstGeom>
          <a:noFill/>
          <a:ln/>
        </p:spPr>
        <p:txBody>
          <a:bodyPr wrap="square" lIns="0" tIns="0" rIns="0" bIns="0" rtlCol="0" anchor="t"/>
          <a:lstStyle>
            <a:lvl1pPr marL="0" indent="0" algn="l">
              <a:lnSpc>
                <a:spcPct val="115000"/>
              </a:lnSpc>
              <a:buNone/>
              <a:defRPr lang="en-US" sz="3200" dirty="0">
                <a:solidFill>
                  <a:srgbClr val="2B211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0" y="1854164"/>
            <a:ext cx="10566420" cy="4191036"/>
          </a:xfrm>
          <a:prstGeom prst="rect">
            <a:avLst/>
          </a:prstGeom>
          <a:noFill/>
          <a:ln/>
        </p:spPr>
        <p:txBody>
          <a:bodyPr wrap="square" lIns="0" tIns="0" rIns="0" bIns="0" rtlCol="0" anchor="t"/>
          <a:lstStyle>
            <a:lvl1pPr marL="0" indent="0" algn="l">
              <a:lnSpc>
                <a:spcPct val="140000"/>
              </a:lnSpc>
              <a:buNone/>
              <a:defRPr lang="en-US" sz="1600" dirty="0">
                <a:solidFill>
                  <a:srgbClr val="2B211B"/>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102344"/>
            <a:ext cx="10566440" cy="447020"/>
          </a:xfrm>
          <a:prstGeom prst="rect">
            <a:avLst/>
          </a:prstGeom>
          <a:noFill/>
          <a:ln/>
        </p:spPr>
        <p:txBody>
          <a:bodyPr wrap="square" lIns="0" tIns="0" rIns="0" bIns="0" rtlCol="0" anchor="t"/>
          <a:lstStyle>
            <a:lvl1pPr marL="0" indent="0" algn="l">
              <a:lnSpc>
                <a:spcPct val="115000"/>
              </a:lnSpc>
              <a:buNone/>
              <a:defRPr lang="en-US" sz="3200" dirty="0">
                <a:solidFill>
                  <a:srgbClr val="2B211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0" y="1854164"/>
            <a:ext cx="10566420" cy="4191036"/>
          </a:xfrm>
          <a:prstGeom prst="rect">
            <a:avLst/>
          </a:prstGeom>
          <a:noFill/>
          <a:ln/>
        </p:spPr>
        <p:txBody>
          <a:bodyPr wrap="square" lIns="0" tIns="0" rIns="0" bIns="0" rtlCol="0" anchor="t"/>
          <a:lstStyle>
            <a:lvl1pPr marL="0" indent="0" algn="l">
              <a:lnSpc>
                <a:spcPct val="140000"/>
              </a:lnSpc>
              <a:buNone/>
              <a:defRPr lang="en-US" sz="1600" dirty="0">
                <a:solidFill>
                  <a:srgbClr val="2B211B"/>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E5D3"/>
        </a:solidFill>
        <a:effectLst/>
      </p:bgPr>
    </p:bg>
    <p:spTree>
      <p:nvGrpSpPr>
        <p:cNvPr id="1" name=""/>
        <p:cNvGrpSpPr/>
        <p:nvPr/>
      </p:nvGrpSpPr>
      <p:grpSpPr>
        <a:xfrm>
          <a:off x="0" y="0"/>
          <a:ext cx="0" cy="0"/>
          <a:chOff x="0" y="0"/>
          <a:chExt cx="0" cy="0"/>
        </a:xfrm>
      </p:grpSpPr>
      <p:sp>
        <p:nvSpPr>
          <p:cNvPr id="2" name="Text 0"/>
          <p:cNvSpPr/>
          <p:nvPr/>
        </p:nvSpPr>
        <p:spPr>
          <a:xfrm>
            <a:off x="812780" y="812780"/>
            <a:ext cx="7133106" cy="27430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9A5414"/>
                </a:solidFill>
                <a:latin typeface="Space Grotesk" pitchFamily="34" charset="0"/>
                <a:ea typeface="Space Grotesk" pitchFamily="34" charset="-122"/>
                <a:cs typeface="Space Grotesk" pitchFamily="34" charset="-120"/>
              </a:rPr>
              <a:t>LICENCE 3 INTELLIGENCE ARTIFICIELLE · PYTHON AVANCÉ</a:t>
            </a:r>
            <a:endParaRPr lang="en-US" sz="1400" dirty="0"/>
          </a:p>
        </p:txBody>
      </p:sp>
      <p:pic>
        <p:nvPicPr>
          <p:cNvPr id="3" name="Image 0" descr="Logo ISM École d'ingénieurs"/>
          <p:cNvPicPr>
            <a:picLocks noChangeAspect="1"/>
          </p:cNvPicPr>
          <p:nvPr/>
        </p:nvPicPr>
        <p:blipFill>
          <a:blip r:embed="rId3"/>
          <a:srcRect l="431" r="431"/>
          <a:stretch/>
        </p:blipFill>
        <p:spPr>
          <a:xfrm>
            <a:off x="10236220" y="812780"/>
            <a:ext cx="1143000" cy="1143000"/>
          </a:xfrm>
          <a:prstGeom prst="roundRect">
            <a:avLst>
              <a:gd name="adj" fmla="val 6667"/>
            </a:avLst>
          </a:prstGeom>
        </p:spPr>
      </p:pic>
      <p:sp>
        <p:nvSpPr>
          <p:cNvPr id="4" name="Shape 1"/>
          <p:cNvSpPr/>
          <p:nvPr/>
        </p:nvSpPr>
        <p:spPr>
          <a:xfrm>
            <a:off x="812780" y="2641699"/>
            <a:ext cx="101560" cy="2468701"/>
          </a:xfrm>
          <a:prstGeom prst="roundRect">
            <a:avLst>
              <a:gd name="adj" fmla="val 50000"/>
            </a:avLst>
          </a:prstGeom>
          <a:solidFill>
            <a:srgbClr val="E3A23B"/>
          </a:solidFill>
          <a:ln/>
        </p:spPr>
      </p:sp>
      <p:sp>
        <p:nvSpPr>
          <p:cNvPr id="5" name="Text 2"/>
          <p:cNvSpPr/>
          <p:nvPr/>
        </p:nvSpPr>
        <p:spPr>
          <a:xfrm>
            <a:off x="1219141" y="2641699"/>
            <a:ext cx="10464882" cy="38098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9A5414"/>
                </a:solidFill>
                <a:latin typeface="JetBrains Mono" pitchFamily="49" charset="0"/>
                <a:ea typeface="JetBrains Mono" pitchFamily="49" charset="-122"/>
                <a:cs typeface="JetBrains Mono" pitchFamily="49" charset="-120"/>
              </a:rPr>
              <a:t>&gt;&gt;&gt; from sklearn.pipeline import make_pipeline</a:t>
            </a:r>
            <a:endParaRPr lang="en-US" sz="2000" dirty="0"/>
          </a:p>
        </p:txBody>
      </p:sp>
      <p:sp>
        <p:nvSpPr>
          <p:cNvPr id="6" name="Text 3"/>
          <p:cNvSpPr>
            <a:spLocks noGrp="1"/>
          </p:cNvSpPr>
          <p:nvPr>
            <p:ph type="title"/>
          </p:nvPr>
        </p:nvSpPr>
        <p:spPr>
          <a:xfrm>
            <a:off x="1219141" y="3200460"/>
            <a:ext cx="10464882" cy="141212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4A2F20"/>
                </a:solidFill>
                <a:latin typeface="Space Grotesk" pitchFamily="34" charset="0"/>
                <a:ea typeface="Space Grotesk" pitchFamily="34" charset="-122"/>
                <a:cs typeface="Space Grotesk" pitchFamily="34" charset="-120"/>
              </a:rPr>
              <a:t>Machine Learning</a:t>
            </a:r>
            <a:endParaRPr lang="en-US" sz="5200" dirty="0"/>
          </a:p>
          <a:p>
            <a:pPr marL="0" indent="0" algn="l">
              <a:lnSpc>
                <a:spcPts val="5460"/>
              </a:lnSpc>
              <a:buNone/>
            </a:pPr>
            <a:r>
              <a:rPr lang="en-US" sz="5200" b="1" i="0" dirty="0">
                <a:solidFill>
                  <a:srgbClr val="4A2F20"/>
                </a:solidFill>
                <a:latin typeface="Space Grotesk" pitchFamily="34" charset="0"/>
                <a:ea typeface="Space Grotesk" pitchFamily="34" charset="-122"/>
                <a:cs typeface="Space Grotesk" pitchFamily="34" charset="-120"/>
              </a:rPr>
              <a:t>avancé avec scikit-learn</a:t>
            </a:r>
            <a:endParaRPr lang="en-US" sz="5200" dirty="0"/>
          </a:p>
        </p:txBody>
      </p:sp>
      <p:sp>
        <p:nvSpPr>
          <p:cNvPr id="7" name="Text 4"/>
          <p:cNvSpPr/>
          <p:nvPr/>
        </p:nvSpPr>
        <p:spPr>
          <a:xfrm>
            <a:off x="1219141" y="4790361"/>
            <a:ext cx="1046488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6B6158"/>
                </a:solidFill>
                <a:latin typeface="Space Grotesk" pitchFamily="34" charset="0"/>
                <a:ea typeface="Space Grotesk" pitchFamily="34" charset="-122"/>
                <a:cs typeface="Space Grotesk" pitchFamily="34" charset="-120"/>
              </a:rPr>
              <a:t>Pipelines, validation rigoureuse, optimisation, calibration et interprétation</a:t>
            </a:r>
            <a:endParaRPr lang="en-US" sz="1800" dirty="0"/>
          </a:p>
        </p:txBody>
      </p:sp>
      <p:sp>
        <p:nvSpPr>
          <p:cNvPr id="8" name="Text 5"/>
          <p:cNvSpPr/>
          <p:nvPr/>
        </p:nvSpPr>
        <p:spPr>
          <a:xfrm>
            <a:off x="812780" y="5796320"/>
            <a:ext cx="10883434"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Elias BADJI · ISM École d’ingénieurs · Séance 4 / 8 · 4 heures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0" y="812781"/>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Objectifs de la séance</a:t>
            </a:r>
            <a:endParaRPr lang="en-US" sz="3200" dirty="0"/>
          </a:p>
        </p:txBody>
      </p:sp>
      <p:sp>
        <p:nvSpPr>
          <p:cNvPr id="3" name="Shape 1"/>
          <p:cNvSpPr/>
          <p:nvPr/>
        </p:nvSpPr>
        <p:spPr>
          <a:xfrm>
            <a:off x="812780" y="1513762"/>
            <a:ext cx="2508290" cy="1850291"/>
          </a:xfrm>
          <a:prstGeom prst="roundRect">
            <a:avLst>
              <a:gd name="adj" fmla="val 6864"/>
            </a:avLst>
          </a:prstGeom>
          <a:solidFill>
            <a:srgbClr val="FFFFFF"/>
          </a:solidFill>
          <a:ln/>
        </p:spPr>
      </p:sp>
      <p:sp>
        <p:nvSpPr>
          <p:cNvPr id="4" name="Shape 2"/>
          <p:cNvSpPr/>
          <p:nvPr/>
        </p:nvSpPr>
        <p:spPr>
          <a:xfrm>
            <a:off x="812780" y="1513762"/>
            <a:ext cx="2508290" cy="1850291"/>
          </a:xfrm>
          <a:custGeom>
            <a:avLst/>
            <a:gdLst/>
            <a:ahLst/>
            <a:cxnLst/>
            <a:rect l="l" t="t" r="r" b="b"/>
            <a:pathLst>
              <a:path w="2508290" h="1850291">
                <a:moveTo>
                  <a:pt x="0" y="127000"/>
                </a:moveTo>
                <a:lnTo>
                  <a:pt x="0" y="127000"/>
                </a:lnTo>
                <a:arcTo wR="127000" hR="127000" stAng="10800000" swAng="5400000"/>
                <a:lnTo>
                  <a:pt x="2381290" y="0"/>
                </a:lnTo>
                <a:arcTo wR="127000" hR="127000" stAng="16200000" swAng="5400000"/>
                <a:lnTo>
                  <a:pt x="2508290" y="127000"/>
                </a:lnTo>
                <a:arcTo wR="127000" hR="76200" stAng="0" swAng="-5400000"/>
                <a:lnTo>
                  <a:pt x="127000" y="50800"/>
                </a:lnTo>
                <a:arcTo wR="127000" hR="76200" stAng="16200000" swAng="-5400000"/>
                <a:close/>
              </a:path>
            </a:pathLst>
          </a:custGeom>
          <a:solidFill>
            <a:srgbClr val="9A5414"/>
          </a:solidFill>
          <a:ln/>
        </p:spPr>
      </p:sp>
      <p:sp>
        <p:nvSpPr>
          <p:cNvPr id="5" name="Text 3"/>
          <p:cNvSpPr/>
          <p:nvPr/>
        </p:nvSpPr>
        <p:spPr>
          <a:xfrm>
            <a:off x="1041380" y="1791891"/>
            <a:ext cx="21126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Structurer</a:t>
            </a:r>
            <a:endParaRPr lang="en-US" sz="1700" dirty="0"/>
          </a:p>
        </p:txBody>
      </p:sp>
      <p:sp>
        <p:nvSpPr>
          <p:cNvPr id="6" name="Text 4"/>
          <p:cNvSpPr/>
          <p:nvPr/>
        </p:nvSpPr>
        <p:spPr>
          <a:xfrm>
            <a:off x="1041380" y="2139851"/>
            <a:ext cx="2112622" cy="102100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Tout le prétraitement dans un Pipeline, de la donnée brute à la prédiction.</a:t>
            </a:r>
            <a:endParaRPr lang="en-US" sz="1400" dirty="0"/>
          </a:p>
        </p:txBody>
      </p:sp>
      <p:sp>
        <p:nvSpPr>
          <p:cNvPr id="7" name="Shape 5"/>
          <p:cNvSpPr/>
          <p:nvPr/>
        </p:nvSpPr>
        <p:spPr>
          <a:xfrm>
            <a:off x="3498830" y="1513762"/>
            <a:ext cx="2508290" cy="1850291"/>
          </a:xfrm>
          <a:prstGeom prst="roundRect">
            <a:avLst>
              <a:gd name="adj" fmla="val 6864"/>
            </a:avLst>
          </a:prstGeom>
          <a:solidFill>
            <a:srgbClr val="FFFFFF"/>
          </a:solidFill>
          <a:ln/>
        </p:spPr>
      </p:sp>
      <p:sp>
        <p:nvSpPr>
          <p:cNvPr id="8" name="Shape 6"/>
          <p:cNvSpPr/>
          <p:nvPr/>
        </p:nvSpPr>
        <p:spPr>
          <a:xfrm>
            <a:off x="3498830" y="1513762"/>
            <a:ext cx="2508290" cy="1850291"/>
          </a:xfrm>
          <a:custGeom>
            <a:avLst/>
            <a:gdLst/>
            <a:ahLst/>
            <a:cxnLst/>
            <a:rect l="l" t="t" r="r" b="b"/>
            <a:pathLst>
              <a:path w="2508290" h="1850291">
                <a:moveTo>
                  <a:pt x="0" y="127000"/>
                </a:moveTo>
                <a:lnTo>
                  <a:pt x="0" y="127000"/>
                </a:lnTo>
                <a:arcTo wR="127000" hR="127000" stAng="10800000" swAng="5400000"/>
                <a:lnTo>
                  <a:pt x="2381290" y="0"/>
                </a:lnTo>
                <a:arcTo wR="127000" hR="127000" stAng="16200000" swAng="5400000"/>
                <a:lnTo>
                  <a:pt x="2508290" y="127000"/>
                </a:lnTo>
                <a:arcTo wR="127000" hR="76200" stAng="0" swAng="-5400000"/>
                <a:lnTo>
                  <a:pt x="127000" y="50800"/>
                </a:lnTo>
                <a:arcTo wR="127000" hR="76200" stAng="16200000" swAng="-5400000"/>
                <a:close/>
              </a:path>
            </a:pathLst>
          </a:custGeom>
          <a:solidFill>
            <a:srgbClr val="E3A23B"/>
          </a:solidFill>
          <a:ln/>
        </p:spPr>
      </p:sp>
      <p:sp>
        <p:nvSpPr>
          <p:cNvPr id="9" name="Text 7"/>
          <p:cNvSpPr/>
          <p:nvPr/>
        </p:nvSpPr>
        <p:spPr>
          <a:xfrm>
            <a:off x="3727430" y="1791891"/>
            <a:ext cx="21126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Évaluer</a:t>
            </a:r>
            <a:endParaRPr lang="en-US" sz="1700" dirty="0"/>
          </a:p>
        </p:txBody>
      </p:sp>
      <p:sp>
        <p:nvSpPr>
          <p:cNvPr id="10" name="Text 8"/>
          <p:cNvSpPr/>
          <p:nvPr/>
        </p:nvSpPr>
        <p:spPr>
          <a:xfrm>
            <a:off x="3727430" y="2139851"/>
            <a:ext cx="2112622" cy="102100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Une validation croisée honnête, la bonne métrique, aucune fuite de données.</a:t>
            </a:r>
            <a:endParaRPr lang="en-US" sz="1400" dirty="0"/>
          </a:p>
        </p:txBody>
      </p:sp>
      <p:sp>
        <p:nvSpPr>
          <p:cNvPr id="11" name="Shape 9"/>
          <p:cNvSpPr/>
          <p:nvPr/>
        </p:nvSpPr>
        <p:spPr>
          <a:xfrm>
            <a:off x="6184880" y="1513762"/>
            <a:ext cx="2508290" cy="1850291"/>
          </a:xfrm>
          <a:prstGeom prst="roundRect">
            <a:avLst>
              <a:gd name="adj" fmla="val 6864"/>
            </a:avLst>
          </a:prstGeom>
          <a:solidFill>
            <a:srgbClr val="FFFFFF"/>
          </a:solidFill>
          <a:ln/>
        </p:spPr>
      </p:sp>
      <p:sp>
        <p:nvSpPr>
          <p:cNvPr id="12" name="Shape 10"/>
          <p:cNvSpPr/>
          <p:nvPr/>
        </p:nvSpPr>
        <p:spPr>
          <a:xfrm>
            <a:off x="6184880" y="1513762"/>
            <a:ext cx="2508290" cy="1850291"/>
          </a:xfrm>
          <a:custGeom>
            <a:avLst/>
            <a:gdLst/>
            <a:ahLst/>
            <a:cxnLst/>
            <a:rect l="l" t="t" r="r" b="b"/>
            <a:pathLst>
              <a:path w="2508290" h="1850291">
                <a:moveTo>
                  <a:pt x="0" y="127000"/>
                </a:moveTo>
                <a:lnTo>
                  <a:pt x="0" y="127000"/>
                </a:lnTo>
                <a:arcTo wR="127000" hR="127000" stAng="10800000" swAng="5400000"/>
                <a:lnTo>
                  <a:pt x="2381290" y="0"/>
                </a:lnTo>
                <a:arcTo wR="127000" hR="127000" stAng="16200000" swAng="5400000"/>
                <a:lnTo>
                  <a:pt x="2508290" y="127000"/>
                </a:lnTo>
                <a:arcTo wR="127000" hR="76200" stAng="0" swAng="-5400000"/>
                <a:lnTo>
                  <a:pt x="127000" y="50800"/>
                </a:lnTo>
                <a:arcTo wR="127000" hR="76200" stAng="16200000" swAng="-5400000"/>
                <a:close/>
              </a:path>
            </a:pathLst>
          </a:custGeom>
          <a:solidFill>
            <a:srgbClr val="9A5414"/>
          </a:solidFill>
          <a:ln/>
        </p:spPr>
      </p:sp>
      <p:sp>
        <p:nvSpPr>
          <p:cNvPr id="13" name="Text 11"/>
          <p:cNvSpPr/>
          <p:nvPr/>
        </p:nvSpPr>
        <p:spPr>
          <a:xfrm>
            <a:off x="6413480" y="1791891"/>
            <a:ext cx="21126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Optimiser</a:t>
            </a:r>
            <a:endParaRPr lang="en-US" sz="1700" dirty="0"/>
          </a:p>
        </p:txBody>
      </p:sp>
      <p:sp>
        <p:nvSpPr>
          <p:cNvPr id="14" name="Text 12"/>
          <p:cNvSpPr/>
          <p:nvPr/>
        </p:nvSpPr>
        <p:spPr>
          <a:xfrm>
            <a:off x="6413480" y="2139851"/>
            <a:ext cx="2112622" cy="102100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Hyperparamètres, seuil de décision et calibration des probabilités.</a:t>
            </a:r>
            <a:endParaRPr lang="en-US" sz="1400" dirty="0"/>
          </a:p>
        </p:txBody>
      </p:sp>
      <p:sp>
        <p:nvSpPr>
          <p:cNvPr id="15" name="Shape 13"/>
          <p:cNvSpPr/>
          <p:nvPr/>
        </p:nvSpPr>
        <p:spPr>
          <a:xfrm>
            <a:off x="8870931" y="1513762"/>
            <a:ext cx="2508290" cy="1850291"/>
          </a:xfrm>
          <a:prstGeom prst="roundRect">
            <a:avLst>
              <a:gd name="adj" fmla="val 6864"/>
            </a:avLst>
          </a:prstGeom>
          <a:solidFill>
            <a:srgbClr val="FFFFFF"/>
          </a:solidFill>
          <a:ln/>
        </p:spPr>
      </p:sp>
      <p:sp>
        <p:nvSpPr>
          <p:cNvPr id="16" name="Shape 14"/>
          <p:cNvSpPr/>
          <p:nvPr/>
        </p:nvSpPr>
        <p:spPr>
          <a:xfrm>
            <a:off x="8870931" y="1513762"/>
            <a:ext cx="2508290" cy="1850291"/>
          </a:xfrm>
          <a:custGeom>
            <a:avLst/>
            <a:gdLst/>
            <a:ahLst/>
            <a:cxnLst/>
            <a:rect l="l" t="t" r="r" b="b"/>
            <a:pathLst>
              <a:path w="2508290" h="1850291">
                <a:moveTo>
                  <a:pt x="0" y="127000"/>
                </a:moveTo>
                <a:lnTo>
                  <a:pt x="0" y="127000"/>
                </a:lnTo>
                <a:arcTo wR="127000" hR="127000" stAng="10800000" swAng="5400000"/>
                <a:lnTo>
                  <a:pt x="2381290" y="0"/>
                </a:lnTo>
                <a:arcTo wR="127000" hR="127000" stAng="16200000" swAng="5400000"/>
                <a:lnTo>
                  <a:pt x="2508290" y="127000"/>
                </a:lnTo>
                <a:arcTo wR="127000" hR="76200" stAng="0" swAng="-5400000"/>
                <a:lnTo>
                  <a:pt x="127000" y="50800"/>
                </a:lnTo>
                <a:arcTo wR="127000" hR="76200" stAng="16200000" swAng="-5400000"/>
                <a:close/>
              </a:path>
            </a:pathLst>
          </a:custGeom>
          <a:solidFill>
            <a:srgbClr val="E3A23B"/>
          </a:solidFill>
          <a:ln/>
        </p:spPr>
      </p:sp>
      <p:sp>
        <p:nvSpPr>
          <p:cNvPr id="17" name="Text 15"/>
          <p:cNvSpPr/>
          <p:nvPr/>
        </p:nvSpPr>
        <p:spPr>
          <a:xfrm>
            <a:off x="9099531" y="1791891"/>
            <a:ext cx="211262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Expliquer</a:t>
            </a:r>
            <a:endParaRPr lang="en-US" sz="1700" dirty="0"/>
          </a:p>
        </p:txBody>
      </p:sp>
      <p:sp>
        <p:nvSpPr>
          <p:cNvPr id="18" name="Text 16"/>
          <p:cNvSpPr/>
          <p:nvPr/>
        </p:nvSpPr>
        <p:spPr>
          <a:xfrm>
            <a:off x="9099531" y="2139851"/>
            <a:ext cx="2112622" cy="102100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Ce que le modèle a appris, et le sauvegarder pour la production.</a:t>
            </a:r>
            <a:endParaRPr lang="en-US" sz="1400" dirty="0"/>
          </a:p>
        </p:txBody>
      </p:sp>
      <p:pic>
        <p:nvPicPr>
          <p:cNvPr id="19" name="Image 0" descr="Logo ISM"/>
          <p:cNvPicPr>
            <a:picLocks noChangeAspect="1"/>
          </p:cNvPicPr>
          <p:nvPr/>
        </p:nvPicPr>
        <p:blipFill>
          <a:blip r:embed="rId3"/>
          <a:srcRect l="431" r="431"/>
          <a:stretch/>
        </p:blipFill>
        <p:spPr>
          <a:xfrm>
            <a:off x="812780" y="6223040"/>
            <a:ext cx="279380" cy="279380"/>
          </a:xfrm>
          <a:prstGeom prst="roundRect">
            <a:avLst>
              <a:gd name="adj" fmla="val 13637"/>
            </a:avLst>
          </a:prstGeom>
        </p:spPr>
      </p:pic>
      <p:sp>
        <p:nvSpPr>
          <p:cNvPr id="20" name="Text 17"/>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1" name="Text 18"/>
          <p:cNvSpPr/>
          <p:nvPr/>
        </p:nvSpPr>
        <p:spPr>
          <a:xfrm>
            <a:off x="10803589" y="6256021"/>
            <a:ext cx="575572"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03 / 41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0" y="81278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Où en sommes-nous ?</a:t>
            </a:r>
            <a:endParaRPr lang="en-US" sz="3200" dirty="0"/>
          </a:p>
        </p:txBody>
      </p:sp>
      <p:sp>
        <p:nvSpPr>
          <p:cNvPr id="3" name="Shape 1"/>
          <p:cNvSpPr/>
          <p:nvPr/>
        </p:nvSpPr>
        <p:spPr>
          <a:xfrm>
            <a:off x="819130" y="1520110"/>
            <a:ext cx="1219240" cy="909260"/>
          </a:xfrm>
          <a:prstGeom prst="roundRect">
            <a:avLst>
              <a:gd name="adj" fmla="val 9079"/>
            </a:avLst>
          </a:prstGeom>
          <a:solidFill>
            <a:srgbClr val="FFFFFF"/>
          </a:solidFill>
          <a:ln w="12700">
            <a:solidFill>
              <a:srgbClr val="DCD7CA"/>
            </a:solidFill>
            <a:prstDash val="solid"/>
          </a:ln>
        </p:spPr>
      </p:sp>
      <p:sp>
        <p:nvSpPr>
          <p:cNvPr id="4" name="Text 2"/>
          <p:cNvSpPr/>
          <p:nvPr/>
        </p:nvSpPr>
        <p:spPr>
          <a:xfrm>
            <a:off x="9257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5414"/>
                </a:solidFill>
                <a:latin typeface="JetBrains Mono" pitchFamily="49" charset="0"/>
                <a:ea typeface="JetBrains Mono" pitchFamily="49" charset="-122"/>
                <a:cs typeface="JetBrains Mono" pitchFamily="49" charset="-120"/>
              </a:rPr>
              <a:t>S1</a:t>
            </a:r>
            <a:endParaRPr lang="en-US" sz="1200" dirty="0"/>
          </a:p>
        </p:txBody>
      </p:sp>
      <p:sp>
        <p:nvSpPr>
          <p:cNvPr id="5" name="Text 3"/>
          <p:cNvSpPr/>
          <p:nvPr/>
        </p:nvSpPr>
        <p:spPr>
          <a:xfrm>
            <a:off x="925771" y="1916311"/>
            <a:ext cx="1056759"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NumPy</a:t>
            </a:r>
            <a:endParaRPr lang="en-US" sz="1200" dirty="0"/>
          </a:p>
        </p:txBody>
      </p:sp>
      <p:sp>
        <p:nvSpPr>
          <p:cNvPr id="6" name="Shape 4"/>
          <p:cNvSpPr/>
          <p:nvPr/>
        </p:nvSpPr>
        <p:spPr>
          <a:xfrm>
            <a:off x="2152630" y="1520110"/>
            <a:ext cx="1219240" cy="909260"/>
          </a:xfrm>
          <a:prstGeom prst="roundRect">
            <a:avLst>
              <a:gd name="adj" fmla="val 9079"/>
            </a:avLst>
          </a:prstGeom>
          <a:solidFill>
            <a:srgbClr val="FFFFFF"/>
          </a:solidFill>
          <a:ln w="12700">
            <a:solidFill>
              <a:srgbClr val="DCD7CA"/>
            </a:solidFill>
            <a:prstDash val="solid"/>
          </a:ln>
        </p:spPr>
      </p:sp>
      <p:sp>
        <p:nvSpPr>
          <p:cNvPr id="7" name="Text 5"/>
          <p:cNvSpPr/>
          <p:nvPr/>
        </p:nvSpPr>
        <p:spPr>
          <a:xfrm>
            <a:off x="22592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5414"/>
                </a:solidFill>
                <a:latin typeface="JetBrains Mono" pitchFamily="49" charset="0"/>
                <a:ea typeface="JetBrains Mono" pitchFamily="49" charset="-122"/>
                <a:cs typeface="JetBrains Mono" pitchFamily="49" charset="-120"/>
              </a:rPr>
              <a:t>S2</a:t>
            </a:r>
            <a:endParaRPr lang="en-US" sz="1200" dirty="0"/>
          </a:p>
        </p:txBody>
      </p:sp>
      <p:sp>
        <p:nvSpPr>
          <p:cNvPr id="8" name="Text 6"/>
          <p:cNvSpPr/>
          <p:nvPr/>
        </p:nvSpPr>
        <p:spPr>
          <a:xfrm>
            <a:off x="2259271" y="1916311"/>
            <a:ext cx="1056759"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Pandas</a:t>
            </a:r>
            <a:endParaRPr lang="en-US" sz="1200" dirty="0"/>
          </a:p>
        </p:txBody>
      </p:sp>
      <p:sp>
        <p:nvSpPr>
          <p:cNvPr id="9" name="Shape 7"/>
          <p:cNvSpPr/>
          <p:nvPr/>
        </p:nvSpPr>
        <p:spPr>
          <a:xfrm>
            <a:off x="3486130" y="1520110"/>
            <a:ext cx="1219240" cy="909260"/>
          </a:xfrm>
          <a:prstGeom prst="roundRect">
            <a:avLst>
              <a:gd name="adj" fmla="val 9079"/>
            </a:avLst>
          </a:prstGeom>
          <a:solidFill>
            <a:srgbClr val="FFFFFF"/>
          </a:solidFill>
          <a:ln w="12700">
            <a:solidFill>
              <a:srgbClr val="DCD7CA"/>
            </a:solidFill>
            <a:prstDash val="solid"/>
          </a:ln>
        </p:spPr>
      </p:sp>
      <p:sp>
        <p:nvSpPr>
          <p:cNvPr id="10" name="Text 8"/>
          <p:cNvSpPr/>
          <p:nvPr/>
        </p:nvSpPr>
        <p:spPr>
          <a:xfrm>
            <a:off x="35927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5414"/>
                </a:solidFill>
                <a:latin typeface="JetBrains Mono" pitchFamily="49" charset="0"/>
                <a:ea typeface="JetBrains Mono" pitchFamily="49" charset="-122"/>
                <a:cs typeface="JetBrains Mono" pitchFamily="49" charset="-120"/>
              </a:rPr>
              <a:t>S3</a:t>
            </a:r>
            <a:endParaRPr lang="en-US" sz="1200" dirty="0"/>
          </a:p>
        </p:txBody>
      </p:sp>
      <p:sp>
        <p:nvSpPr>
          <p:cNvPr id="11" name="Text 9"/>
          <p:cNvSpPr/>
          <p:nvPr/>
        </p:nvSpPr>
        <p:spPr>
          <a:xfrm>
            <a:off x="3592771" y="1916311"/>
            <a:ext cx="1056759"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Visualisation</a:t>
            </a:r>
            <a:endParaRPr lang="en-US" sz="1200" dirty="0"/>
          </a:p>
        </p:txBody>
      </p:sp>
      <p:sp>
        <p:nvSpPr>
          <p:cNvPr id="12" name="Shape 10"/>
          <p:cNvSpPr/>
          <p:nvPr/>
        </p:nvSpPr>
        <p:spPr>
          <a:xfrm>
            <a:off x="4819630" y="1520110"/>
            <a:ext cx="1219240" cy="909260"/>
          </a:xfrm>
          <a:prstGeom prst="roundRect">
            <a:avLst>
              <a:gd name="adj" fmla="val 9079"/>
            </a:avLst>
          </a:prstGeom>
          <a:solidFill>
            <a:srgbClr val="E3A23B"/>
          </a:solidFill>
          <a:ln w="12700">
            <a:solidFill>
              <a:srgbClr val="E3A23B"/>
            </a:solidFill>
            <a:prstDash val="solid"/>
          </a:ln>
        </p:spPr>
      </p:sp>
      <p:sp>
        <p:nvSpPr>
          <p:cNvPr id="13" name="Text 11"/>
          <p:cNvSpPr/>
          <p:nvPr/>
        </p:nvSpPr>
        <p:spPr>
          <a:xfrm>
            <a:off x="49262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211B"/>
                </a:solidFill>
                <a:latin typeface="JetBrains Mono" pitchFamily="49" charset="0"/>
                <a:ea typeface="JetBrains Mono" pitchFamily="49" charset="-122"/>
                <a:cs typeface="JetBrains Mono" pitchFamily="49" charset="-120"/>
              </a:rPr>
              <a:t>S4</a:t>
            </a:r>
            <a:endParaRPr lang="en-US" sz="1200" dirty="0"/>
          </a:p>
        </p:txBody>
      </p:sp>
      <p:sp>
        <p:nvSpPr>
          <p:cNvPr id="14" name="Text 12"/>
          <p:cNvSpPr/>
          <p:nvPr/>
        </p:nvSpPr>
        <p:spPr>
          <a:xfrm>
            <a:off x="4926271" y="1916311"/>
            <a:ext cx="1056759"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scikit-learn</a:t>
            </a:r>
            <a:endParaRPr lang="en-US" sz="1200" dirty="0"/>
          </a:p>
        </p:txBody>
      </p:sp>
      <p:sp>
        <p:nvSpPr>
          <p:cNvPr id="15" name="Shape 13"/>
          <p:cNvSpPr/>
          <p:nvPr/>
        </p:nvSpPr>
        <p:spPr>
          <a:xfrm>
            <a:off x="6153130" y="1520110"/>
            <a:ext cx="1219240" cy="909260"/>
          </a:xfrm>
          <a:prstGeom prst="roundRect">
            <a:avLst>
              <a:gd name="adj" fmla="val 9079"/>
            </a:avLst>
          </a:prstGeom>
          <a:solidFill>
            <a:srgbClr val="FFFFFF"/>
          </a:solidFill>
          <a:ln w="12700">
            <a:solidFill>
              <a:srgbClr val="DCD7CA"/>
            </a:solidFill>
            <a:prstDash val="solid"/>
          </a:ln>
        </p:spPr>
      </p:sp>
      <p:sp>
        <p:nvSpPr>
          <p:cNvPr id="16" name="Text 14"/>
          <p:cNvSpPr/>
          <p:nvPr/>
        </p:nvSpPr>
        <p:spPr>
          <a:xfrm>
            <a:off x="62597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5414"/>
                </a:solidFill>
                <a:latin typeface="JetBrains Mono" pitchFamily="49" charset="0"/>
                <a:ea typeface="JetBrains Mono" pitchFamily="49" charset="-122"/>
                <a:cs typeface="JetBrains Mono" pitchFamily="49" charset="-120"/>
              </a:rPr>
              <a:t>S5</a:t>
            </a:r>
            <a:endParaRPr lang="en-US" sz="1200" dirty="0"/>
          </a:p>
        </p:txBody>
      </p:sp>
      <p:sp>
        <p:nvSpPr>
          <p:cNvPr id="17" name="Text 15"/>
          <p:cNvSpPr/>
          <p:nvPr/>
        </p:nvSpPr>
        <p:spPr>
          <a:xfrm>
            <a:off x="6259771" y="1916311"/>
            <a:ext cx="1056759"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PyTorch · OpenCV</a:t>
            </a:r>
            <a:endParaRPr lang="en-US" sz="1200" dirty="0"/>
          </a:p>
        </p:txBody>
      </p:sp>
      <p:sp>
        <p:nvSpPr>
          <p:cNvPr id="18" name="Shape 16"/>
          <p:cNvSpPr/>
          <p:nvPr/>
        </p:nvSpPr>
        <p:spPr>
          <a:xfrm>
            <a:off x="7486631" y="1520110"/>
            <a:ext cx="1219240" cy="909260"/>
          </a:xfrm>
          <a:prstGeom prst="roundRect">
            <a:avLst>
              <a:gd name="adj" fmla="val 9079"/>
            </a:avLst>
          </a:prstGeom>
          <a:solidFill>
            <a:srgbClr val="FFFFFF"/>
          </a:solidFill>
          <a:ln w="12700">
            <a:solidFill>
              <a:srgbClr val="DCD7CA"/>
            </a:solidFill>
            <a:prstDash val="solid"/>
          </a:ln>
        </p:spPr>
      </p:sp>
      <p:sp>
        <p:nvSpPr>
          <p:cNvPr id="19" name="Text 17"/>
          <p:cNvSpPr/>
          <p:nvPr/>
        </p:nvSpPr>
        <p:spPr>
          <a:xfrm>
            <a:off x="75932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5414"/>
                </a:solidFill>
                <a:latin typeface="JetBrains Mono" pitchFamily="49" charset="0"/>
                <a:ea typeface="JetBrains Mono" pitchFamily="49" charset="-122"/>
                <a:cs typeface="JetBrains Mono" pitchFamily="49" charset="-120"/>
              </a:rPr>
              <a:t>S6</a:t>
            </a:r>
            <a:endParaRPr lang="en-US" sz="1200" dirty="0"/>
          </a:p>
        </p:txBody>
      </p:sp>
      <p:sp>
        <p:nvSpPr>
          <p:cNvPr id="20" name="Text 18"/>
          <p:cNvSpPr/>
          <p:nvPr/>
        </p:nvSpPr>
        <p:spPr>
          <a:xfrm>
            <a:off x="7593271" y="1916311"/>
            <a:ext cx="1056759"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spaCy · Hugging Face</a:t>
            </a:r>
            <a:endParaRPr lang="en-US" sz="1200" dirty="0"/>
          </a:p>
        </p:txBody>
      </p:sp>
      <p:sp>
        <p:nvSpPr>
          <p:cNvPr id="21" name="Shape 19"/>
          <p:cNvSpPr/>
          <p:nvPr/>
        </p:nvSpPr>
        <p:spPr>
          <a:xfrm>
            <a:off x="8820131" y="1520110"/>
            <a:ext cx="1219240" cy="909260"/>
          </a:xfrm>
          <a:prstGeom prst="roundRect">
            <a:avLst>
              <a:gd name="adj" fmla="val 9079"/>
            </a:avLst>
          </a:prstGeom>
          <a:solidFill>
            <a:srgbClr val="FFFFFF"/>
          </a:solidFill>
          <a:ln w="12700">
            <a:solidFill>
              <a:srgbClr val="DCD7CA"/>
            </a:solidFill>
            <a:prstDash val="solid"/>
          </a:ln>
        </p:spPr>
      </p:sp>
      <p:sp>
        <p:nvSpPr>
          <p:cNvPr id="22" name="Text 20"/>
          <p:cNvSpPr/>
          <p:nvPr/>
        </p:nvSpPr>
        <p:spPr>
          <a:xfrm>
            <a:off x="89267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5414"/>
                </a:solidFill>
                <a:latin typeface="JetBrains Mono" pitchFamily="49" charset="0"/>
                <a:ea typeface="JetBrains Mono" pitchFamily="49" charset="-122"/>
                <a:cs typeface="JetBrains Mono" pitchFamily="49" charset="-120"/>
              </a:rPr>
              <a:t>S7</a:t>
            </a:r>
            <a:endParaRPr lang="en-US" sz="1200" dirty="0"/>
          </a:p>
        </p:txBody>
      </p:sp>
      <p:sp>
        <p:nvSpPr>
          <p:cNvPr id="23" name="Text 21"/>
          <p:cNvSpPr/>
          <p:nvPr/>
        </p:nvSpPr>
        <p:spPr>
          <a:xfrm>
            <a:off x="8926771" y="1916311"/>
            <a:ext cx="1056759" cy="4064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Pygame · Gymnasium</a:t>
            </a:r>
            <a:endParaRPr lang="en-US" sz="1200" dirty="0"/>
          </a:p>
        </p:txBody>
      </p:sp>
      <p:sp>
        <p:nvSpPr>
          <p:cNvPr id="24" name="Shape 22"/>
          <p:cNvSpPr/>
          <p:nvPr/>
        </p:nvSpPr>
        <p:spPr>
          <a:xfrm>
            <a:off x="10153631" y="1520110"/>
            <a:ext cx="1219240" cy="909260"/>
          </a:xfrm>
          <a:prstGeom prst="roundRect">
            <a:avLst>
              <a:gd name="adj" fmla="val 9079"/>
            </a:avLst>
          </a:prstGeom>
          <a:solidFill>
            <a:srgbClr val="FFFFFF"/>
          </a:solidFill>
          <a:ln w="12700">
            <a:solidFill>
              <a:srgbClr val="DCD7CA"/>
            </a:solidFill>
            <a:prstDash val="solid"/>
          </a:ln>
        </p:spPr>
      </p:sp>
      <p:sp>
        <p:nvSpPr>
          <p:cNvPr id="25" name="Text 23"/>
          <p:cNvSpPr/>
          <p:nvPr/>
        </p:nvSpPr>
        <p:spPr>
          <a:xfrm>
            <a:off x="10260271" y="1652170"/>
            <a:ext cx="10567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5414"/>
                </a:solidFill>
                <a:latin typeface="JetBrains Mono" pitchFamily="49" charset="0"/>
                <a:ea typeface="JetBrains Mono" pitchFamily="49" charset="-122"/>
                <a:cs typeface="JetBrains Mono" pitchFamily="49" charset="-120"/>
              </a:rPr>
              <a:t>S8</a:t>
            </a:r>
            <a:endParaRPr lang="en-US" sz="1200" dirty="0"/>
          </a:p>
        </p:txBody>
      </p:sp>
      <p:sp>
        <p:nvSpPr>
          <p:cNvPr id="26" name="Text 24"/>
          <p:cNvSpPr/>
          <p:nvPr/>
        </p:nvSpPr>
        <p:spPr>
          <a:xfrm>
            <a:off x="10260271" y="1916311"/>
            <a:ext cx="1056759"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2B211B"/>
                </a:solidFill>
                <a:latin typeface="Space Grotesk" pitchFamily="34" charset="0"/>
                <a:ea typeface="Space Grotesk" pitchFamily="34" charset="-122"/>
                <a:cs typeface="Space Grotesk" pitchFamily="34" charset="-120"/>
              </a:rPr>
              <a:t>Soutenances</a:t>
            </a:r>
            <a:endParaRPr lang="en-US" sz="1200" dirty="0"/>
          </a:p>
        </p:txBody>
      </p:sp>
      <p:sp>
        <p:nvSpPr>
          <p:cNvPr id="27" name="Shape 25"/>
          <p:cNvSpPr/>
          <p:nvPr/>
        </p:nvSpPr>
        <p:spPr>
          <a:xfrm>
            <a:off x="812780" y="2689681"/>
            <a:ext cx="3403640" cy="1850291"/>
          </a:xfrm>
          <a:prstGeom prst="roundRect">
            <a:avLst>
              <a:gd name="adj" fmla="val 6864"/>
            </a:avLst>
          </a:prstGeom>
          <a:solidFill>
            <a:srgbClr val="FFFFFF"/>
          </a:solidFill>
          <a:ln/>
        </p:spPr>
      </p:sp>
      <p:sp>
        <p:nvSpPr>
          <p:cNvPr id="28" name="Shape 26"/>
          <p:cNvSpPr/>
          <p:nvPr/>
        </p:nvSpPr>
        <p:spPr>
          <a:xfrm>
            <a:off x="812780" y="2689681"/>
            <a:ext cx="3403640" cy="1850291"/>
          </a:xfrm>
          <a:custGeom>
            <a:avLst/>
            <a:gdLst/>
            <a:ahLst/>
            <a:cxnLst/>
            <a:rect l="l" t="t" r="r" b="b"/>
            <a:pathLst>
              <a:path w="3403640" h="185029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6B6158"/>
          </a:solidFill>
          <a:ln/>
        </p:spPr>
      </p:sp>
      <p:sp>
        <p:nvSpPr>
          <p:cNvPr id="29" name="Text 27"/>
          <p:cNvSpPr/>
          <p:nvPr/>
        </p:nvSpPr>
        <p:spPr>
          <a:xfrm>
            <a:off x="1041380" y="2967811"/>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Acquis</a:t>
            </a:r>
            <a:endParaRPr lang="en-US" sz="1700" dirty="0"/>
          </a:p>
        </p:txBody>
      </p:sp>
      <p:sp>
        <p:nvSpPr>
          <p:cNvPr id="30" name="Text 28"/>
          <p:cNvSpPr/>
          <p:nvPr/>
        </p:nvSpPr>
        <p:spPr>
          <a:xfrm>
            <a:off x="1041380" y="3315771"/>
            <a:ext cx="3034833" cy="102100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Tableaux NumPy, nettoyage et agrégation Pandas, graphiques Seaborn : ce sont les entrées de scikit-learn.</a:t>
            </a:r>
            <a:endParaRPr lang="en-US" sz="1400" dirty="0"/>
          </a:p>
        </p:txBody>
      </p:sp>
      <p:sp>
        <p:nvSpPr>
          <p:cNvPr id="31" name="Shape 29"/>
          <p:cNvSpPr/>
          <p:nvPr/>
        </p:nvSpPr>
        <p:spPr>
          <a:xfrm>
            <a:off x="4394180" y="2689681"/>
            <a:ext cx="3403640" cy="1850291"/>
          </a:xfrm>
          <a:prstGeom prst="roundRect">
            <a:avLst>
              <a:gd name="adj" fmla="val 6864"/>
            </a:avLst>
          </a:prstGeom>
          <a:solidFill>
            <a:srgbClr val="FFFFFF"/>
          </a:solidFill>
          <a:ln/>
        </p:spPr>
      </p:sp>
      <p:sp>
        <p:nvSpPr>
          <p:cNvPr id="32" name="Shape 30"/>
          <p:cNvSpPr/>
          <p:nvPr/>
        </p:nvSpPr>
        <p:spPr>
          <a:xfrm>
            <a:off x="4394180" y="2689681"/>
            <a:ext cx="3403640" cy="1850291"/>
          </a:xfrm>
          <a:custGeom>
            <a:avLst/>
            <a:gdLst/>
            <a:ahLst/>
            <a:cxnLst/>
            <a:rect l="l" t="t" r="r" b="b"/>
            <a:pathLst>
              <a:path w="3403640" h="185029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E3A23B"/>
          </a:solidFill>
          <a:ln/>
        </p:spPr>
      </p:sp>
      <p:sp>
        <p:nvSpPr>
          <p:cNvPr id="33" name="Text 31"/>
          <p:cNvSpPr/>
          <p:nvPr/>
        </p:nvSpPr>
        <p:spPr>
          <a:xfrm>
            <a:off x="4622780" y="2967811"/>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Aujourd'hui</a:t>
            </a:r>
            <a:endParaRPr lang="en-US" sz="1700" dirty="0"/>
          </a:p>
        </p:txBody>
      </p:sp>
      <p:sp>
        <p:nvSpPr>
          <p:cNvPr id="34" name="Text 32"/>
          <p:cNvSpPr/>
          <p:nvPr/>
        </p:nvSpPr>
        <p:spPr>
          <a:xfrm>
            <a:off x="4622780" y="3315771"/>
            <a:ext cx="3034833" cy="7721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Apprendre à partir de données tabulaires : le cœur du métier de data scientist.</a:t>
            </a:r>
            <a:endParaRPr lang="en-US" sz="1400" dirty="0"/>
          </a:p>
        </p:txBody>
      </p:sp>
      <p:sp>
        <p:nvSpPr>
          <p:cNvPr id="35" name="Shape 33"/>
          <p:cNvSpPr/>
          <p:nvPr/>
        </p:nvSpPr>
        <p:spPr>
          <a:xfrm>
            <a:off x="7975581" y="2689681"/>
            <a:ext cx="3403640" cy="1850291"/>
          </a:xfrm>
          <a:prstGeom prst="roundRect">
            <a:avLst>
              <a:gd name="adj" fmla="val 6864"/>
            </a:avLst>
          </a:prstGeom>
          <a:solidFill>
            <a:srgbClr val="FFFFFF"/>
          </a:solidFill>
          <a:ln/>
        </p:spPr>
      </p:sp>
      <p:sp>
        <p:nvSpPr>
          <p:cNvPr id="36" name="Shape 34"/>
          <p:cNvSpPr/>
          <p:nvPr/>
        </p:nvSpPr>
        <p:spPr>
          <a:xfrm>
            <a:off x="7975581" y="2689681"/>
            <a:ext cx="3403640" cy="1850291"/>
          </a:xfrm>
          <a:custGeom>
            <a:avLst/>
            <a:gdLst/>
            <a:ahLst/>
            <a:cxnLst/>
            <a:rect l="l" t="t" r="r" b="b"/>
            <a:pathLst>
              <a:path w="3403640" h="185029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9A5414"/>
          </a:solidFill>
          <a:ln/>
        </p:spPr>
      </p:sp>
      <p:sp>
        <p:nvSpPr>
          <p:cNvPr id="37" name="Text 35"/>
          <p:cNvSpPr/>
          <p:nvPr/>
        </p:nvSpPr>
        <p:spPr>
          <a:xfrm>
            <a:off x="8204181" y="2967811"/>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Ensuite</a:t>
            </a:r>
            <a:endParaRPr lang="en-US" sz="1700" dirty="0"/>
          </a:p>
        </p:txBody>
      </p:sp>
      <p:sp>
        <p:nvSpPr>
          <p:cNvPr id="38" name="Text 36"/>
          <p:cNvSpPr/>
          <p:nvPr/>
        </p:nvSpPr>
        <p:spPr>
          <a:xfrm>
            <a:off x="8204181" y="3315771"/>
            <a:ext cx="3034833" cy="7721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Images, texte et réseaux de neurones avec PyTorch : mêmes principes de validation.</a:t>
            </a:r>
            <a:endParaRPr lang="en-US" sz="1400" dirty="0"/>
          </a:p>
        </p:txBody>
      </p:sp>
      <p:pic>
        <p:nvPicPr>
          <p:cNvPr id="39" name="Image 0" descr="Logo ISM"/>
          <p:cNvPicPr>
            <a:picLocks noChangeAspect="1"/>
          </p:cNvPicPr>
          <p:nvPr/>
        </p:nvPicPr>
        <p:blipFill>
          <a:blip r:embed="rId3"/>
          <a:srcRect l="431" r="431"/>
          <a:stretch/>
        </p:blipFill>
        <p:spPr>
          <a:xfrm>
            <a:off x="812780" y="6223039"/>
            <a:ext cx="279380" cy="279380"/>
          </a:xfrm>
          <a:prstGeom prst="roundRect">
            <a:avLst>
              <a:gd name="adj" fmla="val 13637"/>
            </a:avLst>
          </a:prstGeom>
        </p:spPr>
      </p:pic>
      <p:sp>
        <p:nvSpPr>
          <p:cNvPr id="40" name="Text 37"/>
          <p:cNvSpPr/>
          <p:nvPr/>
        </p:nvSpPr>
        <p:spPr>
          <a:xfrm>
            <a:off x="1193721" y="625602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41" name="Text 38"/>
          <p:cNvSpPr/>
          <p:nvPr/>
        </p:nvSpPr>
        <p:spPr>
          <a:xfrm>
            <a:off x="10799732" y="6256020"/>
            <a:ext cx="57943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04 / 41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EFE5D3"/>
        </a:solidFill>
        <a:effectLst/>
      </p:bgPr>
    </p:bg>
    <p:spTree>
      <p:nvGrpSpPr>
        <p:cNvPr id="1" name=""/>
        <p:cNvGrpSpPr/>
        <p:nvPr/>
      </p:nvGrpSpPr>
      <p:grpSpPr>
        <a:xfrm>
          <a:off x="0" y="0"/>
          <a:ext cx="0" cy="0"/>
          <a:chOff x="0" y="0"/>
          <a:chExt cx="0" cy="0"/>
        </a:xfrm>
      </p:grpSpPr>
      <p:sp>
        <p:nvSpPr>
          <p:cNvPr id="2" name="Shape 0"/>
          <p:cNvSpPr/>
          <p:nvPr/>
        </p:nvSpPr>
        <p:spPr>
          <a:xfrm>
            <a:off x="812780" y="1993881"/>
            <a:ext cx="101560" cy="2667000"/>
          </a:xfrm>
          <a:prstGeom prst="roundRect">
            <a:avLst>
              <a:gd name="adj" fmla="val 50000"/>
            </a:avLst>
          </a:prstGeom>
          <a:solidFill>
            <a:srgbClr val="E3A23B"/>
          </a:solidFill>
          <a:ln/>
        </p:spPr>
      </p:sp>
      <p:sp>
        <p:nvSpPr>
          <p:cNvPr id="3" name="Text 1"/>
          <p:cNvSpPr/>
          <p:nvPr/>
        </p:nvSpPr>
        <p:spPr>
          <a:xfrm>
            <a:off x="1320701" y="2298681"/>
            <a:ext cx="1036027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9A5414"/>
                </a:solidFill>
                <a:latin typeface="JetBrains Mono" pitchFamily="49" charset="0"/>
                <a:ea typeface="JetBrains Mono" pitchFamily="49" charset="-122"/>
                <a:cs typeface="JetBrains Mono" pitchFamily="49" charset="-120"/>
              </a:rPr>
              <a:t>01</a:t>
            </a:r>
            <a:endParaRPr lang="en-US" sz="6000" dirty="0"/>
          </a:p>
        </p:txBody>
      </p:sp>
      <p:sp>
        <p:nvSpPr>
          <p:cNvPr id="4" name="Text 2"/>
          <p:cNvSpPr>
            <a:spLocks noGrp="1"/>
          </p:cNvSpPr>
          <p:nvPr>
            <p:ph type="title"/>
          </p:nvPr>
        </p:nvSpPr>
        <p:spPr>
          <a:xfrm>
            <a:off x="1320701" y="3213081"/>
            <a:ext cx="10360275"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4A2F20"/>
                </a:solidFill>
                <a:latin typeface="Space Grotesk" pitchFamily="34" charset="0"/>
                <a:ea typeface="Space Grotesk" pitchFamily="34" charset="-122"/>
                <a:cs typeface="Space Grotesk" pitchFamily="34" charset="-120"/>
              </a:rPr>
              <a:t>Fondamentaux</a:t>
            </a:r>
            <a:endParaRPr lang="en-US" sz="4800" dirty="0"/>
          </a:p>
        </p:txBody>
      </p:sp>
      <p:sp>
        <p:nvSpPr>
          <p:cNvPr id="5" name="Text 3"/>
          <p:cNvSpPr/>
          <p:nvPr/>
        </p:nvSpPr>
        <p:spPr>
          <a:xfrm>
            <a:off x="1320701" y="4036042"/>
            <a:ext cx="10360275"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6B6158"/>
                </a:solidFill>
                <a:latin typeface="Space Grotesk" pitchFamily="34" charset="0"/>
                <a:ea typeface="Space Grotesk" pitchFamily="34" charset="-122"/>
                <a:cs typeface="Space Grotesk" pitchFamily="34" charset="-120"/>
              </a:rPr>
              <a:t>Une API unique pour des dizaines d'algorithmes.</a:t>
            </a:r>
            <a:endParaRPr lang="en-US" sz="1800" dirty="0"/>
          </a:p>
        </p:txBody>
      </p:sp>
      <p:pic>
        <p:nvPicPr>
          <p:cNvPr id="6" name="Image 0" descr="Logo ISM"/>
          <p:cNvPicPr>
            <a:picLocks noChangeAspect="1"/>
          </p:cNvPicPr>
          <p:nvPr/>
        </p:nvPicPr>
        <p:blipFill>
          <a:blip r:embed="rId3"/>
          <a:srcRect l="431" r="431"/>
          <a:stretch/>
        </p:blipFill>
        <p:spPr>
          <a:xfrm>
            <a:off x="812780" y="6223040"/>
            <a:ext cx="279380" cy="279380"/>
          </a:xfrm>
          <a:prstGeom prst="roundRect">
            <a:avLst>
              <a:gd name="adj" fmla="val 13637"/>
            </a:avLst>
          </a:prstGeom>
        </p:spPr>
      </p:pic>
      <p:sp>
        <p:nvSpPr>
          <p:cNvPr id="7" name="Text 4"/>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8" name="Text 5"/>
          <p:cNvSpPr/>
          <p:nvPr/>
        </p:nvSpPr>
        <p:spPr>
          <a:xfrm>
            <a:off x="10804517" y="6256021"/>
            <a:ext cx="57464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05 / 41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FONDAMENTAUX</a:t>
            </a:r>
            <a:endParaRPr lang="en-US" sz="1200" dirty="0"/>
          </a:p>
        </p:txBody>
      </p:sp>
      <p:sp>
        <p:nvSpPr>
          <p:cNvPr id="3" name="Text 1"/>
          <p:cNvSpPr>
            <a:spLocks noGrp="1"/>
          </p:cNvSpPr>
          <p:nvPr>
            <p:ph type="title"/>
          </p:nvPr>
        </p:nvSpPr>
        <p:spPr>
          <a:xfrm>
            <a:off x="812780" y="1102342"/>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Le flux de travail d'un projet ML</a:t>
            </a:r>
            <a:endParaRPr lang="en-US" sz="3200" dirty="0"/>
          </a:p>
        </p:txBody>
      </p:sp>
      <p:sp>
        <p:nvSpPr>
          <p:cNvPr id="4" name="Shape 2"/>
          <p:cNvSpPr/>
          <p:nvPr/>
        </p:nvSpPr>
        <p:spPr>
          <a:xfrm>
            <a:off x="812780" y="1803322"/>
            <a:ext cx="2297728" cy="1451372"/>
          </a:xfrm>
          <a:prstGeom prst="roundRect">
            <a:avLst>
              <a:gd name="adj" fmla="val 7875"/>
            </a:avLst>
          </a:prstGeom>
          <a:solidFill>
            <a:srgbClr val="FFFFFF"/>
          </a:solidFill>
          <a:ln/>
        </p:spPr>
      </p:sp>
      <p:sp>
        <p:nvSpPr>
          <p:cNvPr id="5" name="Shape 3"/>
          <p:cNvSpPr/>
          <p:nvPr/>
        </p:nvSpPr>
        <p:spPr>
          <a:xfrm>
            <a:off x="812780" y="1803322"/>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9A5414"/>
          </a:solidFill>
          <a:ln/>
        </p:spPr>
      </p:sp>
      <p:sp>
        <p:nvSpPr>
          <p:cNvPr id="6" name="Text 4"/>
          <p:cNvSpPr/>
          <p:nvPr/>
        </p:nvSpPr>
        <p:spPr>
          <a:xfrm>
            <a:off x="990541" y="2030611"/>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5414"/>
                </a:solidFill>
                <a:latin typeface="JetBrains Mono" pitchFamily="49" charset="0"/>
                <a:ea typeface="JetBrains Mono" pitchFamily="49" charset="-122"/>
                <a:cs typeface="JetBrains Mono" pitchFamily="49" charset="-120"/>
              </a:rPr>
              <a:t>1</a:t>
            </a:r>
            <a:endParaRPr lang="en-US" sz="1400" dirty="0"/>
          </a:p>
        </p:txBody>
      </p:sp>
      <p:sp>
        <p:nvSpPr>
          <p:cNvPr id="7" name="Text 5"/>
          <p:cNvSpPr/>
          <p:nvPr/>
        </p:nvSpPr>
        <p:spPr>
          <a:xfrm>
            <a:off x="990541" y="234297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Données</a:t>
            </a:r>
            <a:endParaRPr lang="en-US" sz="1600" dirty="0"/>
          </a:p>
        </p:txBody>
      </p:sp>
      <p:sp>
        <p:nvSpPr>
          <p:cNvPr id="8" name="Text 6"/>
          <p:cNvSpPr/>
          <p:nvPr/>
        </p:nvSpPr>
        <p:spPr>
          <a:xfrm>
            <a:off x="990541" y="2650213"/>
            <a:ext cx="20004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Charger, nettoyer, définir la cible y</a:t>
            </a:r>
            <a:endParaRPr lang="en-US" sz="1200" dirty="0"/>
          </a:p>
        </p:txBody>
      </p:sp>
      <p:sp>
        <p:nvSpPr>
          <p:cNvPr id="9" name="Text 7"/>
          <p:cNvSpPr/>
          <p:nvPr/>
        </p:nvSpPr>
        <p:spPr>
          <a:xfrm>
            <a:off x="3212068" y="2333448"/>
            <a:ext cx="306467"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6B6158"/>
                </a:solidFill>
                <a:latin typeface="Space Grotesk" pitchFamily="34" charset="0"/>
                <a:ea typeface="Space Grotesk" pitchFamily="34" charset="-122"/>
                <a:cs typeface="Space Grotesk" pitchFamily="34" charset="-120"/>
              </a:rPr>
              <a:t>→</a:t>
            </a:r>
            <a:endParaRPr lang="en-US" sz="2200" dirty="0"/>
          </a:p>
        </p:txBody>
      </p:sp>
      <p:sp>
        <p:nvSpPr>
          <p:cNvPr id="10" name="Shape 8"/>
          <p:cNvSpPr/>
          <p:nvPr/>
        </p:nvSpPr>
        <p:spPr>
          <a:xfrm>
            <a:off x="3569018" y="1803322"/>
            <a:ext cx="2297728" cy="1451372"/>
          </a:xfrm>
          <a:prstGeom prst="roundRect">
            <a:avLst>
              <a:gd name="adj" fmla="val 7875"/>
            </a:avLst>
          </a:prstGeom>
          <a:solidFill>
            <a:srgbClr val="FFFFFF"/>
          </a:solidFill>
          <a:ln/>
        </p:spPr>
      </p:sp>
      <p:sp>
        <p:nvSpPr>
          <p:cNvPr id="11" name="Shape 9"/>
          <p:cNvSpPr/>
          <p:nvPr/>
        </p:nvSpPr>
        <p:spPr>
          <a:xfrm>
            <a:off x="3569018" y="1803322"/>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9A5414"/>
          </a:solidFill>
          <a:ln/>
        </p:spPr>
      </p:sp>
      <p:sp>
        <p:nvSpPr>
          <p:cNvPr id="12" name="Text 10"/>
          <p:cNvSpPr/>
          <p:nvPr/>
        </p:nvSpPr>
        <p:spPr>
          <a:xfrm>
            <a:off x="3746778" y="2030611"/>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5414"/>
                </a:solidFill>
                <a:latin typeface="JetBrains Mono" pitchFamily="49" charset="0"/>
                <a:ea typeface="JetBrains Mono" pitchFamily="49" charset="-122"/>
                <a:cs typeface="JetBrains Mono" pitchFamily="49" charset="-120"/>
              </a:rPr>
              <a:t>2</a:t>
            </a:r>
            <a:endParaRPr lang="en-US" sz="1400" dirty="0"/>
          </a:p>
        </p:txBody>
      </p:sp>
      <p:sp>
        <p:nvSpPr>
          <p:cNvPr id="13" name="Text 11"/>
          <p:cNvSpPr/>
          <p:nvPr/>
        </p:nvSpPr>
        <p:spPr>
          <a:xfrm>
            <a:off x="3746778" y="234297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Découper</a:t>
            </a:r>
            <a:endParaRPr lang="en-US" sz="1600" dirty="0"/>
          </a:p>
        </p:txBody>
      </p:sp>
      <p:sp>
        <p:nvSpPr>
          <p:cNvPr id="14" name="Text 12"/>
          <p:cNvSpPr/>
          <p:nvPr/>
        </p:nvSpPr>
        <p:spPr>
          <a:xfrm>
            <a:off x="3746778" y="2650213"/>
            <a:ext cx="20004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Mettre le jeu de test sous clé</a:t>
            </a:r>
            <a:endParaRPr lang="en-US" sz="1200" dirty="0"/>
          </a:p>
        </p:txBody>
      </p:sp>
      <p:sp>
        <p:nvSpPr>
          <p:cNvPr id="15" name="Text 13"/>
          <p:cNvSpPr/>
          <p:nvPr/>
        </p:nvSpPr>
        <p:spPr>
          <a:xfrm>
            <a:off x="5968306" y="2333448"/>
            <a:ext cx="306467"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6B6158"/>
                </a:solidFill>
                <a:latin typeface="Space Grotesk" pitchFamily="34" charset="0"/>
                <a:ea typeface="Space Grotesk" pitchFamily="34" charset="-122"/>
                <a:cs typeface="Space Grotesk" pitchFamily="34" charset="-120"/>
              </a:rPr>
              <a:t>→</a:t>
            </a:r>
            <a:endParaRPr lang="en-US" sz="2200" dirty="0"/>
          </a:p>
        </p:txBody>
      </p:sp>
      <p:sp>
        <p:nvSpPr>
          <p:cNvPr id="16" name="Shape 14"/>
          <p:cNvSpPr/>
          <p:nvPr/>
        </p:nvSpPr>
        <p:spPr>
          <a:xfrm>
            <a:off x="6325255" y="1803322"/>
            <a:ext cx="2297728" cy="1451372"/>
          </a:xfrm>
          <a:prstGeom prst="roundRect">
            <a:avLst>
              <a:gd name="adj" fmla="val 7875"/>
            </a:avLst>
          </a:prstGeom>
          <a:solidFill>
            <a:srgbClr val="FFFFFF"/>
          </a:solidFill>
          <a:ln/>
        </p:spPr>
      </p:sp>
      <p:sp>
        <p:nvSpPr>
          <p:cNvPr id="17" name="Shape 15"/>
          <p:cNvSpPr/>
          <p:nvPr/>
        </p:nvSpPr>
        <p:spPr>
          <a:xfrm>
            <a:off x="6325255" y="1803322"/>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9A5414"/>
          </a:solidFill>
          <a:ln/>
        </p:spPr>
      </p:sp>
      <p:sp>
        <p:nvSpPr>
          <p:cNvPr id="18" name="Text 16"/>
          <p:cNvSpPr/>
          <p:nvPr/>
        </p:nvSpPr>
        <p:spPr>
          <a:xfrm>
            <a:off x="6503015" y="2030611"/>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5414"/>
                </a:solidFill>
                <a:latin typeface="JetBrains Mono" pitchFamily="49" charset="0"/>
                <a:ea typeface="JetBrains Mono" pitchFamily="49" charset="-122"/>
                <a:cs typeface="JetBrains Mono" pitchFamily="49" charset="-120"/>
              </a:rPr>
              <a:t>3</a:t>
            </a:r>
            <a:endParaRPr lang="en-US" sz="1400" dirty="0"/>
          </a:p>
        </p:txBody>
      </p:sp>
      <p:sp>
        <p:nvSpPr>
          <p:cNvPr id="19" name="Text 17"/>
          <p:cNvSpPr/>
          <p:nvPr/>
        </p:nvSpPr>
        <p:spPr>
          <a:xfrm>
            <a:off x="6503015" y="234297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Pipeline</a:t>
            </a:r>
            <a:endParaRPr lang="en-US" sz="1600" dirty="0"/>
          </a:p>
        </p:txBody>
      </p:sp>
      <p:sp>
        <p:nvSpPr>
          <p:cNvPr id="20" name="Text 18"/>
          <p:cNvSpPr/>
          <p:nvPr/>
        </p:nvSpPr>
        <p:spPr>
          <a:xfrm>
            <a:off x="6503015" y="2650213"/>
            <a:ext cx="20004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Prétraitement + modèle en un objet</a:t>
            </a:r>
            <a:endParaRPr lang="en-US" sz="1200" dirty="0"/>
          </a:p>
        </p:txBody>
      </p:sp>
      <p:sp>
        <p:nvSpPr>
          <p:cNvPr id="21" name="Text 19"/>
          <p:cNvSpPr/>
          <p:nvPr/>
        </p:nvSpPr>
        <p:spPr>
          <a:xfrm>
            <a:off x="8724543" y="2333448"/>
            <a:ext cx="306467"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6B6158"/>
                </a:solidFill>
                <a:latin typeface="Space Grotesk" pitchFamily="34" charset="0"/>
                <a:ea typeface="Space Grotesk" pitchFamily="34" charset="-122"/>
                <a:cs typeface="Space Grotesk" pitchFamily="34" charset="-120"/>
              </a:rPr>
              <a:t>→</a:t>
            </a:r>
            <a:endParaRPr lang="en-US" sz="2200" dirty="0"/>
          </a:p>
        </p:txBody>
      </p:sp>
      <p:sp>
        <p:nvSpPr>
          <p:cNvPr id="22" name="Shape 20"/>
          <p:cNvSpPr/>
          <p:nvPr/>
        </p:nvSpPr>
        <p:spPr>
          <a:xfrm>
            <a:off x="9081492" y="1803322"/>
            <a:ext cx="2297728" cy="1451372"/>
          </a:xfrm>
          <a:prstGeom prst="roundRect">
            <a:avLst>
              <a:gd name="adj" fmla="val 7875"/>
            </a:avLst>
          </a:prstGeom>
          <a:solidFill>
            <a:srgbClr val="FFFFFF"/>
          </a:solidFill>
          <a:ln/>
        </p:spPr>
      </p:sp>
      <p:sp>
        <p:nvSpPr>
          <p:cNvPr id="23" name="Shape 21"/>
          <p:cNvSpPr/>
          <p:nvPr/>
        </p:nvSpPr>
        <p:spPr>
          <a:xfrm>
            <a:off x="9081492" y="1803322"/>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9A5414"/>
          </a:solidFill>
          <a:ln/>
        </p:spPr>
      </p:sp>
      <p:sp>
        <p:nvSpPr>
          <p:cNvPr id="24" name="Text 22"/>
          <p:cNvSpPr/>
          <p:nvPr/>
        </p:nvSpPr>
        <p:spPr>
          <a:xfrm>
            <a:off x="9259253" y="2030611"/>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9A5414"/>
                </a:solidFill>
                <a:latin typeface="JetBrains Mono" pitchFamily="49" charset="0"/>
                <a:ea typeface="JetBrains Mono" pitchFamily="49" charset="-122"/>
                <a:cs typeface="JetBrains Mono" pitchFamily="49" charset="-120"/>
              </a:rPr>
              <a:t>4</a:t>
            </a:r>
            <a:endParaRPr lang="en-US" sz="1400" dirty="0"/>
          </a:p>
        </p:txBody>
      </p:sp>
      <p:sp>
        <p:nvSpPr>
          <p:cNvPr id="25" name="Text 23"/>
          <p:cNvSpPr/>
          <p:nvPr/>
        </p:nvSpPr>
        <p:spPr>
          <a:xfrm>
            <a:off x="9259253" y="234297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Valider</a:t>
            </a:r>
            <a:endParaRPr lang="en-US" sz="1600" dirty="0"/>
          </a:p>
        </p:txBody>
      </p:sp>
      <p:sp>
        <p:nvSpPr>
          <p:cNvPr id="26" name="Text 24"/>
          <p:cNvSpPr/>
          <p:nvPr/>
        </p:nvSpPr>
        <p:spPr>
          <a:xfrm>
            <a:off x="9259253" y="2650213"/>
            <a:ext cx="20004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Validation croisée sur l'entraînement</a:t>
            </a:r>
            <a:endParaRPr lang="en-US" sz="1200" dirty="0"/>
          </a:p>
        </p:txBody>
      </p:sp>
      <p:sp>
        <p:nvSpPr>
          <p:cNvPr id="27" name="Shape 25"/>
          <p:cNvSpPr/>
          <p:nvPr/>
        </p:nvSpPr>
        <p:spPr>
          <a:xfrm>
            <a:off x="812780" y="3457873"/>
            <a:ext cx="2297728" cy="1451372"/>
          </a:xfrm>
          <a:prstGeom prst="roundRect">
            <a:avLst>
              <a:gd name="adj" fmla="val 7875"/>
            </a:avLst>
          </a:prstGeom>
          <a:solidFill>
            <a:srgbClr val="FFFFFF"/>
          </a:solidFill>
          <a:ln/>
        </p:spPr>
      </p:sp>
      <p:sp>
        <p:nvSpPr>
          <p:cNvPr id="28" name="Shape 26"/>
          <p:cNvSpPr/>
          <p:nvPr/>
        </p:nvSpPr>
        <p:spPr>
          <a:xfrm>
            <a:off x="812780" y="3457873"/>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E3A23B"/>
          </a:solidFill>
          <a:ln/>
        </p:spPr>
      </p:sp>
      <p:sp>
        <p:nvSpPr>
          <p:cNvPr id="29" name="Text 27"/>
          <p:cNvSpPr/>
          <p:nvPr/>
        </p:nvSpPr>
        <p:spPr>
          <a:xfrm>
            <a:off x="990541" y="3685164"/>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3A23B"/>
                </a:solidFill>
                <a:latin typeface="JetBrains Mono" pitchFamily="49" charset="0"/>
                <a:ea typeface="JetBrains Mono" pitchFamily="49" charset="-122"/>
                <a:cs typeface="JetBrains Mono" pitchFamily="49" charset="-120"/>
              </a:rPr>
              <a:t>5</a:t>
            </a:r>
            <a:endParaRPr lang="en-US" sz="1400" dirty="0"/>
          </a:p>
        </p:txBody>
      </p:sp>
      <p:sp>
        <p:nvSpPr>
          <p:cNvPr id="30" name="Text 28"/>
          <p:cNvSpPr/>
          <p:nvPr/>
        </p:nvSpPr>
        <p:spPr>
          <a:xfrm>
            <a:off x="990541" y="399752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Optimiser</a:t>
            </a:r>
            <a:endParaRPr lang="en-US" sz="1600" dirty="0"/>
          </a:p>
        </p:txBody>
      </p:sp>
      <p:sp>
        <p:nvSpPr>
          <p:cNvPr id="31" name="Text 29"/>
          <p:cNvSpPr/>
          <p:nvPr/>
        </p:nvSpPr>
        <p:spPr>
          <a:xfrm>
            <a:off x="990541" y="4304767"/>
            <a:ext cx="20004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Hyperparamètres, seuil, calibration</a:t>
            </a:r>
            <a:endParaRPr lang="en-US" sz="1200" dirty="0"/>
          </a:p>
        </p:txBody>
      </p:sp>
      <p:sp>
        <p:nvSpPr>
          <p:cNvPr id="32" name="Text 30"/>
          <p:cNvSpPr/>
          <p:nvPr/>
        </p:nvSpPr>
        <p:spPr>
          <a:xfrm>
            <a:off x="3212068" y="3987998"/>
            <a:ext cx="306467"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6B6158"/>
                </a:solidFill>
                <a:latin typeface="Space Grotesk" pitchFamily="34" charset="0"/>
                <a:ea typeface="Space Grotesk" pitchFamily="34" charset="-122"/>
                <a:cs typeface="Space Grotesk" pitchFamily="34" charset="-120"/>
              </a:rPr>
              <a:t>→</a:t>
            </a:r>
            <a:endParaRPr lang="en-US" sz="2200" dirty="0"/>
          </a:p>
        </p:txBody>
      </p:sp>
      <p:sp>
        <p:nvSpPr>
          <p:cNvPr id="33" name="Shape 31"/>
          <p:cNvSpPr/>
          <p:nvPr/>
        </p:nvSpPr>
        <p:spPr>
          <a:xfrm>
            <a:off x="3569018" y="3457873"/>
            <a:ext cx="2297728" cy="1451372"/>
          </a:xfrm>
          <a:prstGeom prst="roundRect">
            <a:avLst>
              <a:gd name="adj" fmla="val 7875"/>
            </a:avLst>
          </a:prstGeom>
          <a:solidFill>
            <a:srgbClr val="FFFFFF"/>
          </a:solidFill>
          <a:ln/>
        </p:spPr>
      </p:sp>
      <p:sp>
        <p:nvSpPr>
          <p:cNvPr id="34" name="Shape 32"/>
          <p:cNvSpPr/>
          <p:nvPr/>
        </p:nvSpPr>
        <p:spPr>
          <a:xfrm>
            <a:off x="3569018" y="3457873"/>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E3A23B"/>
          </a:solidFill>
          <a:ln/>
        </p:spPr>
      </p:sp>
      <p:sp>
        <p:nvSpPr>
          <p:cNvPr id="35" name="Text 33"/>
          <p:cNvSpPr/>
          <p:nvPr/>
        </p:nvSpPr>
        <p:spPr>
          <a:xfrm>
            <a:off x="3746778" y="3685164"/>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3A23B"/>
                </a:solidFill>
                <a:latin typeface="JetBrains Mono" pitchFamily="49" charset="0"/>
                <a:ea typeface="JetBrains Mono" pitchFamily="49" charset="-122"/>
                <a:cs typeface="JetBrains Mono" pitchFamily="49" charset="-120"/>
              </a:rPr>
              <a:t>6</a:t>
            </a:r>
            <a:endParaRPr lang="en-US" sz="1400" dirty="0"/>
          </a:p>
        </p:txBody>
      </p:sp>
      <p:sp>
        <p:nvSpPr>
          <p:cNvPr id="36" name="Text 34"/>
          <p:cNvSpPr/>
          <p:nvPr/>
        </p:nvSpPr>
        <p:spPr>
          <a:xfrm>
            <a:off x="3746778" y="399752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Tester</a:t>
            </a:r>
            <a:endParaRPr lang="en-US" sz="1600" dirty="0"/>
          </a:p>
        </p:txBody>
      </p:sp>
      <p:sp>
        <p:nvSpPr>
          <p:cNvPr id="37" name="Text 35"/>
          <p:cNvSpPr/>
          <p:nvPr/>
        </p:nvSpPr>
        <p:spPr>
          <a:xfrm>
            <a:off x="3746778" y="4304767"/>
            <a:ext cx="200047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Une seule fois, sur le test</a:t>
            </a:r>
            <a:endParaRPr lang="en-US" sz="1200" dirty="0"/>
          </a:p>
        </p:txBody>
      </p:sp>
      <p:sp>
        <p:nvSpPr>
          <p:cNvPr id="38" name="Text 36"/>
          <p:cNvSpPr/>
          <p:nvPr/>
        </p:nvSpPr>
        <p:spPr>
          <a:xfrm>
            <a:off x="5968306" y="3987998"/>
            <a:ext cx="306467"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6B6158"/>
                </a:solidFill>
                <a:latin typeface="Space Grotesk" pitchFamily="34" charset="0"/>
                <a:ea typeface="Space Grotesk" pitchFamily="34" charset="-122"/>
                <a:cs typeface="Space Grotesk" pitchFamily="34" charset="-120"/>
              </a:rPr>
              <a:t>→</a:t>
            </a:r>
            <a:endParaRPr lang="en-US" sz="2200" dirty="0"/>
          </a:p>
        </p:txBody>
      </p:sp>
      <p:sp>
        <p:nvSpPr>
          <p:cNvPr id="39" name="Shape 37"/>
          <p:cNvSpPr/>
          <p:nvPr/>
        </p:nvSpPr>
        <p:spPr>
          <a:xfrm>
            <a:off x="6325255" y="3457873"/>
            <a:ext cx="2297728" cy="1451372"/>
          </a:xfrm>
          <a:prstGeom prst="roundRect">
            <a:avLst>
              <a:gd name="adj" fmla="val 7875"/>
            </a:avLst>
          </a:prstGeom>
          <a:solidFill>
            <a:srgbClr val="FFFFFF"/>
          </a:solidFill>
          <a:ln/>
        </p:spPr>
      </p:sp>
      <p:sp>
        <p:nvSpPr>
          <p:cNvPr id="40" name="Shape 38"/>
          <p:cNvSpPr/>
          <p:nvPr/>
        </p:nvSpPr>
        <p:spPr>
          <a:xfrm>
            <a:off x="6325255" y="3457873"/>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E3A23B"/>
          </a:solidFill>
          <a:ln/>
        </p:spPr>
      </p:sp>
      <p:sp>
        <p:nvSpPr>
          <p:cNvPr id="41" name="Text 39"/>
          <p:cNvSpPr/>
          <p:nvPr/>
        </p:nvSpPr>
        <p:spPr>
          <a:xfrm>
            <a:off x="6503015" y="3685164"/>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3A23B"/>
                </a:solidFill>
                <a:latin typeface="JetBrains Mono" pitchFamily="49" charset="0"/>
                <a:ea typeface="JetBrains Mono" pitchFamily="49" charset="-122"/>
                <a:cs typeface="JetBrains Mono" pitchFamily="49" charset="-120"/>
              </a:rPr>
              <a:t>7</a:t>
            </a:r>
            <a:endParaRPr lang="en-US" sz="1400" dirty="0"/>
          </a:p>
        </p:txBody>
      </p:sp>
      <p:sp>
        <p:nvSpPr>
          <p:cNvPr id="42" name="Text 40"/>
          <p:cNvSpPr/>
          <p:nvPr/>
        </p:nvSpPr>
        <p:spPr>
          <a:xfrm>
            <a:off x="6503015" y="399752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Expliquer</a:t>
            </a:r>
            <a:endParaRPr lang="en-US" sz="1600" dirty="0"/>
          </a:p>
        </p:txBody>
      </p:sp>
      <p:sp>
        <p:nvSpPr>
          <p:cNvPr id="43" name="Text 41"/>
          <p:cNvSpPr/>
          <p:nvPr/>
        </p:nvSpPr>
        <p:spPr>
          <a:xfrm>
            <a:off x="6503015" y="4304767"/>
            <a:ext cx="20004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Importance des variables, erreurs</a:t>
            </a:r>
            <a:endParaRPr lang="en-US" sz="1200" dirty="0"/>
          </a:p>
        </p:txBody>
      </p:sp>
      <p:sp>
        <p:nvSpPr>
          <p:cNvPr id="44" name="Text 42"/>
          <p:cNvSpPr/>
          <p:nvPr/>
        </p:nvSpPr>
        <p:spPr>
          <a:xfrm>
            <a:off x="8724543" y="3987998"/>
            <a:ext cx="306467"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6B6158"/>
                </a:solidFill>
                <a:latin typeface="Space Grotesk" pitchFamily="34" charset="0"/>
                <a:ea typeface="Space Grotesk" pitchFamily="34" charset="-122"/>
                <a:cs typeface="Space Grotesk" pitchFamily="34" charset="-120"/>
              </a:rPr>
              <a:t>→</a:t>
            </a:r>
            <a:endParaRPr lang="en-US" sz="2200" dirty="0"/>
          </a:p>
        </p:txBody>
      </p:sp>
      <p:sp>
        <p:nvSpPr>
          <p:cNvPr id="45" name="Shape 43"/>
          <p:cNvSpPr/>
          <p:nvPr/>
        </p:nvSpPr>
        <p:spPr>
          <a:xfrm>
            <a:off x="9081492" y="3457873"/>
            <a:ext cx="2297728" cy="1451372"/>
          </a:xfrm>
          <a:prstGeom prst="roundRect">
            <a:avLst>
              <a:gd name="adj" fmla="val 7875"/>
            </a:avLst>
          </a:prstGeom>
          <a:solidFill>
            <a:srgbClr val="FFFFFF"/>
          </a:solidFill>
          <a:ln/>
        </p:spPr>
      </p:sp>
      <p:sp>
        <p:nvSpPr>
          <p:cNvPr id="46" name="Shape 44"/>
          <p:cNvSpPr/>
          <p:nvPr/>
        </p:nvSpPr>
        <p:spPr>
          <a:xfrm>
            <a:off x="9081492" y="3457873"/>
            <a:ext cx="2297728" cy="1451372"/>
          </a:xfrm>
          <a:custGeom>
            <a:avLst/>
            <a:gdLst/>
            <a:ahLst/>
            <a:cxnLst/>
            <a:rect l="l" t="t" r="r" b="b"/>
            <a:pathLst>
              <a:path w="2297728" h="1451372">
                <a:moveTo>
                  <a:pt x="0" y="114300"/>
                </a:moveTo>
                <a:lnTo>
                  <a:pt x="0" y="114300"/>
                </a:lnTo>
                <a:arcTo wR="114300" hR="114300" stAng="10800000" swAng="5400000"/>
                <a:lnTo>
                  <a:pt x="2183428" y="0"/>
                </a:lnTo>
                <a:arcTo wR="114300" hR="114300" stAng="16200000" swAng="5400000"/>
                <a:lnTo>
                  <a:pt x="2297728" y="114300"/>
                </a:lnTo>
                <a:arcTo wR="114300" hR="63500" stAng="0" swAng="-5400000"/>
                <a:lnTo>
                  <a:pt x="114300" y="50800"/>
                </a:lnTo>
                <a:arcTo wR="114300" hR="63500" stAng="16200000" swAng="-5400000"/>
                <a:close/>
              </a:path>
            </a:pathLst>
          </a:custGeom>
          <a:solidFill>
            <a:srgbClr val="E3A23B"/>
          </a:solidFill>
          <a:ln/>
        </p:spPr>
      </p:sp>
      <p:sp>
        <p:nvSpPr>
          <p:cNvPr id="47" name="Text 45"/>
          <p:cNvSpPr/>
          <p:nvPr/>
        </p:nvSpPr>
        <p:spPr>
          <a:xfrm>
            <a:off x="9259253" y="3685164"/>
            <a:ext cx="2000473"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3A23B"/>
                </a:solidFill>
                <a:latin typeface="JetBrains Mono" pitchFamily="49" charset="0"/>
                <a:ea typeface="JetBrains Mono" pitchFamily="49" charset="-122"/>
                <a:cs typeface="JetBrains Mono" pitchFamily="49" charset="-120"/>
              </a:rPr>
              <a:t>8</a:t>
            </a:r>
            <a:endParaRPr lang="en-US" sz="1400" dirty="0"/>
          </a:p>
        </p:txBody>
      </p:sp>
      <p:sp>
        <p:nvSpPr>
          <p:cNvPr id="48" name="Text 46"/>
          <p:cNvSpPr/>
          <p:nvPr/>
        </p:nvSpPr>
        <p:spPr>
          <a:xfrm>
            <a:off x="9259253" y="3997523"/>
            <a:ext cx="20004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11B"/>
                </a:solidFill>
                <a:latin typeface="Space Grotesk" pitchFamily="34" charset="0"/>
                <a:ea typeface="Space Grotesk" pitchFamily="34" charset="-122"/>
                <a:cs typeface="Space Grotesk" pitchFamily="34" charset="-120"/>
              </a:rPr>
              <a:t>Déployer</a:t>
            </a:r>
            <a:endParaRPr lang="en-US" sz="1600" dirty="0"/>
          </a:p>
        </p:txBody>
      </p:sp>
      <p:sp>
        <p:nvSpPr>
          <p:cNvPr id="49" name="Text 47"/>
          <p:cNvSpPr/>
          <p:nvPr/>
        </p:nvSpPr>
        <p:spPr>
          <a:xfrm>
            <a:off x="9259253" y="4304767"/>
            <a:ext cx="20004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Sauvegarder et servir le pipeline</a:t>
            </a:r>
            <a:endParaRPr lang="en-US" sz="1200" dirty="0"/>
          </a:p>
        </p:txBody>
      </p:sp>
      <p:pic>
        <p:nvPicPr>
          <p:cNvPr id="50" name="Image 0" descr="Logo ISM"/>
          <p:cNvPicPr>
            <a:picLocks noChangeAspect="1"/>
          </p:cNvPicPr>
          <p:nvPr/>
        </p:nvPicPr>
        <p:blipFill>
          <a:blip r:embed="rId3"/>
          <a:srcRect l="431" r="431"/>
          <a:stretch/>
        </p:blipFill>
        <p:spPr>
          <a:xfrm>
            <a:off x="812780" y="6223040"/>
            <a:ext cx="279380" cy="279380"/>
          </a:xfrm>
          <a:prstGeom prst="roundRect">
            <a:avLst>
              <a:gd name="adj" fmla="val 13637"/>
            </a:avLst>
          </a:prstGeom>
        </p:spPr>
      </p:pic>
      <p:sp>
        <p:nvSpPr>
          <p:cNvPr id="51" name="Text 48"/>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52" name="Text 49"/>
          <p:cNvSpPr/>
          <p:nvPr/>
        </p:nvSpPr>
        <p:spPr>
          <a:xfrm>
            <a:off x="10802160" y="6256021"/>
            <a:ext cx="57700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06 / 41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FONDAMENTAUX</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Une API, trois rôles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814749"/>
          <a:ext cx="10554950" cy="3278386"/>
        </p:xfrm>
        <a:graphic>
          <a:graphicData uri="http://schemas.openxmlformats.org/drawingml/2006/table">
            <a:tbl>
              <a:tblPr/>
              <a:tblGrid>
                <a:gridCol w="2744287">
                  <a:extLst>
                    <a:ext uri="{9D8B030D-6E8A-4147-A177-3AD203B41FA5}">
                      <a16:colId xmlns:a16="http://schemas.microsoft.com/office/drawing/2014/main" val="20000"/>
                    </a:ext>
                  </a:extLst>
                </a:gridCol>
                <a:gridCol w="3799782">
                  <a:extLst>
                    <a:ext uri="{9D8B030D-6E8A-4147-A177-3AD203B41FA5}">
                      <a16:colId xmlns:a16="http://schemas.microsoft.com/office/drawing/2014/main" val="20001"/>
                    </a:ext>
                  </a:extLst>
                </a:gridCol>
                <a:gridCol w="4010881">
                  <a:extLst>
                    <a:ext uri="{9D8B030D-6E8A-4147-A177-3AD203B41FA5}">
                      <a16:colId xmlns:a16="http://schemas.microsoft.com/office/drawing/2014/main" val="20002"/>
                    </a:ext>
                  </a:extLst>
                </a:gridCol>
              </a:tblGrid>
              <a:tr h="498991">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Méthode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Rôle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Qui la possède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extLst>
                  <a:ext uri="{0D108BD9-81ED-4DB2-BD59-A6C34878D82A}">
                    <a16:rowId xmlns:a16="http://schemas.microsoft.com/office/drawing/2014/main" val="10000"/>
                  </a:ext>
                </a:extLst>
              </a:tr>
              <a:tr h="49899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fit(X, y)</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Apprend à partir des données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Tous les estimateurs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78343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transform(X)</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Transforme les données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Transformeurs : StandardScaler, OneHotEncoder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9899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predict(X)</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Prédit une étiquette ou une valeur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Prédicteurs : Ridge, RandomForest…</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9899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predict_proba(X)</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Prédit des probabilités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Classifieurs probabilistes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9899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score(X, y)</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Évalue avec la métrique par défaut</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Prédicteurs (R² ou exactitude)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780" y="5245534"/>
            <a:ext cx="10566440" cy="553700"/>
          </a:xfrm>
          <a:prstGeom prst="roundRect">
            <a:avLst>
              <a:gd name="adj" fmla="val 18349"/>
            </a:avLst>
          </a:prstGeom>
          <a:solidFill>
            <a:srgbClr val="FFFFFF"/>
          </a:solidFill>
          <a:ln/>
        </p:spPr>
        <p:txBody>
          <a:bodyPr wrap="square" lIns="222953" tIns="122642" rIns="0"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Ce qui est appris pendant </a:t>
            </a:r>
            <a:r>
              <a:rPr lang="en-US" sz="1400" b="1" dirty="0">
                <a:solidFill>
                  <a:srgbClr val="2B211B"/>
                </a:solidFill>
                <a:latin typeface="Space Grotesk" pitchFamily="34" charset="0"/>
                <a:ea typeface="Space Grotesk" pitchFamily="34" charset="-122"/>
                <a:cs typeface="Space Grotesk" pitchFamily="34" charset="-120"/>
              </a:rPr>
              <a:t>fit</a:t>
            </a:r>
            <a:r>
              <a:rPr lang="en-US" sz="1400" dirty="0">
                <a:solidFill>
                  <a:srgbClr val="2B211B"/>
                </a:solidFill>
                <a:latin typeface="Space Grotesk" pitchFamily="34" charset="0"/>
                <a:ea typeface="Space Grotesk" pitchFamily="34" charset="-122"/>
                <a:cs typeface="Space Grotesk" pitchFamily="34" charset="-120"/>
              </a:rPr>
              <a:t> finit par un tiret bas : </a:t>
            </a:r>
            <a:r>
              <a:rPr lang="en-US" sz="1400" b="1" dirty="0">
                <a:solidFill>
                  <a:srgbClr val="9A5414"/>
                </a:solidFill>
                <a:latin typeface="Space Grotesk" pitchFamily="34" charset="0"/>
                <a:ea typeface="Space Grotesk" pitchFamily="34" charset="-122"/>
                <a:cs typeface="Space Grotesk" pitchFamily="34" charset="-120"/>
              </a:rPr>
              <a:t>mean_</a:t>
            </a:r>
            <a:r>
              <a:rPr lang="en-US" sz="1400" dirty="0">
                <a:solidFill>
                  <a:srgbClr val="2B211B"/>
                </a:solidFill>
                <a:latin typeface="Space Grotesk" pitchFamily="34" charset="0"/>
                <a:ea typeface="Space Grotesk" pitchFamily="34" charset="-122"/>
                <a:cs typeface="Space Grotesk" pitchFamily="34" charset="-120"/>
              </a:rPr>
              <a:t>, </a:t>
            </a:r>
            <a:r>
              <a:rPr lang="en-US" sz="1400" b="1" dirty="0">
                <a:solidFill>
                  <a:srgbClr val="9A5414"/>
                </a:solidFill>
                <a:latin typeface="Space Grotesk" pitchFamily="34" charset="0"/>
                <a:ea typeface="Space Grotesk" pitchFamily="34" charset="-122"/>
                <a:cs typeface="Space Grotesk" pitchFamily="34" charset="-120"/>
              </a:rPr>
              <a:t>coef_</a:t>
            </a:r>
            <a:r>
              <a:rPr lang="en-US" sz="1400" dirty="0">
                <a:solidFill>
                  <a:srgbClr val="2B211B"/>
                </a:solidFill>
                <a:latin typeface="Space Grotesk" pitchFamily="34" charset="0"/>
                <a:ea typeface="Space Grotesk" pitchFamily="34" charset="-122"/>
                <a:cs typeface="Space Grotesk" pitchFamily="34" charset="-120"/>
              </a:rPr>
              <a:t>, </a:t>
            </a:r>
            <a:r>
              <a:rPr lang="en-US" sz="1400" b="1" dirty="0">
                <a:solidFill>
                  <a:srgbClr val="9A5414"/>
                </a:solidFill>
                <a:latin typeface="Space Grotesk" pitchFamily="34" charset="0"/>
                <a:ea typeface="Space Grotesk" pitchFamily="34" charset="-122"/>
                <a:cs typeface="Space Grotesk" pitchFamily="34" charset="-120"/>
              </a:rPr>
              <a:t>classes_</a:t>
            </a:r>
            <a:r>
              <a:rPr lang="en-US" sz="1400" dirty="0">
                <a:solidFill>
                  <a:srgbClr val="2B211B"/>
                </a:solidFill>
                <a:latin typeface="Space Grotesk" pitchFamily="34" charset="0"/>
                <a:ea typeface="Space Grotesk" pitchFamily="34" charset="-122"/>
                <a:cs typeface="Space Grotesk" pitchFamily="34" charset="-120"/>
              </a:rPr>
              <a:t>. Si on le calcule sur le test, c'est une fuite.</a:t>
            </a:r>
            <a:endParaRPr lang="en-US" sz="1400" dirty="0"/>
          </a:p>
        </p:txBody>
      </p:sp>
      <p:sp>
        <p:nvSpPr>
          <p:cNvPr id="6" name="Shape 3"/>
          <p:cNvSpPr/>
          <p:nvPr/>
        </p:nvSpPr>
        <p:spPr>
          <a:xfrm>
            <a:off x="812780" y="5245534"/>
            <a:ext cx="10566440" cy="553700"/>
          </a:xfrm>
          <a:custGeom>
            <a:avLst/>
            <a:gdLst/>
            <a:ahLst/>
            <a:cxnLst/>
            <a:rect l="l" t="t" r="r" b="b"/>
            <a:pathLst>
              <a:path w="10566440" h="553700">
                <a:moveTo>
                  <a:pt x="101600" y="553700"/>
                </a:moveTo>
                <a:lnTo>
                  <a:pt x="101600" y="553700"/>
                </a:lnTo>
                <a:arcTo wR="101600" hR="101600" stAng="5400000" swAng="5400000"/>
                <a:lnTo>
                  <a:pt x="0" y="101600"/>
                </a:lnTo>
                <a:arcTo wR="101600" hR="101600" stAng="10800000" swAng="5400000"/>
                <a:lnTo>
                  <a:pt x="101600" y="0"/>
                </a:lnTo>
                <a:arcTo wR="50800" hR="101600" stAng="16200000" swAng="-5400000"/>
                <a:lnTo>
                  <a:pt x="50800" y="452100"/>
                </a:lnTo>
                <a:arcTo wR="50800" hR="101600" stAng="10800000" swAng="-5400000"/>
                <a:close/>
              </a:path>
            </a:pathLst>
          </a:custGeom>
          <a:solidFill>
            <a:srgbClr val="E3A23B"/>
          </a:solidFill>
          <a:ln/>
        </p:spPr>
      </p:sp>
      <p:pic>
        <p:nvPicPr>
          <p:cNvPr id="7"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8" name="Text 4"/>
          <p:cNvSpPr/>
          <p:nvPr/>
        </p:nvSpPr>
        <p:spPr>
          <a:xfrm>
            <a:off x="1193721" y="6256018"/>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9" name="Text 5"/>
          <p:cNvSpPr/>
          <p:nvPr/>
        </p:nvSpPr>
        <p:spPr>
          <a:xfrm>
            <a:off x="10814233" y="6256018"/>
            <a:ext cx="56492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07 / 41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FONDAMENTAUX</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Les grandes familles de problèmes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814749"/>
          <a:ext cx="10554950" cy="2494955"/>
        </p:xfrm>
        <a:graphic>
          <a:graphicData uri="http://schemas.openxmlformats.org/drawingml/2006/table">
            <a:tbl>
              <a:tblPr/>
              <a:tblGrid>
                <a:gridCol w="2322089">
                  <a:extLst>
                    <a:ext uri="{9D8B030D-6E8A-4147-A177-3AD203B41FA5}">
                      <a16:colId xmlns:a16="http://schemas.microsoft.com/office/drawing/2014/main" val="20000"/>
                    </a:ext>
                  </a:extLst>
                </a:gridCol>
                <a:gridCol w="1688792">
                  <a:extLst>
                    <a:ext uri="{9D8B030D-6E8A-4147-A177-3AD203B41FA5}">
                      <a16:colId xmlns:a16="http://schemas.microsoft.com/office/drawing/2014/main" val="20001"/>
                    </a:ext>
                  </a:extLst>
                </a:gridCol>
                <a:gridCol w="3799782">
                  <a:extLst>
                    <a:ext uri="{9D8B030D-6E8A-4147-A177-3AD203B41FA5}">
                      <a16:colId xmlns:a16="http://schemas.microsoft.com/office/drawing/2014/main" val="20002"/>
                    </a:ext>
                  </a:extLst>
                </a:gridCol>
                <a:gridCol w="2744287">
                  <a:extLst>
                    <a:ext uri="{9D8B030D-6E8A-4147-A177-3AD203B41FA5}">
                      <a16:colId xmlns:a16="http://schemas.microsoft.com/office/drawing/2014/main" val="20003"/>
                    </a:ext>
                  </a:extLst>
                </a:gridCol>
              </a:tblGrid>
              <a:tr h="498991">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Tâche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Cible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Exemple football</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Métrique type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extLst>
                  <a:ext uri="{0D108BD9-81ED-4DB2-BD59-A6C34878D82A}">
                    <a16:rowId xmlns:a16="http://schemas.microsoft.com/office/drawing/2014/main" val="10000"/>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Régression</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Un nombre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Salaire d'un joueur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MAE, RMSE, R²</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Classification</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Une classe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Domicile, nul ou extérieur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Log-loss, F1, AUC</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Clustering</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Aucune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Profils de joueurs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Silhouette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Réduction de dim.</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Aucune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Projeter 20 statistiques en 2D</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Variance expliquée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5" name="Image 0" descr="Logo ISM"/>
          <p:cNvPicPr>
            <a:picLocks noChangeAspect="1"/>
          </p:cNvPicPr>
          <p:nvPr/>
        </p:nvPicPr>
        <p:blipFill>
          <a:blip r:embed="rId3"/>
          <a:srcRect l="431" r="431"/>
          <a:stretch/>
        </p:blipFill>
        <p:spPr>
          <a:xfrm>
            <a:off x="812780" y="6223040"/>
            <a:ext cx="279380" cy="279380"/>
          </a:xfrm>
          <a:prstGeom prst="roundRect">
            <a:avLst>
              <a:gd name="adj" fmla="val 13637"/>
            </a:avLst>
          </a:prstGeom>
        </p:spPr>
      </p:pic>
      <p:sp>
        <p:nvSpPr>
          <p:cNvPr id="6" name="Text 2"/>
          <p:cNvSpPr/>
          <p:nvPr/>
        </p:nvSpPr>
        <p:spPr>
          <a:xfrm>
            <a:off x="1193721" y="6256018"/>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7" name="Text 3"/>
          <p:cNvSpPr/>
          <p:nvPr/>
        </p:nvSpPr>
        <p:spPr>
          <a:xfrm>
            <a:off x="10800160" y="6256018"/>
            <a:ext cx="57900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08 / 41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FONDAMENTAUX</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Découper avant toute chose</a:t>
            </a:r>
            <a:endParaRPr lang="en-US" sz="3200" dirty="0"/>
          </a:p>
        </p:txBody>
      </p:sp>
      <p:sp>
        <p:nvSpPr>
          <p:cNvPr id="4" name="Shape 2"/>
          <p:cNvSpPr/>
          <p:nvPr/>
        </p:nvSpPr>
        <p:spPr>
          <a:xfrm>
            <a:off x="819130" y="1809676"/>
            <a:ext cx="10553740" cy="183000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40000"/>
            <a:ext cx="10441337" cy="190000"/>
          </a:xfrm>
          <a:prstGeom prst="rect">
            <a:avLst/>
          </a:prstGeom>
          <a:noFill/>
          <a:ln/>
        </p:spPr>
        <p:txBody>
          <a:bodyPr wrap="none" lIns="0" tIns="0" rIns="0" bIns="0" rtlCol="0" anchor="t">
            <a:normAutofit/>
          </a:bodyPr>
          <a:lstStyle/>
          <a:p>
            <a:pPr marL="0" indent="0" algn="l">
              <a:lnSpc>
                <a:spcPts val="972"/>
              </a:lnSpc>
              <a:buNone/>
            </a:pPr>
            <a:r>
              <a:rPr lang="en-US" sz="950" b="1" dirty="0">
                <a:solidFill>
                  <a:srgbClr val="9A3D0A"/>
                </a:solidFill>
                <a:latin typeface="JetBrains Mono" pitchFamily="49" charset="0"/>
                <a:ea typeface="JetBrains Mono" pitchFamily="49" charset="-122"/>
                <a:cs typeface="JetBrains Mono" pitchFamily="49" charset="-120"/>
              </a:rPr>
              <a:t>from</a:t>
            </a:r>
            <a:r>
              <a:rPr lang="en-US" sz="950" dirty="0">
                <a:solidFill>
                  <a:srgbClr val="2B211B"/>
                </a:solidFill>
                <a:latin typeface="JetBrains Mono" pitchFamily="49" charset="0"/>
                <a:ea typeface="JetBrains Mono" pitchFamily="49" charset="-122"/>
                <a:cs typeface="JetBrains Mono" pitchFamily="49" charset="-120"/>
              </a:rPr>
              <a:t> sklearn.model_selection </a:t>
            </a:r>
            <a:r>
              <a:rPr lang="en-US" sz="950" b="1" dirty="0">
                <a:solidFill>
                  <a:srgbClr val="9A3D0A"/>
                </a:solidFill>
                <a:latin typeface="JetBrains Mono" pitchFamily="49" charset="0"/>
                <a:ea typeface="JetBrains Mono" pitchFamily="49" charset="-122"/>
                <a:cs typeface="JetBrains Mono" pitchFamily="49" charset="-120"/>
              </a:rPr>
              <a:t>import</a:t>
            </a:r>
            <a:r>
              <a:rPr lang="en-US" sz="950" dirty="0">
                <a:solidFill>
                  <a:srgbClr val="2B211B"/>
                </a:solidFill>
                <a:latin typeface="JetBrains Mono" pitchFamily="49" charset="0"/>
                <a:ea typeface="JetBrains Mono" pitchFamily="49" charset="-122"/>
                <a:cs typeface="JetBrains Mono" pitchFamily="49" charset="-120"/>
              </a:rPr>
              <a:t> train_test_split</a:t>
            </a:r>
            <a:endParaRPr lang="en-US" sz="950" dirty="0"/>
          </a:p>
        </p:txBody>
      </p:sp>
      <p:sp>
        <p:nvSpPr>
          <p:cNvPr id="6" name="Text 4"/>
          <p:cNvSpPr/>
          <p:nvPr/>
        </p:nvSpPr>
        <p:spPr>
          <a:xfrm>
            <a:off x="1027390" y="2165000"/>
            <a:ext cx="10441337" cy="19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num = [</a:t>
            </a:r>
            <a:r>
              <a:rPr lang="en-US" sz="950" dirty="0">
                <a:solidFill>
                  <a:srgbClr val="2C6E3F"/>
                </a:solidFill>
                <a:latin typeface="JetBrains Mono" pitchFamily="49" charset="0"/>
                <a:ea typeface="JetBrains Mono" pitchFamily="49" charset="-122"/>
                <a:cs typeface="JetBrains Mono" pitchFamily="49" charset="-120"/>
              </a:rPr>
              <a:t>"matchs_joues"</a:t>
            </a:r>
            <a:r>
              <a:rPr lang="en-US" sz="950" dirty="0">
                <a:solidFill>
                  <a:srgbClr val="2B211B"/>
                </a:solidFill>
                <a:latin typeface="JetBrains Mono" pitchFamily="49" charset="0"/>
                <a:ea typeface="JetBrains Mono" pitchFamily="49" charset="-122"/>
                <a:cs typeface="JetBrains Mono" pitchFamily="49" charset="-120"/>
              </a:rPr>
              <a:t>, </a:t>
            </a:r>
            <a:r>
              <a:rPr lang="en-US" sz="950" dirty="0">
                <a:solidFill>
                  <a:srgbClr val="2C6E3F"/>
                </a:solidFill>
                <a:latin typeface="JetBrains Mono" pitchFamily="49" charset="0"/>
                <a:ea typeface="JetBrains Mono" pitchFamily="49" charset="-122"/>
                <a:cs typeface="JetBrains Mono" pitchFamily="49" charset="-120"/>
              </a:rPr>
              <a:t>"minutes_jouees"</a:t>
            </a:r>
            <a:r>
              <a:rPr lang="en-US" sz="950" dirty="0">
                <a:solidFill>
                  <a:srgbClr val="2B211B"/>
                </a:solidFill>
                <a:latin typeface="JetBrains Mono" pitchFamily="49" charset="0"/>
                <a:ea typeface="JetBrains Mono" pitchFamily="49" charset="-122"/>
                <a:cs typeface="JetBrains Mono" pitchFamily="49" charset="-120"/>
              </a:rPr>
              <a:t>, </a:t>
            </a:r>
            <a:r>
              <a:rPr lang="en-US" sz="950" dirty="0">
                <a:solidFill>
                  <a:srgbClr val="2C6E3F"/>
                </a:solidFill>
                <a:latin typeface="JetBrains Mono" pitchFamily="49" charset="0"/>
                <a:ea typeface="JetBrains Mono" pitchFamily="49" charset="-122"/>
                <a:cs typeface="JetBrains Mono" pitchFamily="49" charset="-120"/>
              </a:rPr>
              <a:t>"buts"</a:t>
            </a:r>
            <a:r>
              <a:rPr lang="en-US" sz="950" dirty="0">
                <a:solidFill>
                  <a:srgbClr val="2B211B"/>
                </a:solidFill>
                <a:latin typeface="JetBrains Mono" pitchFamily="49" charset="0"/>
                <a:ea typeface="JetBrains Mono" pitchFamily="49" charset="-122"/>
                <a:cs typeface="JetBrains Mono" pitchFamily="49" charset="-120"/>
              </a:rPr>
              <a:t>, </a:t>
            </a:r>
            <a:r>
              <a:rPr lang="en-US" sz="950" dirty="0">
                <a:solidFill>
                  <a:srgbClr val="2C6E3F"/>
                </a:solidFill>
                <a:latin typeface="JetBrains Mono" pitchFamily="49" charset="0"/>
                <a:ea typeface="JetBrains Mono" pitchFamily="49" charset="-122"/>
                <a:cs typeface="JetBrains Mono" pitchFamily="49" charset="-120"/>
              </a:rPr>
              <a:t>"passes_decisives"</a:t>
            </a:r>
            <a:r>
              <a:rPr lang="en-US" sz="950" dirty="0">
                <a:solidFill>
                  <a:srgbClr val="2B211B"/>
                </a:solidFill>
                <a:latin typeface="JetBrains Mono" pitchFamily="49" charset="0"/>
                <a:ea typeface="JetBrains Mono" pitchFamily="49" charset="-122"/>
                <a:cs typeface="JetBrains Mono" pitchFamily="49" charset="-120"/>
              </a:rPr>
              <a:t>, </a:t>
            </a:r>
            <a:r>
              <a:rPr lang="en-US" sz="950" dirty="0">
                <a:solidFill>
                  <a:srgbClr val="2C6E3F"/>
                </a:solidFill>
                <a:latin typeface="JetBrains Mono" pitchFamily="49" charset="0"/>
                <a:ea typeface="JetBrains Mono" pitchFamily="49" charset="-122"/>
                <a:cs typeface="JetBrains Mono" pitchFamily="49" charset="-120"/>
              </a:rPr>
              <a:t>"age"</a:t>
            </a:r>
            <a:r>
              <a:rPr lang="en-US" sz="950" dirty="0">
                <a:solidFill>
                  <a:srgbClr val="2B211B"/>
                </a:solidFill>
                <a:latin typeface="JetBrains Mono" pitchFamily="49" charset="0"/>
                <a:ea typeface="JetBrains Mono" pitchFamily="49" charset="-122"/>
                <a:cs typeface="JetBrains Mono" pitchFamily="49" charset="-120"/>
              </a:rPr>
              <a:t>]</a:t>
            </a:r>
            <a:endParaRPr lang="en-US" sz="950" dirty="0"/>
          </a:p>
        </p:txBody>
      </p:sp>
      <p:sp>
        <p:nvSpPr>
          <p:cNvPr id="7" name="Text 5"/>
          <p:cNvSpPr/>
          <p:nvPr/>
        </p:nvSpPr>
        <p:spPr>
          <a:xfrm>
            <a:off x="1027390" y="2390000"/>
            <a:ext cx="10441337" cy="19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cat = [</a:t>
            </a:r>
            <a:r>
              <a:rPr lang="en-US" sz="950" dirty="0">
                <a:solidFill>
                  <a:srgbClr val="2C6E3F"/>
                </a:solidFill>
                <a:latin typeface="JetBrains Mono" pitchFamily="49" charset="0"/>
                <a:ea typeface="JetBrains Mono" pitchFamily="49" charset="-122"/>
                <a:cs typeface="JetBrains Mono" pitchFamily="49" charset="-120"/>
              </a:rPr>
              <a:t>"poste"</a:t>
            </a:r>
            <a:r>
              <a:rPr lang="en-US" sz="950" dirty="0">
                <a:solidFill>
                  <a:srgbClr val="2B211B"/>
                </a:solidFill>
                <a:latin typeface="JetBrains Mono" pitchFamily="49" charset="0"/>
                <a:ea typeface="JetBrains Mono" pitchFamily="49" charset="-122"/>
                <a:cs typeface="JetBrains Mono" pitchFamily="49" charset="-120"/>
              </a:rPr>
              <a:t>, </a:t>
            </a:r>
            <a:r>
              <a:rPr lang="en-US" sz="950" dirty="0">
                <a:solidFill>
                  <a:srgbClr val="2C6E3F"/>
                </a:solidFill>
                <a:latin typeface="JetBrains Mono" pitchFamily="49" charset="0"/>
                <a:ea typeface="JetBrains Mono" pitchFamily="49" charset="-122"/>
                <a:cs typeface="JetBrains Mono" pitchFamily="49" charset="-120"/>
              </a:rPr>
              <a:t>"equipe_id"</a:t>
            </a:r>
            <a:r>
              <a:rPr lang="en-US" sz="950" dirty="0">
                <a:solidFill>
                  <a:srgbClr val="2B211B"/>
                </a:solidFill>
                <a:latin typeface="JetBrains Mono" pitchFamily="49" charset="0"/>
                <a:ea typeface="JetBrains Mono" pitchFamily="49" charset="-122"/>
                <a:cs typeface="JetBrains Mono" pitchFamily="49" charset="-120"/>
              </a:rPr>
              <a:t>, </a:t>
            </a:r>
            <a:r>
              <a:rPr lang="en-US" sz="950" dirty="0">
                <a:solidFill>
                  <a:srgbClr val="2C6E3F"/>
                </a:solidFill>
                <a:latin typeface="JetBrains Mono" pitchFamily="49" charset="0"/>
                <a:ea typeface="JetBrains Mono" pitchFamily="49" charset="-122"/>
                <a:cs typeface="JetBrains Mono" pitchFamily="49" charset="-120"/>
              </a:rPr>
              <a:t>"saison"</a:t>
            </a:r>
            <a:r>
              <a:rPr lang="en-US" sz="950" dirty="0">
                <a:solidFill>
                  <a:srgbClr val="2B211B"/>
                </a:solidFill>
                <a:latin typeface="JetBrains Mono" pitchFamily="49" charset="0"/>
                <a:ea typeface="JetBrains Mono" pitchFamily="49" charset="-122"/>
                <a:cs typeface="JetBrains Mono" pitchFamily="49" charset="-120"/>
              </a:rPr>
              <a:t>]</a:t>
            </a:r>
            <a:endParaRPr lang="en-US" sz="950" dirty="0"/>
          </a:p>
        </p:txBody>
      </p:sp>
      <p:sp>
        <p:nvSpPr>
          <p:cNvPr id="8" name="Text 6"/>
          <p:cNvSpPr/>
          <p:nvPr/>
        </p:nvSpPr>
        <p:spPr>
          <a:xfrm>
            <a:off x="1027390" y="2615000"/>
            <a:ext cx="10441337" cy="19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X, y = joueurs[num + cat], joueurs[</a:t>
            </a:r>
            <a:r>
              <a:rPr lang="en-US" sz="950" dirty="0">
                <a:solidFill>
                  <a:srgbClr val="2C6E3F"/>
                </a:solidFill>
                <a:latin typeface="JetBrains Mono" pitchFamily="49" charset="0"/>
                <a:ea typeface="JetBrains Mono" pitchFamily="49" charset="-122"/>
                <a:cs typeface="JetBrains Mono" pitchFamily="49" charset="-120"/>
              </a:rPr>
              <a:t>"salaire_mensuel_fcfa"</a:t>
            </a:r>
            <a:r>
              <a:rPr lang="en-US" sz="950" dirty="0">
                <a:solidFill>
                  <a:srgbClr val="2B211B"/>
                </a:solidFill>
                <a:latin typeface="JetBrains Mono" pitchFamily="49" charset="0"/>
                <a:ea typeface="JetBrains Mono" pitchFamily="49" charset="-122"/>
                <a:cs typeface="JetBrains Mono" pitchFamily="49" charset="-120"/>
              </a:rPr>
              <a:t>]</a:t>
            </a:r>
            <a:endParaRPr lang="en-US" sz="950" dirty="0"/>
          </a:p>
        </p:txBody>
      </p:sp>
      <p:sp>
        <p:nvSpPr>
          <p:cNvPr id="9" name="Text 7"/>
          <p:cNvSpPr/>
          <p:nvPr/>
        </p:nvSpPr>
        <p:spPr>
          <a:xfrm>
            <a:off x="1027390" y="2840000"/>
            <a:ext cx="10441337" cy="19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X_train, X_test, y_train, y_test = train_test_split(X, y, test_size=0.2, random_state=42)</a:t>
            </a:r>
            <a:endParaRPr lang="en-US" sz="950" dirty="0"/>
          </a:p>
        </p:txBody>
      </p:sp>
      <p:sp>
        <p:nvSpPr>
          <p:cNvPr id="10" name="Text 8"/>
          <p:cNvSpPr/>
          <p:nvPr/>
        </p:nvSpPr>
        <p:spPr>
          <a:xfrm>
            <a:off x="1027390" y="3065000"/>
            <a:ext cx="10441337" cy="19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print(X_train.shape, X_test.shape)</a:t>
            </a:r>
            <a:endParaRPr lang="en-US" sz="950" dirty="0"/>
          </a:p>
        </p:txBody>
      </p:sp>
      <p:sp>
        <p:nvSpPr>
          <p:cNvPr id="11" name="Text 9"/>
          <p:cNvSpPr/>
          <p:nvPr/>
        </p:nvSpPr>
        <p:spPr>
          <a:xfrm>
            <a:off x="1027390" y="3290000"/>
            <a:ext cx="10441337" cy="19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print(X_train.isna().sum()[</a:t>
            </a:r>
            <a:r>
              <a:rPr lang="en-US" sz="950" b="1" dirty="0">
                <a:solidFill>
                  <a:srgbClr val="9A3D0A"/>
                </a:solidFill>
                <a:latin typeface="JetBrains Mono" pitchFamily="49" charset="0"/>
                <a:ea typeface="JetBrains Mono" pitchFamily="49" charset="-122"/>
                <a:cs typeface="JetBrains Mono" pitchFamily="49" charset="-120"/>
              </a:rPr>
              <a:t>lambda</a:t>
            </a:r>
            <a:r>
              <a:rPr lang="en-US" sz="950" dirty="0">
                <a:solidFill>
                  <a:srgbClr val="2B211B"/>
                </a:solidFill>
                <a:latin typeface="JetBrains Mono" pitchFamily="49" charset="0"/>
                <a:ea typeface="JetBrains Mono" pitchFamily="49" charset="-122"/>
                <a:cs typeface="JetBrains Mono" pitchFamily="49" charset="-120"/>
              </a:rPr>
              <a:t> s: s &gt; 0].to_dict())</a:t>
            </a:r>
            <a:endParaRPr lang="en-US" sz="950" dirty="0"/>
          </a:p>
        </p:txBody>
      </p:sp>
      <p:sp>
        <p:nvSpPr>
          <p:cNvPr id="12" name="Shape 10"/>
          <p:cNvSpPr/>
          <p:nvPr/>
        </p:nvSpPr>
        <p:spPr>
          <a:xfrm>
            <a:off x="812780" y="3810000"/>
            <a:ext cx="3340060" cy="520000"/>
          </a:xfrm>
          <a:prstGeom prst="roundRect">
            <a:avLst>
              <a:gd name="adj" fmla="val 29167"/>
            </a:avLst>
          </a:prstGeom>
          <a:solidFill>
            <a:srgbClr val="ECE6D8"/>
          </a:solidFill>
          <a:ln/>
        </p:spPr>
      </p:sp>
      <p:sp>
        <p:nvSpPr>
          <p:cNvPr id="13" name="Shape 11"/>
          <p:cNvSpPr/>
          <p:nvPr/>
        </p:nvSpPr>
        <p:spPr>
          <a:xfrm>
            <a:off x="812780" y="3810000"/>
            <a:ext cx="3340060" cy="520000"/>
          </a:xfrm>
          <a:custGeom>
            <a:avLst/>
            <a:gdLst/>
            <a:ahLst/>
            <a:cxnLst/>
            <a:rect l="l" t="t" r="r" b="b"/>
            <a:pathLst>
              <a:path w="334006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4" name="Text 12"/>
          <p:cNvSpPr/>
          <p:nvPr/>
        </p:nvSpPr>
        <p:spPr>
          <a:xfrm>
            <a:off x="1065490" y="3900000"/>
            <a:ext cx="2970695" cy="18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(1332, 8) (333, 8)</a:t>
            </a:r>
            <a:endParaRPr lang="en-US" sz="950" dirty="0"/>
          </a:p>
        </p:txBody>
      </p:sp>
      <p:sp>
        <p:nvSpPr>
          <p:cNvPr id="15" name="Text 13"/>
          <p:cNvSpPr/>
          <p:nvPr/>
        </p:nvSpPr>
        <p:spPr>
          <a:xfrm>
            <a:off x="1065490" y="4120000"/>
            <a:ext cx="2970695" cy="180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{'minutes_jouees': 8, 'age': 9}</a:t>
            </a:r>
            <a:endParaRPr lang="en-US" sz="950" dirty="0"/>
          </a:p>
        </p:txBody>
      </p:sp>
      <p:sp>
        <p:nvSpPr>
          <p:cNvPr id="16" name="Text 14"/>
          <p:cNvSpPr/>
          <p:nvPr/>
        </p:nvSpPr>
        <p:spPr>
          <a:xfrm>
            <a:off x="4406801" y="3900000"/>
            <a:ext cx="7181592" cy="420000"/>
          </a:xfrm>
          <a:prstGeom prst="rect">
            <a:avLst/>
          </a:prstGeom>
          <a:noFill/>
          <a:ln/>
        </p:spPr>
        <p:txBody>
          <a:bodyPr wrap="square" lIns="0" tIns="0" rIns="0" bIns="0" rtlCol="0" anchor="t">
            <a:normAutofit/>
          </a:bodyPr>
          <a:lstStyle/>
          <a:p>
            <a:pPr marL="0" indent="0" algn="l">
              <a:lnSpc>
                <a:spcPts val="1176"/>
              </a:lnSpc>
              <a:buNone/>
            </a:pPr>
            <a:r>
              <a:rPr lang="en-US" sz="1050" dirty="0">
                <a:solidFill>
                  <a:srgbClr val="2B211B"/>
                </a:solidFill>
                <a:latin typeface="Space Grotesk" pitchFamily="34" charset="0"/>
                <a:ea typeface="Space Grotesk" pitchFamily="34" charset="-122"/>
                <a:cs typeface="Space Grotesk" pitchFamily="34" charset="-120"/>
              </a:rPr>
              <a:t>Il reste des valeurs manquantes : on les traitera </a:t>
            </a:r>
            <a:r>
              <a:rPr lang="en-US" sz="1050" b="1" dirty="0">
                <a:solidFill>
                  <a:srgbClr val="9A5414"/>
                </a:solidFill>
                <a:latin typeface="Space Grotesk" pitchFamily="34" charset="0"/>
                <a:ea typeface="Space Grotesk" pitchFamily="34" charset="-122"/>
                <a:cs typeface="Space Grotesk" pitchFamily="34" charset="-120"/>
              </a:rPr>
              <a:t>dans le pipeline</a:t>
            </a:r>
            <a:r>
              <a:rPr lang="en-US" sz="1050" dirty="0">
                <a:solidFill>
                  <a:srgbClr val="2B211B"/>
                </a:solidFill>
                <a:latin typeface="Space Grotesk" pitchFamily="34" charset="0"/>
                <a:ea typeface="Space Grotesk" pitchFamily="34" charset="-122"/>
                <a:cs typeface="Space Grotesk" pitchFamily="34" charset="-120"/>
              </a:rPr>
              <a:t>, jamais avant le découpage.</a:t>
            </a:r>
            <a:endParaRPr lang="en-US" sz="1050" dirty="0"/>
          </a:p>
        </p:txBody>
      </p:sp>
      <p:pic>
        <p:nvPicPr>
          <p:cNvPr id="17" name="Image 0" descr="Logo ISM"/>
          <p:cNvPicPr>
            <a:picLocks noChangeAspect="1"/>
          </p:cNvPicPr>
          <p:nvPr/>
        </p:nvPicPr>
        <p:blipFill>
          <a:blip r:embed="rId3"/>
          <a:srcRect l="431" r="431"/>
          <a:stretch/>
        </p:blipFill>
        <p:spPr>
          <a:xfrm>
            <a:off x="812780" y="6223043"/>
            <a:ext cx="279380" cy="279380"/>
          </a:xfrm>
          <a:prstGeom prst="roundRect">
            <a:avLst>
              <a:gd name="adj" fmla="val 13637"/>
            </a:avLst>
          </a:prstGeom>
        </p:spPr>
      </p:pic>
      <p:sp>
        <p:nvSpPr>
          <p:cNvPr id="18" name="Text 15"/>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9" name="Text 16"/>
          <p:cNvSpPr/>
          <p:nvPr/>
        </p:nvSpPr>
        <p:spPr>
          <a:xfrm>
            <a:off x="10802160" y="6256021"/>
            <a:ext cx="57700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09 / 41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EFE5D3"/>
        </a:solidFill>
        <a:effectLst/>
      </p:bgPr>
    </p:bg>
    <p:spTree>
      <p:nvGrpSpPr>
        <p:cNvPr id="1" name=""/>
        <p:cNvGrpSpPr/>
        <p:nvPr/>
      </p:nvGrpSpPr>
      <p:grpSpPr>
        <a:xfrm>
          <a:off x="0" y="0"/>
          <a:ext cx="0" cy="0"/>
          <a:chOff x="0" y="0"/>
          <a:chExt cx="0" cy="0"/>
        </a:xfrm>
      </p:grpSpPr>
      <p:sp>
        <p:nvSpPr>
          <p:cNvPr id="2" name="Shape 0"/>
          <p:cNvSpPr/>
          <p:nvPr/>
        </p:nvSpPr>
        <p:spPr>
          <a:xfrm>
            <a:off x="812780" y="1993881"/>
            <a:ext cx="101560" cy="2667000"/>
          </a:xfrm>
          <a:prstGeom prst="roundRect">
            <a:avLst>
              <a:gd name="adj" fmla="val 50000"/>
            </a:avLst>
          </a:prstGeom>
          <a:solidFill>
            <a:srgbClr val="E3A23B"/>
          </a:solidFill>
          <a:ln/>
        </p:spPr>
      </p:sp>
      <p:sp>
        <p:nvSpPr>
          <p:cNvPr id="3" name="Text 1"/>
          <p:cNvSpPr/>
          <p:nvPr/>
        </p:nvSpPr>
        <p:spPr>
          <a:xfrm>
            <a:off x="1320701" y="2298681"/>
            <a:ext cx="1036027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9A5414"/>
                </a:solidFill>
                <a:latin typeface="JetBrains Mono" pitchFamily="49" charset="0"/>
                <a:ea typeface="JetBrains Mono" pitchFamily="49" charset="-122"/>
                <a:cs typeface="JetBrains Mono" pitchFamily="49" charset="-120"/>
              </a:rPr>
              <a:t>02</a:t>
            </a:r>
            <a:endParaRPr lang="en-US" sz="6000" dirty="0"/>
          </a:p>
        </p:txBody>
      </p:sp>
      <p:sp>
        <p:nvSpPr>
          <p:cNvPr id="4" name="Text 2"/>
          <p:cNvSpPr>
            <a:spLocks noGrp="1"/>
          </p:cNvSpPr>
          <p:nvPr>
            <p:ph type="title"/>
          </p:nvPr>
        </p:nvSpPr>
        <p:spPr>
          <a:xfrm>
            <a:off x="1320701" y="3213081"/>
            <a:ext cx="10360275"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4A2F20"/>
                </a:solidFill>
                <a:latin typeface="Space Grotesk" pitchFamily="34" charset="0"/>
                <a:ea typeface="Space Grotesk" pitchFamily="34" charset="-122"/>
                <a:cs typeface="Space Grotesk" pitchFamily="34" charset="-120"/>
              </a:rPr>
              <a:t>Pipelines</a:t>
            </a:r>
            <a:endParaRPr lang="en-US" sz="4800" dirty="0"/>
          </a:p>
        </p:txBody>
      </p:sp>
      <p:sp>
        <p:nvSpPr>
          <p:cNvPr id="5" name="Text 3"/>
          <p:cNvSpPr/>
          <p:nvPr/>
        </p:nvSpPr>
        <p:spPr>
          <a:xfrm>
            <a:off x="1320701" y="4036045"/>
            <a:ext cx="10360275"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6B6158"/>
                </a:solidFill>
                <a:latin typeface="Space Grotesk" pitchFamily="34" charset="0"/>
                <a:ea typeface="Space Grotesk" pitchFamily="34" charset="-122"/>
                <a:cs typeface="Space Grotesk" pitchFamily="34" charset="-120"/>
              </a:rPr>
              <a:t>Un seul objet de la donnée brute à la prédiction.</a:t>
            </a:r>
            <a:endParaRPr lang="en-US" sz="1800" dirty="0"/>
          </a:p>
        </p:txBody>
      </p:sp>
      <p:pic>
        <p:nvPicPr>
          <p:cNvPr id="6" name="Image 0" descr="Logo ISM"/>
          <p:cNvPicPr>
            <a:picLocks noChangeAspect="1"/>
          </p:cNvPicPr>
          <p:nvPr/>
        </p:nvPicPr>
        <p:blipFill>
          <a:blip r:embed="rId3"/>
          <a:srcRect l="431" r="431"/>
          <a:stretch/>
        </p:blipFill>
        <p:spPr>
          <a:xfrm>
            <a:off x="812780" y="6223043"/>
            <a:ext cx="279380" cy="279380"/>
          </a:xfrm>
          <a:prstGeom prst="roundRect">
            <a:avLst>
              <a:gd name="adj" fmla="val 13637"/>
            </a:avLst>
          </a:prstGeom>
        </p:spPr>
      </p:pic>
      <p:sp>
        <p:nvSpPr>
          <p:cNvPr id="7" name="Text 4"/>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8" name="Text 5"/>
          <p:cNvSpPr/>
          <p:nvPr/>
        </p:nvSpPr>
        <p:spPr>
          <a:xfrm>
            <a:off x="10837593" y="6256021"/>
            <a:ext cx="54156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10 / 41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PIPELINES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Pourquoi un Pipeline ?</a:t>
            </a:r>
            <a:endParaRPr lang="en-US" sz="3200" dirty="0"/>
          </a:p>
        </p:txBody>
      </p:sp>
      <p:sp>
        <p:nvSpPr>
          <p:cNvPr id="4" name="Text 2"/>
          <p:cNvSpPr/>
          <p:nvPr/>
        </p:nvSpPr>
        <p:spPr>
          <a:xfrm>
            <a:off x="812780" y="1803326"/>
            <a:ext cx="53109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0392B"/>
                </a:solidFill>
                <a:latin typeface="Space Grotesk" pitchFamily="34" charset="0"/>
                <a:ea typeface="Space Grotesk" pitchFamily="34" charset="-122"/>
                <a:cs typeface="Space Grotesk" pitchFamily="34" charset="-120"/>
              </a:rPr>
              <a:t>SANS PIPELINE · FUITE</a:t>
            </a:r>
            <a:endParaRPr lang="en-US" sz="1200" dirty="0"/>
          </a:p>
        </p:txBody>
      </p:sp>
      <p:sp>
        <p:nvSpPr>
          <p:cNvPr id="5" name="Shape 3"/>
          <p:cNvSpPr/>
          <p:nvPr/>
        </p:nvSpPr>
        <p:spPr>
          <a:xfrm>
            <a:off x="819130" y="2099233"/>
            <a:ext cx="5143540" cy="1100000"/>
          </a:xfrm>
          <a:prstGeom prst="roundRect">
            <a:avLst>
              <a:gd name="adj" fmla="val 26210"/>
            </a:avLst>
          </a:prstGeom>
          <a:solidFill>
            <a:srgbClr val="FFFDF8"/>
          </a:solidFill>
          <a:ln w="12700">
            <a:solidFill>
              <a:srgbClr val="E2D9C6"/>
            </a:solidFill>
            <a:prstDash val="solid"/>
          </a:ln>
        </p:spPr>
      </p:sp>
      <p:sp>
        <p:nvSpPr>
          <p:cNvPr id="6" name="Text 4"/>
          <p:cNvSpPr/>
          <p:nvPr/>
        </p:nvSpPr>
        <p:spPr>
          <a:xfrm>
            <a:off x="1027390" y="2160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scaler = StandardScaler().fit(X)  </a:t>
            </a:r>
            <a:r>
              <a:rPr lang="en-US" sz="900" dirty="0">
                <a:solidFill>
                  <a:srgbClr val="7D7466"/>
                </a:solidFill>
                <a:latin typeface="JetBrains Mono" pitchFamily="49" charset="0"/>
                <a:ea typeface="JetBrains Mono" pitchFamily="49" charset="-122"/>
                <a:cs typeface="JetBrains Mono" pitchFamily="49" charset="-120"/>
              </a:rPr>
              <a:t># voit le test</a:t>
            </a:r>
            <a:endParaRPr lang="en-US" sz="900" dirty="0"/>
          </a:p>
        </p:txBody>
      </p:sp>
      <p:sp>
        <p:nvSpPr>
          <p:cNvPr id="7" name="Text 5"/>
          <p:cNvSpPr/>
          <p:nvPr/>
        </p:nvSpPr>
        <p:spPr>
          <a:xfrm>
            <a:off x="1027390" y="2365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X_s = scaler.transform(X)</a:t>
            </a:r>
            <a:endParaRPr lang="en-US" sz="900" dirty="0"/>
          </a:p>
        </p:txBody>
      </p:sp>
      <p:sp>
        <p:nvSpPr>
          <p:cNvPr id="8" name="Text 6"/>
          <p:cNvSpPr/>
          <p:nvPr/>
        </p:nvSpPr>
        <p:spPr>
          <a:xfrm>
            <a:off x="1027390" y="2570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X_tr, X_te, y_tr, y_te = train_test_split(X_s, y)</a:t>
            </a:r>
            <a:endParaRPr lang="en-US" sz="900" dirty="0"/>
          </a:p>
        </p:txBody>
      </p:sp>
      <p:sp>
        <p:nvSpPr>
          <p:cNvPr id="9" name="Text 7"/>
          <p:cNvSpPr/>
          <p:nvPr/>
        </p:nvSpPr>
        <p:spPr>
          <a:xfrm>
            <a:off x="1027390" y="2775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Ridge().fit(X_tr, y_tr).score(X_te, y_te)</a:t>
            </a:r>
            <a:endParaRPr lang="en-US" sz="900" dirty="0"/>
          </a:p>
        </p:txBody>
      </p:sp>
      <p:sp>
        <p:nvSpPr>
          <p:cNvPr id="10" name="Text 8"/>
          <p:cNvSpPr/>
          <p:nvPr/>
        </p:nvSpPr>
        <p:spPr>
          <a:xfrm>
            <a:off x="6222980" y="1803326"/>
            <a:ext cx="53109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E8449"/>
                </a:solidFill>
                <a:latin typeface="Space Grotesk" pitchFamily="34" charset="0"/>
                <a:ea typeface="Space Grotesk" pitchFamily="34" charset="-122"/>
                <a:cs typeface="Space Grotesk" pitchFamily="34" charset="-120"/>
              </a:rPr>
              <a:t>AVEC PIPELINE · CORRECT</a:t>
            </a:r>
            <a:endParaRPr lang="en-US" sz="1200" dirty="0"/>
          </a:p>
        </p:txBody>
      </p:sp>
      <p:sp>
        <p:nvSpPr>
          <p:cNvPr id="11" name="Shape 9"/>
          <p:cNvSpPr/>
          <p:nvPr/>
        </p:nvSpPr>
        <p:spPr>
          <a:xfrm>
            <a:off x="6229330" y="2099233"/>
            <a:ext cx="5143540" cy="1100000"/>
          </a:xfrm>
          <a:prstGeom prst="roundRect">
            <a:avLst>
              <a:gd name="adj" fmla="val 26210"/>
            </a:avLst>
          </a:prstGeom>
          <a:solidFill>
            <a:srgbClr val="FFFDF8"/>
          </a:solidFill>
          <a:ln w="12700">
            <a:solidFill>
              <a:srgbClr val="E2D9C6"/>
            </a:solidFill>
            <a:prstDash val="solid"/>
          </a:ln>
        </p:spPr>
      </p:sp>
      <p:sp>
        <p:nvSpPr>
          <p:cNvPr id="12" name="Text 10"/>
          <p:cNvSpPr/>
          <p:nvPr/>
        </p:nvSpPr>
        <p:spPr>
          <a:xfrm>
            <a:off x="6437590" y="2160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X_tr, X_te, y_tr, y_te = train_test_split(X, y)</a:t>
            </a:r>
            <a:endParaRPr lang="en-US" sz="900" dirty="0"/>
          </a:p>
        </p:txBody>
      </p:sp>
      <p:sp>
        <p:nvSpPr>
          <p:cNvPr id="13" name="Text 11"/>
          <p:cNvSpPr/>
          <p:nvPr/>
        </p:nvSpPr>
        <p:spPr>
          <a:xfrm>
            <a:off x="6437590" y="2365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modele = make_pipeline(StandardScaler(), Ridge())</a:t>
            </a:r>
            <a:endParaRPr lang="en-US" sz="900" dirty="0"/>
          </a:p>
        </p:txBody>
      </p:sp>
      <p:sp>
        <p:nvSpPr>
          <p:cNvPr id="14" name="Text 12"/>
          <p:cNvSpPr/>
          <p:nvPr/>
        </p:nvSpPr>
        <p:spPr>
          <a:xfrm>
            <a:off x="6437590" y="2570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modele.fit(X_tr, y_tr)         </a:t>
            </a:r>
            <a:r>
              <a:rPr lang="en-US" sz="900" dirty="0">
                <a:solidFill>
                  <a:srgbClr val="7D7466"/>
                </a:solidFill>
                <a:latin typeface="JetBrains Mono" pitchFamily="49" charset="0"/>
                <a:ea typeface="JetBrains Mono" pitchFamily="49" charset="-122"/>
                <a:cs typeface="JetBrains Mono" pitchFamily="49" charset="-120"/>
              </a:rPr>
              <a:t># train seul</a:t>
            </a:r>
            <a:endParaRPr lang="en-US" sz="900" dirty="0"/>
          </a:p>
        </p:txBody>
      </p:sp>
      <p:sp>
        <p:nvSpPr>
          <p:cNvPr id="15" name="Text 13"/>
          <p:cNvSpPr/>
          <p:nvPr/>
        </p:nvSpPr>
        <p:spPr>
          <a:xfrm>
            <a:off x="6437590" y="2775000"/>
            <a:ext cx="5000000" cy="165000"/>
          </a:xfrm>
          <a:prstGeom prst="rect">
            <a:avLst/>
          </a:prstGeom>
          <a:noFill/>
          <a:ln/>
        </p:spPr>
        <p:txBody>
          <a:bodyPr wrap="none" lIns="0" tIns="0" rIns="0" bIns="0" rtlCol="0" anchor="t">
            <a:normAutofit/>
          </a:bodyPr>
          <a:lstStyle/>
          <a:p>
            <a:pPr marL="0" indent="0" algn="l">
              <a:lnSpc>
                <a:spcPts val="936"/>
              </a:lnSpc>
              <a:buNone/>
            </a:pPr>
            <a:r>
              <a:rPr lang="en-US" sz="900" dirty="0">
                <a:solidFill>
                  <a:srgbClr val="2B211B"/>
                </a:solidFill>
                <a:latin typeface="JetBrains Mono" pitchFamily="49" charset="0"/>
                <a:ea typeface="JetBrains Mono" pitchFamily="49" charset="-122"/>
                <a:cs typeface="JetBrains Mono" pitchFamily="49" charset="-120"/>
              </a:rPr>
              <a:t>modele.score(X_te, y_te)</a:t>
            </a:r>
            <a:endParaRPr lang="en-US" sz="900" dirty="0"/>
          </a:p>
        </p:txBody>
      </p:sp>
      <p:sp>
        <p:nvSpPr>
          <p:cNvPr id="16" name="Shape 14"/>
          <p:cNvSpPr/>
          <p:nvPr/>
        </p:nvSpPr>
        <p:spPr>
          <a:xfrm>
            <a:off x="812780" y="3441626"/>
            <a:ext cx="3403640" cy="1547991"/>
          </a:xfrm>
          <a:prstGeom prst="roundRect">
            <a:avLst>
              <a:gd name="adj" fmla="val 8204"/>
            </a:avLst>
          </a:prstGeom>
          <a:solidFill>
            <a:srgbClr val="FFFFFF"/>
          </a:solidFill>
          <a:ln/>
        </p:spPr>
      </p:sp>
      <p:sp>
        <p:nvSpPr>
          <p:cNvPr id="17" name="Shape 15"/>
          <p:cNvSpPr/>
          <p:nvPr/>
        </p:nvSpPr>
        <p:spPr>
          <a:xfrm>
            <a:off x="812780" y="3441626"/>
            <a:ext cx="3403640" cy="1547991"/>
          </a:xfrm>
          <a:custGeom>
            <a:avLst/>
            <a:gdLst/>
            <a:ahLst/>
            <a:cxnLst/>
            <a:rect l="l" t="t" r="r" b="b"/>
            <a:pathLst>
              <a:path w="3403640" h="154799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9A5414"/>
          </a:solidFill>
          <a:ln/>
        </p:spPr>
      </p:sp>
      <p:sp>
        <p:nvSpPr>
          <p:cNvPr id="18" name="Text 16"/>
          <p:cNvSpPr/>
          <p:nvPr/>
        </p:nvSpPr>
        <p:spPr>
          <a:xfrm>
            <a:off x="1041380" y="3719754"/>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Pas de fuite</a:t>
            </a:r>
            <a:endParaRPr lang="en-US" sz="1700" dirty="0"/>
          </a:p>
        </p:txBody>
      </p:sp>
      <p:sp>
        <p:nvSpPr>
          <p:cNvPr id="19" name="Text 17"/>
          <p:cNvSpPr/>
          <p:nvPr/>
        </p:nvSpPr>
        <p:spPr>
          <a:xfrm>
            <a:off x="1041380" y="4067715"/>
            <a:ext cx="3034833" cy="7187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Chaque étape est ajustée sur les données d'entraînement de chaque pli.</a:t>
            </a:r>
            <a:endParaRPr lang="en-US" sz="1300" dirty="0"/>
          </a:p>
        </p:txBody>
      </p:sp>
      <p:sp>
        <p:nvSpPr>
          <p:cNvPr id="20" name="Shape 18"/>
          <p:cNvSpPr/>
          <p:nvPr/>
        </p:nvSpPr>
        <p:spPr>
          <a:xfrm>
            <a:off x="4394180" y="3441626"/>
            <a:ext cx="3403640" cy="1547991"/>
          </a:xfrm>
          <a:prstGeom prst="roundRect">
            <a:avLst>
              <a:gd name="adj" fmla="val 8204"/>
            </a:avLst>
          </a:prstGeom>
          <a:solidFill>
            <a:srgbClr val="FFFFFF"/>
          </a:solidFill>
          <a:ln/>
        </p:spPr>
      </p:sp>
      <p:sp>
        <p:nvSpPr>
          <p:cNvPr id="21" name="Shape 19"/>
          <p:cNvSpPr/>
          <p:nvPr/>
        </p:nvSpPr>
        <p:spPr>
          <a:xfrm>
            <a:off x="4394180" y="3441626"/>
            <a:ext cx="3403640" cy="1547991"/>
          </a:xfrm>
          <a:custGeom>
            <a:avLst/>
            <a:gdLst/>
            <a:ahLst/>
            <a:cxnLst/>
            <a:rect l="l" t="t" r="r" b="b"/>
            <a:pathLst>
              <a:path w="3403640" h="154799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E3A23B"/>
          </a:solidFill>
          <a:ln/>
        </p:spPr>
      </p:sp>
      <p:sp>
        <p:nvSpPr>
          <p:cNvPr id="22" name="Text 20"/>
          <p:cNvSpPr/>
          <p:nvPr/>
        </p:nvSpPr>
        <p:spPr>
          <a:xfrm>
            <a:off x="4622780" y="3719754"/>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Un seul objet</a:t>
            </a:r>
            <a:endParaRPr lang="en-US" sz="1700" dirty="0"/>
          </a:p>
        </p:txBody>
      </p:sp>
      <p:sp>
        <p:nvSpPr>
          <p:cNvPr id="23" name="Text 21"/>
          <p:cNvSpPr/>
          <p:nvPr/>
        </p:nvSpPr>
        <p:spPr>
          <a:xfrm>
            <a:off x="4622780" y="4067715"/>
            <a:ext cx="3034833"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On optimise, valide et sauvegarde le tout d'un bloc.</a:t>
            </a:r>
            <a:endParaRPr lang="en-US" sz="1300" dirty="0"/>
          </a:p>
        </p:txBody>
      </p:sp>
      <p:sp>
        <p:nvSpPr>
          <p:cNvPr id="24" name="Shape 22"/>
          <p:cNvSpPr/>
          <p:nvPr/>
        </p:nvSpPr>
        <p:spPr>
          <a:xfrm>
            <a:off x="7975581" y="3441626"/>
            <a:ext cx="3403640" cy="1547991"/>
          </a:xfrm>
          <a:prstGeom prst="roundRect">
            <a:avLst>
              <a:gd name="adj" fmla="val 8204"/>
            </a:avLst>
          </a:prstGeom>
          <a:solidFill>
            <a:srgbClr val="FFFFFF"/>
          </a:solidFill>
          <a:ln/>
        </p:spPr>
      </p:sp>
      <p:sp>
        <p:nvSpPr>
          <p:cNvPr id="25" name="Shape 23"/>
          <p:cNvSpPr/>
          <p:nvPr/>
        </p:nvSpPr>
        <p:spPr>
          <a:xfrm>
            <a:off x="7975581" y="3441626"/>
            <a:ext cx="3403640" cy="1547991"/>
          </a:xfrm>
          <a:custGeom>
            <a:avLst/>
            <a:gdLst/>
            <a:ahLst/>
            <a:cxnLst/>
            <a:rect l="l" t="t" r="r" b="b"/>
            <a:pathLst>
              <a:path w="3403640" h="154799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9A5414"/>
          </a:solidFill>
          <a:ln/>
        </p:spPr>
      </p:sp>
      <p:sp>
        <p:nvSpPr>
          <p:cNvPr id="26" name="Text 24"/>
          <p:cNvSpPr/>
          <p:nvPr/>
        </p:nvSpPr>
        <p:spPr>
          <a:xfrm>
            <a:off x="8204181" y="3719754"/>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Reproductible</a:t>
            </a:r>
            <a:endParaRPr lang="en-US" sz="1700" dirty="0"/>
          </a:p>
        </p:txBody>
      </p:sp>
      <p:sp>
        <p:nvSpPr>
          <p:cNvPr id="27" name="Text 25"/>
          <p:cNvSpPr/>
          <p:nvPr/>
        </p:nvSpPr>
        <p:spPr>
          <a:xfrm>
            <a:off x="8204181" y="4067715"/>
            <a:ext cx="3034833"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Le même code s'applique à une donnée nouvelle en production.</a:t>
            </a:r>
            <a:endParaRPr lang="en-US" sz="1300" dirty="0"/>
          </a:p>
        </p:txBody>
      </p:sp>
      <p:pic>
        <p:nvPicPr>
          <p:cNvPr id="28" name="Image 0" descr="Logo ISM"/>
          <p:cNvPicPr>
            <a:picLocks noChangeAspect="1"/>
          </p:cNvPicPr>
          <p:nvPr/>
        </p:nvPicPr>
        <p:blipFill>
          <a:blip r:embed="rId3"/>
          <a:srcRect l="431" r="431"/>
          <a:stretch/>
        </p:blipFill>
        <p:spPr>
          <a:xfrm>
            <a:off x="812780" y="6223043"/>
            <a:ext cx="279380" cy="279380"/>
          </a:xfrm>
          <a:prstGeom prst="roundRect">
            <a:avLst>
              <a:gd name="adj" fmla="val 13637"/>
            </a:avLst>
          </a:prstGeom>
        </p:spPr>
      </p:pic>
      <p:sp>
        <p:nvSpPr>
          <p:cNvPr id="29" name="Text 26"/>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30" name="Text 27"/>
          <p:cNvSpPr/>
          <p:nvPr/>
        </p:nvSpPr>
        <p:spPr>
          <a:xfrm>
            <a:off x="10878384" y="6256021"/>
            <a:ext cx="50077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11 / 41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PIPELINES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ColumnTransformer : un traitement par type</a:t>
            </a:r>
            <a:endParaRPr lang="en-US" sz="3200" dirty="0"/>
          </a:p>
        </p:txBody>
      </p:sp>
      <p:sp>
        <p:nvSpPr>
          <p:cNvPr id="4" name="Shape 2"/>
          <p:cNvSpPr/>
          <p:nvPr/>
        </p:nvSpPr>
        <p:spPr>
          <a:xfrm>
            <a:off x="819130" y="1809676"/>
            <a:ext cx="10553740" cy="186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sklearn.compose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ColumnTransformer</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sklearn.pipeline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make_pipeline</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sklearn.impute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SimpleImputer</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sklearn.preprocessing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StandardScaler, OneHotEncoder</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prep = ColumnTransformer([</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"num"</a:t>
            </a:r>
            <a:r>
              <a:rPr lang="en-US" sz="900" dirty="0">
                <a:solidFill>
                  <a:srgbClr val="2B211B"/>
                </a:solidFill>
                <a:latin typeface="JetBrains Mono" pitchFamily="49" charset="0"/>
                <a:ea typeface="JetBrains Mono" pitchFamily="49" charset="-122"/>
                <a:cs typeface="JetBrains Mono" pitchFamily="49" charset="-120"/>
              </a:rPr>
              <a:t>, make_pipeline(SimpleImputer(strategy=</a:t>
            </a:r>
            <a:r>
              <a:rPr lang="en-US" sz="900" dirty="0">
                <a:solidFill>
                  <a:srgbClr val="2C6E3F"/>
                </a:solidFill>
                <a:latin typeface="JetBrains Mono" pitchFamily="49" charset="0"/>
                <a:ea typeface="JetBrains Mono" pitchFamily="49" charset="-122"/>
                <a:cs typeface="JetBrains Mono" pitchFamily="49" charset="-120"/>
              </a:rPr>
              <a:t>"median"</a:t>
            </a:r>
            <a:r>
              <a:rPr lang="en-US" sz="900" dirty="0">
                <a:solidFill>
                  <a:srgbClr val="2B211B"/>
                </a:solidFill>
                <a:latin typeface="JetBrains Mono" pitchFamily="49" charset="0"/>
                <a:ea typeface="JetBrains Mono" pitchFamily="49" charset="-122"/>
                <a:cs typeface="JetBrains Mono" pitchFamily="49" charset="-120"/>
              </a:rPr>
              <a:t>), StandardScaler()), num),</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"cat"</a:t>
            </a:r>
            <a:r>
              <a:rPr lang="en-US" sz="900" dirty="0">
                <a:solidFill>
                  <a:srgbClr val="2B211B"/>
                </a:solidFill>
                <a:latin typeface="JetBrains Mono" pitchFamily="49" charset="0"/>
                <a:ea typeface="JetBrains Mono" pitchFamily="49" charset="-122"/>
                <a:cs typeface="JetBrains Mono" pitchFamily="49" charset="-120"/>
              </a:rPr>
              <a:t>, OneHotEncoder(handle_unknown=</a:t>
            </a:r>
            <a:r>
              <a:rPr lang="en-US" sz="900" dirty="0">
                <a:solidFill>
                  <a:srgbClr val="2C6E3F"/>
                </a:solidFill>
                <a:latin typeface="JetBrains Mono" pitchFamily="49" charset="0"/>
                <a:ea typeface="JetBrains Mono" pitchFamily="49" charset="-122"/>
                <a:cs typeface="JetBrains Mono" pitchFamily="49" charset="-120"/>
              </a:rPr>
              <a:t>"ignore"</a:t>
            </a:r>
            <a:r>
              <a:rPr lang="en-US" sz="900" dirty="0">
                <a:solidFill>
                  <a:srgbClr val="2B211B"/>
                </a:solidFill>
                <a:latin typeface="JetBrains Mono" pitchFamily="49" charset="0"/>
                <a:ea typeface="JetBrains Mono" pitchFamily="49" charset="-122"/>
                <a:cs typeface="JetBrains Mono" pitchFamily="49" charset="-120"/>
              </a:rPr>
              <a:t>, sparse_output=</a:t>
            </a:r>
            <a:r>
              <a:rPr lang="en-US" sz="900" b="1" dirty="0">
                <a:solidFill>
                  <a:srgbClr val="9A3D0A"/>
                </a:solidFill>
                <a:latin typeface="JetBrains Mono" pitchFamily="49" charset="0"/>
                <a:ea typeface="JetBrains Mono" pitchFamily="49" charset="-122"/>
                <a:cs typeface="JetBrains Mono" pitchFamily="49" charset="-120"/>
              </a:rPr>
              <a:t>False</a:t>
            </a:r>
            <a:r>
              <a:rPr lang="en-US" sz="900" dirty="0">
                <a:solidFill>
                  <a:srgbClr val="2B211B"/>
                </a:solidFill>
                <a:latin typeface="JetBrains Mono" pitchFamily="49" charset="0"/>
                <a:ea typeface="JetBrains Mono" pitchFamily="49" charset="-122"/>
                <a:cs typeface="JetBrains Mono" pitchFamily="49" charset="-120"/>
              </a:rPr>
              <a:t>), cat),</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print(prep.fit_transform(X_train).shape)</a:t>
            </a:r>
            <a:endParaRPr lang="en-US" sz="900" dirty="0"/>
          </a:p>
        </p:txBody>
      </p:sp>
      <p:sp>
        <p:nvSpPr>
          <p:cNvPr id="14" name="Shape 12"/>
          <p:cNvSpPr/>
          <p:nvPr/>
        </p:nvSpPr>
        <p:spPr>
          <a:xfrm>
            <a:off x="812780" y="3725000"/>
            <a:ext cx="1422380" cy="430000"/>
          </a:xfrm>
          <a:prstGeom prst="roundRect">
            <a:avLst>
              <a:gd name="adj" fmla="val 29167"/>
            </a:avLst>
          </a:prstGeom>
          <a:solidFill>
            <a:srgbClr val="ECE6D8"/>
          </a:solidFill>
          <a:ln/>
        </p:spPr>
      </p:sp>
      <p:sp>
        <p:nvSpPr>
          <p:cNvPr id="15" name="Shape 13"/>
          <p:cNvSpPr/>
          <p:nvPr/>
        </p:nvSpPr>
        <p:spPr>
          <a:xfrm>
            <a:off x="812780" y="3725000"/>
            <a:ext cx="1422380" cy="430000"/>
          </a:xfrm>
          <a:custGeom>
            <a:avLst/>
            <a:gdLst/>
            <a:ahLst/>
            <a:cxnLst/>
            <a:rect l="l" t="t" r="r" b="b"/>
            <a:pathLst>
              <a:path w="142238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6" name="Text 14"/>
          <p:cNvSpPr/>
          <p:nvPr/>
        </p:nvSpPr>
        <p:spPr>
          <a:xfrm>
            <a:off x="1065490" y="3765000"/>
            <a:ext cx="1017290"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(1332, 32)</a:t>
            </a:r>
            <a:endParaRPr lang="en-US" sz="950" dirty="0"/>
          </a:p>
        </p:txBody>
      </p:sp>
      <p:sp>
        <p:nvSpPr>
          <p:cNvPr id="17" name="Text 15"/>
          <p:cNvSpPr/>
          <p:nvPr/>
        </p:nvSpPr>
        <p:spPr>
          <a:xfrm>
            <a:off x="2489121" y="3935000"/>
            <a:ext cx="9156802" cy="145000"/>
          </a:xfrm>
          <a:prstGeom prst="rect">
            <a:avLst/>
          </a:prstGeom>
          <a:noFill/>
          <a:ln/>
        </p:spPr>
        <p:txBody>
          <a:bodyPr wrap="square" lIns="0" tIns="0" rIns="0" bIns="0" rtlCol="0" anchor="t">
            <a:normAutofit fontScale="92500"/>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5 colonnes numériques + 27 </a:t>
            </a:r>
            <a:r>
              <a:rPr lang="en-US" sz="950" dirty="0" err="1">
                <a:solidFill>
                  <a:srgbClr val="2B211B"/>
                </a:solidFill>
                <a:latin typeface="Space Grotesk" pitchFamily="34" charset="0"/>
                <a:ea typeface="Space Grotesk" pitchFamily="34" charset="-122"/>
                <a:cs typeface="Space Grotesk" pitchFamily="34" charset="-120"/>
              </a:rPr>
              <a:t>indicateurs</a:t>
            </a:r>
            <a:r>
              <a:rPr lang="en-US" sz="950" dirty="0">
                <a:solidFill>
                  <a:srgbClr val="2B211B"/>
                </a:solidFill>
                <a:latin typeface="Space Grotesk" pitchFamily="34" charset="0"/>
                <a:ea typeface="Space Grotesk" pitchFamily="34" charset="-122"/>
                <a:cs typeface="Space Grotesk" pitchFamily="34" charset="-120"/>
              </a:rPr>
              <a:t> = </a:t>
            </a:r>
            <a:r>
              <a:rPr lang="en-US" sz="950" b="1" dirty="0">
                <a:solidFill>
                  <a:srgbClr val="9A5414"/>
                </a:solidFill>
                <a:latin typeface="Space Grotesk" pitchFamily="34" charset="0"/>
                <a:ea typeface="Space Grotesk" pitchFamily="34" charset="-122"/>
                <a:cs typeface="Space Grotesk" pitchFamily="34" charset="-120"/>
              </a:rPr>
              <a:t>32 variables</a:t>
            </a:r>
            <a:r>
              <a:rPr lang="en-US" sz="950" dirty="0">
                <a:solidFill>
                  <a:srgbClr val="2B211B"/>
                </a:solidFill>
                <a:latin typeface="Space Grotesk" pitchFamily="34" charset="0"/>
                <a:ea typeface="Space Grotesk" pitchFamily="34" charset="-122"/>
                <a:cs typeface="Space Grotesk" pitchFamily="34" charset="-120"/>
              </a:rPr>
              <a:t>. Médiane et moyennes apprises sur le train uniquement.</a:t>
            </a:r>
            <a:endParaRPr lang="en-US" sz="950" dirty="0"/>
          </a:p>
        </p:txBody>
      </p:sp>
      <p:pic>
        <p:nvPicPr>
          <p:cNvPr id="18" name="Image 0" descr="Logo ISM"/>
          <p:cNvPicPr>
            <a:picLocks noChangeAspect="1"/>
          </p:cNvPicPr>
          <p:nvPr/>
        </p:nvPicPr>
        <p:blipFill>
          <a:blip r:embed="rId3"/>
          <a:srcRect l="431" r="431"/>
          <a:stretch/>
        </p:blipFill>
        <p:spPr>
          <a:xfrm>
            <a:off x="812780" y="6223043"/>
            <a:ext cx="279380" cy="279380"/>
          </a:xfrm>
          <a:prstGeom prst="roundRect">
            <a:avLst>
              <a:gd name="adj" fmla="val 13637"/>
            </a:avLst>
          </a:prstGeom>
        </p:spPr>
      </p:pic>
      <p:sp>
        <p:nvSpPr>
          <p:cNvPr id="19" name="Text 16"/>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0" name="Text 17"/>
          <p:cNvSpPr/>
          <p:nvPr/>
        </p:nvSpPr>
        <p:spPr>
          <a:xfrm>
            <a:off x="10844594" y="6256021"/>
            <a:ext cx="53456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12 / 41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PIPELINES</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Un modèle complet en une ligne</a:t>
            </a:r>
            <a:endParaRPr lang="en-US" sz="3200" dirty="0"/>
          </a:p>
        </p:txBody>
      </p:sp>
      <p:sp>
        <p:nvSpPr>
          <p:cNvPr id="4" name="Shape 2"/>
          <p:cNvSpPr/>
          <p:nvPr/>
        </p:nvSpPr>
        <p:spPr>
          <a:xfrm>
            <a:off x="819130" y="1809669"/>
            <a:ext cx="10553740" cy="148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sklearn.linear_model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Ridge</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sklearn.metrics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mean_absolute_error, r2_score</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modele = make_pipeline(prep, Ridge(alpha=1.0))</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modele.fit(X_train, y_train)</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pred = modele.predict(X_test)</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a:t>
            </a:r>
            <a:r>
              <a:rPr lang="en-US" sz="900" dirty="0">
                <a:solidFill>
                  <a:srgbClr val="2C6E3F"/>
                </a:solidFill>
                <a:latin typeface="JetBrains Mono" pitchFamily="49" charset="0"/>
                <a:ea typeface="JetBrains Mono" pitchFamily="49" charset="-122"/>
                <a:cs typeface="JetBrains Mono" pitchFamily="49" charset="-120"/>
              </a:rPr>
              <a:t>f"MAE : {mean_absolute_error(y_test, pred):,.0f} FCFA"</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a:t>
            </a:r>
            <a:r>
              <a:rPr lang="en-US" sz="900" dirty="0">
                <a:solidFill>
                  <a:srgbClr val="2C6E3F"/>
                </a:solidFill>
                <a:latin typeface="JetBrains Mono" pitchFamily="49" charset="0"/>
                <a:ea typeface="JetBrains Mono" pitchFamily="49" charset="-122"/>
                <a:cs typeface="JetBrains Mono" pitchFamily="49" charset="-120"/>
              </a:rPr>
              <a:t>f"R²  : {r2_score(y_test, pred):.3f}"</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2" name="Shape 10"/>
          <p:cNvSpPr/>
          <p:nvPr/>
        </p:nvSpPr>
        <p:spPr>
          <a:xfrm>
            <a:off x="812780" y="3345000"/>
            <a:ext cx="2057400" cy="600000"/>
          </a:xfrm>
          <a:prstGeom prst="roundRect">
            <a:avLst>
              <a:gd name="adj" fmla="val 29167"/>
            </a:avLst>
          </a:prstGeom>
          <a:solidFill>
            <a:srgbClr val="ECE6D8"/>
          </a:solidFill>
          <a:ln/>
        </p:spPr>
      </p:sp>
      <p:sp>
        <p:nvSpPr>
          <p:cNvPr id="13" name="Shape 11"/>
          <p:cNvSpPr/>
          <p:nvPr/>
        </p:nvSpPr>
        <p:spPr>
          <a:xfrm>
            <a:off x="812780" y="3345000"/>
            <a:ext cx="2057400" cy="600000"/>
          </a:xfrm>
          <a:custGeom>
            <a:avLst/>
            <a:gdLst/>
            <a:ahLst/>
            <a:cxnLst/>
            <a:rect l="l" t="t" r="r" b="b"/>
            <a:pathLst>
              <a:path w="205740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4" name="Text 12"/>
          <p:cNvSpPr/>
          <p:nvPr/>
        </p:nvSpPr>
        <p:spPr>
          <a:xfrm>
            <a:off x="1065490" y="3385000"/>
            <a:ext cx="1652310"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MAE : 49,088 FCFA</a:t>
            </a:r>
            <a:endParaRPr lang="en-US" sz="950" dirty="0"/>
          </a:p>
        </p:txBody>
      </p:sp>
      <p:sp>
        <p:nvSpPr>
          <p:cNvPr id="15" name="Text 13"/>
          <p:cNvSpPr/>
          <p:nvPr/>
        </p:nvSpPr>
        <p:spPr>
          <a:xfrm>
            <a:off x="1065490" y="3555000"/>
            <a:ext cx="1652310"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R²  : 0.770</a:t>
            </a:r>
            <a:endParaRPr lang="en-US" sz="950" dirty="0"/>
          </a:p>
        </p:txBody>
      </p:sp>
      <p:sp>
        <p:nvSpPr>
          <p:cNvPr id="16" name="Text 14"/>
          <p:cNvSpPr/>
          <p:nvPr/>
        </p:nvSpPr>
        <p:spPr>
          <a:xfrm>
            <a:off x="3124141" y="3725000"/>
            <a:ext cx="8502732"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Erreur moyenne d'environ </a:t>
            </a:r>
            <a:r>
              <a:rPr lang="en-US" sz="950" b="1" dirty="0">
                <a:solidFill>
                  <a:srgbClr val="9A5414"/>
                </a:solidFill>
                <a:latin typeface="Space Grotesk" pitchFamily="34" charset="0"/>
                <a:ea typeface="Space Grotesk" pitchFamily="34" charset="-122"/>
                <a:cs typeface="Space Grotesk" pitchFamily="34" charset="-120"/>
              </a:rPr>
              <a:t>49 000 FCFA</a:t>
            </a:r>
            <a:r>
              <a:rPr lang="en-US" sz="950" dirty="0">
                <a:solidFill>
                  <a:srgbClr val="2B211B"/>
                </a:solidFill>
                <a:latin typeface="Space Grotesk" pitchFamily="34" charset="0"/>
                <a:ea typeface="Space Grotesk" pitchFamily="34" charset="-122"/>
                <a:cs typeface="Space Grotesk" pitchFamily="34" charset="-120"/>
              </a:rPr>
              <a:t> par joueur. C'est notre modèle de référence.</a:t>
            </a:r>
            <a:endParaRPr lang="en-US" sz="950" dirty="0"/>
          </a:p>
        </p:txBody>
      </p:sp>
      <p:pic>
        <p:nvPicPr>
          <p:cNvPr id="17"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18" name="Text 15"/>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9" name="Text 16"/>
          <p:cNvSpPr/>
          <p:nvPr/>
        </p:nvSpPr>
        <p:spPr>
          <a:xfrm>
            <a:off x="10844380" y="6256015"/>
            <a:ext cx="53478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13 / 41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PIPELINES</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Transformer la cible</a:t>
            </a:r>
            <a:endParaRPr lang="en-US" sz="3200" dirty="0"/>
          </a:p>
        </p:txBody>
      </p:sp>
      <p:sp>
        <p:nvSpPr>
          <p:cNvPr id="4" name="Shape 2"/>
          <p:cNvSpPr/>
          <p:nvPr/>
        </p:nvSpPr>
        <p:spPr>
          <a:xfrm>
            <a:off x="819130" y="1809669"/>
            <a:ext cx="10553740" cy="167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sklearn.compose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TransformedTargetRegressor</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modele_log = TransformedTargetRegressor(</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regressor=make_pipeline(prep, Ridge(alpha=1.0)),</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func=np.log, inverse_func=np.exp)</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modele_log.fit(X_train, y_train)</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pred = modele_log.predict(X_test)</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a:t>
            </a:r>
            <a:r>
              <a:rPr lang="en-US" sz="900" dirty="0">
                <a:solidFill>
                  <a:srgbClr val="2C6E3F"/>
                </a:solidFill>
                <a:latin typeface="JetBrains Mono" pitchFamily="49" charset="0"/>
                <a:ea typeface="JetBrains Mono" pitchFamily="49" charset="-122"/>
                <a:cs typeface="JetBrains Mono" pitchFamily="49" charset="-120"/>
              </a:rPr>
              <a:t>f"MAE : {mean_absolute_error(y_test, pred):,.0f} FCFA"</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a:t>
            </a:r>
            <a:r>
              <a:rPr lang="en-US" sz="900" dirty="0">
                <a:solidFill>
                  <a:srgbClr val="2C6E3F"/>
                </a:solidFill>
                <a:latin typeface="JetBrains Mono" pitchFamily="49" charset="0"/>
                <a:ea typeface="JetBrains Mono" pitchFamily="49" charset="-122"/>
                <a:cs typeface="JetBrains Mono" pitchFamily="49" charset="-120"/>
              </a:rPr>
              <a:t>f"R²  : {r2_score(y_test, pred):.3f}"</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3" name="Shape 11"/>
          <p:cNvSpPr/>
          <p:nvPr/>
        </p:nvSpPr>
        <p:spPr>
          <a:xfrm>
            <a:off x="812780" y="3535000"/>
            <a:ext cx="2057400" cy="600000"/>
          </a:xfrm>
          <a:prstGeom prst="roundRect">
            <a:avLst>
              <a:gd name="adj" fmla="val 29167"/>
            </a:avLst>
          </a:prstGeom>
          <a:solidFill>
            <a:srgbClr val="ECE6D8"/>
          </a:solidFill>
          <a:ln/>
        </p:spPr>
      </p:sp>
      <p:sp>
        <p:nvSpPr>
          <p:cNvPr id="14" name="Shape 12"/>
          <p:cNvSpPr/>
          <p:nvPr/>
        </p:nvSpPr>
        <p:spPr>
          <a:xfrm>
            <a:off x="812780" y="3535000"/>
            <a:ext cx="2057400" cy="600000"/>
          </a:xfrm>
          <a:custGeom>
            <a:avLst/>
            <a:gdLst/>
            <a:ahLst/>
            <a:cxnLst/>
            <a:rect l="l" t="t" r="r" b="b"/>
            <a:pathLst>
              <a:path w="205740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5" name="Text 13"/>
          <p:cNvSpPr/>
          <p:nvPr/>
        </p:nvSpPr>
        <p:spPr>
          <a:xfrm>
            <a:off x="1065490" y="3575000"/>
            <a:ext cx="1652310"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MAE : 48,393 FCFA</a:t>
            </a:r>
            <a:endParaRPr lang="en-US" sz="950" dirty="0"/>
          </a:p>
        </p:txBody>
      </p:sp>
      <p:sp>
        <p:nvSpPr>
          <p:cNvPr id="16" name="Text 14"/>
          <p:cNvSpPr/>
          <p:nvPr/>
        </p:nvSpPr>
        <p:spPr>
          <a:xfrm>
            <a:off x="1065490" y="3745000"/>
            <a:ext cx="1652310"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R²  : 0.776</a:t>
            </a:r>
            <a:endParaRPr lang="en-US" sz="950" dirty="0"/>
          </a:p>
        </p:txBody>
      </p:sp>
      <p:sp>
        <p:nvSpPr>
          <p:cNvPr id="17" name="Text 15"/>
          <p:cNvSpPr/>
          <p:nvPr/>
        </p:nvSpPr>
        <p:spPr>
          <a:xfrm>
            <a:off x="3124141" y="3915000"/>
            <a:ext cx="8502732"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La cible est apprise en log, mais les prédictions reviennent </a:t>
            </a:r>
            <a:r>
              <a:rPr lang="en-US" sz="950" b="1" dirty="0">
                <a:solidFill>
                  <a:srgbClr val="9A5414"/>
                </a:solidFill>
                <a:latin typeface="Space Grotesk" pitchFamily="34" charset="0"/>
                <a:ea typeface="Space Grotesk" pitchFamily="34" charset="-122"/>
                <a:cs typeface="Space Grotesk" pitchFamily="34" charset="-120"/>
              </a:rPr>
              <a:t>en FCFA</a:t>
            </a:r>
            <a:r>
              <a:rPr lang="en-US" sz="950" dirty="0">
                <a:solidFill>
                  <a:srgbClr val="2B211B"/>
                </a:solidFill>
                <a:latin typeface="Space Grotesk" pitchFamily="34" charset="0"/>
                <a:ea typeface="Space Grotesk" pitchFamily="34" charset="-122"/>
                <a:cs typeface="Space Grotesk" pitchFamily="34" charset="-120"/>
              </a:rPr>
              <a:t>. Gain modeste, à confirmer en validation.</a:t>
            </a:r>
            <a:endParaRPr lang="en-US" sz="950" dirty="0"/>
          </a:p>
        </p:txBody>
      </p:sp>
      <p:pic>
        <p:nvPicPr>
          <p:cNvPr id="18"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19" name="Text 16"/>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0" name="Text 17"/>
          <p:cNvSpPr/>
          <p:nvPr/>
        </p:nvSpPr>
        <p:spPr>
          <a:xfrm>
            <a:off x="10840522" y="6256015"/>
            <a:ext cx="53863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14 / 41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PIPELINES</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Écrire son propre transformeur</a:t>
            </a:r>
            <a:endParaRPr lang="en-US" sz="3200" dirty="0"/>
          </a:p>
        </p:txBody>
      </p:sp>
      <p:sp>
        <p:nvSpPr>
          <p:cNvPr id="4" name="Shape 2"/>
          <p:cNvSpPr/>
          <p:nvPr/>
        </p:nvSpPr>
        <p:spPr>
          <a:xfrm>
            <a:off x="819130" y="1809669"/>
            <a:ext cx="10553740" cy="224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00"/>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sklearn.base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BaseEstimator, TransformerMixin</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00"/>
              </a:lnSpc>
              <a:buNone/>
            </a:pPr>
            <a:r>
              <a:rPr lang="en-US" sz="900" b="1" dirty="0">
                <a:solidFill>
                  <a:srgbClr val="9A3D0A"/>
                </a:solidFill>
                <a:latin typeface="JetBrains Mono" pitchFamily="49" charset="0"/>
                <a:ea typeface="JetBrains Mono" pitchFamily="49" charset="-122"/>
                <a:cs typeface="JetBrains Mono" pitchFamily="49" charset="-120"/>
              </a:rPr>
              <a:t>class</a:t>
            </a: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1F5C99"/>
                </a:solidFill>
                <a:latin typeface="JetBrains Mono" pitchFamily="49" charset="0"/>
                <a:ea typeface="JetBrains Mono" pitchFamily="49" charset="-122"/>
                <a:cs typeface="JetBrains Mono" pitchFamily="49" charset="-120"/>
              </a:rPr>
              <a:t>ParMatch</a:t>
            </a:r>
            <a:r>
              <a:rPr lang="en-US" sz="900" dirty="0">
                <a:solidFill>
                  <a:srgbClr val="2B211B"/>
                </a:solidFill>
                <a:latin typeface="JetBrains Mono" pitchFamily="49" charset="0"/>
                <a:ea typeface="JetBrains Mono" pitchFamily="49" charset="-122"/>
                <a:cs typeface="JetBrains Mono" pitchFamily="49" charset="-120"/>
              </a:rPr>
              <a:t>(BaseEstimator, TransformerMixin):</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9A3D0A"/>
                </a:solidFill>
                <a:latin typeface="JetBrains Mono" pitchFamily="49" charset="0"/>
                <a:ea typeface="JetBrains Mono" pitchFamily="49" charset="-122"/>
                <a:cs typeface="JetBrains Mono" pitchFamily="49" charset="-120"/>
              </a:rPr>
              <a:t>def</a:t>
            </a: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1F5C99"/>
                </a:solidFill>
                <a:latin typeface="JetBrains Mono" pitchFamily="49" charset="0"/>
                <a:ea typeface="JetBrains Mono" pitchFamily="49" charset="-122"/>
                <a:cs typeface="JetBrains Mono" pitchFamily="49" charset="-120"/>
              </a:rPr>
              <a:t>fit</a:t>
            </a:r>
            <a:r>
              <a:rPr lang="en-US" sz="900" dirty="0">
                <a:solidFill>
                  <a:srgbClr val="2B211B"/>
                </a:solidFill>
                <a:latin typeface="JetBrains Mono" pitchFamily="49" charset="0"/>
                <a:ea typeface="JetBrains Mono" pitchFamily="49" charset="-122"/>
                <a:cs typeface="JetBrains Mono" pitchFamily="49" charset="-120"/>
              </a:rPr>
              <a:t>(self, X, y=</a:t>
            </a:r>
            <a:r>
              <a:rPr lang="en-US" sz="900" b="1" dirty="0">
                <a:solidFill>
                  <a:srgbClr val="9A3D0A"/>
                </a:solidFill>
                <a:latin typeface="JetBrains Mono" pitchFamily="49" charset="0"/>
                <a:ea typeface="JetBrains Mono" pitchFamily="49" charset="-122"/>
                <a:cs typeface="JetBrains Mono" pitchFamily="49" charset="-120"/>
              </a:rPr>
              <a:t>None</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9A3D0A"/>
                </a:solidFill>
                <a:latin typeface="JetBrains Mono" pitchFamily="49" charset="0"/>
                <a:ea typeface="JetBrains Mono" pitchFamily="49" charset="-122"/>
                <a:cs typeface="JetBrains Mono" pitchFamily="49" charset="-120"/>
              </a:rPr>
              <a:t>return</a:t>
            </a:r>
            <a:r>
              <a:rPr lang="en-US" sz="900" dirty="0">
                <a:solidFill>
                  <a:srgbClr val="2B211B"/>
                </a:solidFill>
                <a:latin typeface="JetBrains Mono" pitchFamily="49" charset="0"/>
                <a:ea typeface="JetBrains Mono" pitchFamily="49" charset="-122"/>
                <a:cs typeface="JetBrains Mono" pitchFamily="49" charset="-120"/>
              </a:rPr>
              <a:t> self                      </a:t>
            </a:r>
            <a:r>
              <a:rPr lang="en-US" sz="900" dirty="0">
                <a:solidFill>
                  <a:srgbClr val="7D7466"/>
                </a:solidFill>
                <a:latin typeface="JetBrains Mono" pitchFamily="49" charset="0"/>
                <a:ea typeface="JetBrains Mono" pitchFamily="49" charset="-122"/>
                <a:cs typeface="JetBrains Mono" pitchFamily="49" charset="-120"/>
              </a:rPr>
              <a:t># rien à apprendre ici</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9A3D0A"/>
                </a:solidFill>
                <a:latin typeface="JetBrains Mono" pitchFamily="49" charset="0"/>
                <a:ea typeface="JetBrains Mono" pitchFamily="49" charset="-122"/>
                <a:cs typeface="JetBrains Mono" pitchFamily="49" charset="-120"/>
              </a:rPr>
              <a:t>def</a:t>
            </a: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1F5C99"/>
                </a:solidFill>
                <a:latin typeface="JetBrains Mono" pitchFamily="49" charset="0"/>
                <a:ea typeface="JetBrains Mono" pitchFamily="49" charset="-122"/>
                <a:cs typeface="JetBrains Mono" pitchFamily="49" charset="-120"/>
              </a:rPr>
              <a:t>transform</a:t>
            </a:r>
            <a:r>
              <a:rPr lang="en-US" sz="900" dirty="0">
                <a:solidFill>
                  <a:srgbClr val="2B211B"/>
                </a:solidFill>
                <a:latin typeface="JetBrains Mono" pitchFamily="49" charset="0"/>
                <a:ea typeface="JetBrains Mono" pitchFamily="49" charset="-122"/>
                <a:cs typeface="JetBrains Mono" pitchFamily="49" charset="-120"/>
              </a:rPr>
              <a:t>(self, X):</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X, n = X.copy(), X[</a:t>
            </a:r>
            <a:r>
              <a:rPr lang="en-US" sz="900" dirty="0">
                <a:solidFill>
                  <a:srgbClr val="2C6E3F"/>
                </a:solidFill>
                <a:latin typeface="JetBrains Mono" pitchFamily="49" charset="0"/>
                <a:ea typeface="JetBrains Mono" pitchFamily="49" charset="-122"/>
                <a:cs typeface="JetBrains Mono" pitchFamily="49" charset="-120"/>
              </a:rPr>
              <a:t>"matchs_joues"</a:t>
            </a:r>
            <a:r>
              <a:rPr lang="en-US" sz="900" dirty="0">
                <a:solidFill>
                  <a:srgbClr val="2B211B"/>
                </a:solidFill>
                <a:latin typeface="JetBrains Mono" pitchFamily="49" charset="0"/>
                <a:ea typeface="JetBrains Mono" pitchFamily="49" charset="-122"/>
                <a:cs typeface="JetBrains Mono" pitchFamily="49" charset="-120"/>
              </a:rPr>
              <a:t>].clip(lower=1)</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9A3D0A"/>
                </a:solidFill>
                <a:latin typeface="JetBrains Mono" pitchFamily="49" charset="0"/>
                <a:ea typeface="JetBrains Mono" pitchFamily="49" charset="-122"/>
                <a:cs typeface="JetBrains Mono" pitchFamily="49" charset="-120"/>
              </a:rPr>
              <a:t>for</a:t>
            </a:r>
            <a:r>
              <a:rPr lang="en-US" sz="900" dirty="0">
                <a:solidFill>
                  <a:srgbClr val="2B211B"/>
                </a:solidFill>
                <a:latin typeface="JetBrains Mono" pitchFamily="49" charset="0"/>
                <a:ea typeface="JetBrains Mono" pitchFamily="49" charset="-122"/>
                <a:cs typeface="JetBrains Mono" pitchFamily="49" charset="-120"/>
              </a:rPr>
              <a:t> c </a:t>
            </a:r>
            <a:r>
              <a:rPr lang="en-US" sz="900" b="1" dirty="0">
                <a:solidFill>
                  <a:srgbClr val="9A3D0A"/>
                </a:solidFill>
                <a:latin typeface="JetBrains Mono" pitchFamily="49" charset="0"/>
                <a:ea typeface="JetBrains Mono" pitchFamily="49" charset="-122"/>
                <a:cs typeface="JetBrains Mono" pitchFamily="49" charset="-120"/>
              </a:rPr>
              <a:t>in</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"minutes_jouees"</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"buts"</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"passes_decisives"</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X[c + </a:t>
            </a:r>
            <a:r>
              <a:rPr lang="en-US" sz="900" dirty="0">
                <a:solidFill>
                  <a:srgbClr val="2C6E3F"/>
                </a:solidFill>
                <a:latin typeface="JetBrains Mono" pitchFamily="49" charset="0"/>
                <a:ea typeface="JetBrains Mono" pitchFamily="49" charset="-122"/>
                <a:cs typeface="JetBrains Mono" pitchFamily="49" charset="-120"/>
              </a:rPr>
              <a:t>"_par_match"</a:t>
            </a:r>
            <a:r>
              <a:rPr lang="en-US" sz="900" dirty="0">
                <a:solidFill>
                  <a:srgbClr val="2B211B"/>
                </a:solidFill>
                <a:latin typeface="JetBrains Mono" pitchFamily="49" charset="0"/>
                <a:ea typeface="JetBrains Mono" pitchFamily="49" charset="-122"/>
                <a:cs typeface="JetBrains Mono" pitchFamily="49" charset="-120"/>
              </a:rPr>
              <a:t>] = X[c] / n</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9A3D0A"/>
                </a:solidFill>
                <a:latin typeface="JetBrains Mono" pitchFamily="49" charset="0"/>
                <a:ea typeface="JetBrains Mono" pitchFamily="49" charset="-122"/>
                <a:cs typeface="JetBrains Mono" pitchFamily="49" charset="-120"/>
              </a:rPr>
              <a:t>return</a:t>
            </a:r>
            <a:r>
              <a:rPr lang="en-US" sz="900" dirty="0">
                <a:solidFill>
                  <a:srgbClr val="2B211B"/>
                </a:solidFill>
                <a:latin typeface="JetBrains Mono" pitchFamily="49" charset="0"/>
                <a:ea typeface="JetBrains Mono" pitchFamily="49" charset="-122"/>
                <a:cs typeface="JetBrains Mono" pitchFamily="49" charset="-120"/>
              </a:rPr>
              <a:t> X</a:t>
            </a:r>
            <a:endParaRPr lang="en-US" sz="900" dirty="0"/>
          </a:p>
        </p:txBody>
      </p:sp>
      <p:sp>
        <p:nvSpPr>
          <p:cNvPr id="14" name="Text 12"/>
          <p:cNvSpPr/>
          <p:nvPr/>
        </p:nvSpPr>
        <p:spPr>
          <a:xfrm>
            <a:off x="1027390" y="362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res = ParMatch().fit_transform(X_train)</a:t>
            </a:r>
            <a:endParaRPr lang="en-US" sz="900" dirty="0"/>
          </a:p>
        </p:txBody>
      </p:sp>
      <p:sp>
        <p:nvSpPr>
          <p:cNvPr id="15" name="Text 13"/>
          <p:cNvSpPr/>
          <p:nvPr/>
        </p:nvSpPr>
        <p:spPr>
          <a:xfrm>
            <a:off x="1027390" y="381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print(res.filter(like=</a:t>
            </a:r>
            <a:r>
              <a:rPr lang="en-US" sz="900" dirty="0">
                <a:solidFill>
                  <a:srgbClr val="2C6E3F"/>
                </a:solidFill>
                <a:latin typeface="JetBrains Mono" pitchFamily="49" charset="0"/>
                <a:ea typeface="JetBrains Mono" pitchFamily="49" charset="-122"/>
                <a:cs typeface="JetBrains Mono" pitchFamily="49" charset="-120"/>
              </a:rPr>
              <a:t>"par_match"</a:t>
            </a:r>
            <a:r>
              <a:rPr lang="en-US" sz="900" dirty="0">
                <a:solidFill>
                  <a:srgbClr val="2B211B"/>
                </a:solidFill>
                <a:latin typeface="JetBrains Mono" pitchFamily="49" charset="0"/>
                <a:ea typeface="JetBrains Mono" pitchFamily="49" charset="-122"/>
                <a:cs typeface="JetBrains Mono" pitchFamily="49" charset="-120"/>
              </a:rPr>
              <a:t>).head(3).round(2))</a:t>
            </a:r>
            <a:endParaRPr lang="en-US" sz="900" dirty="0"/>
          </a:p>
        </p:txBody>
      </p:sp>
      <p:sp>
        <p:nvSpPr>
          <p:cNvPr id="16" name="Shape 14"/>
          <p:cNvSpPr/>
          <p:nvPr/>
        </p:nvSpPr>
        <p:spPr>
          <a:xfrm>
            <a:off x="812780" y="4105000"/>
            <a:ext cx="7270731" cy="770000"/>
          </a:xfrm>
          <a:prstGeom prst="roundRect">
            <a:avLst>
              <a:gd name="adj" fmla="val 29167"/>
            </a:avLst>
          </a:prstGeom>
          <a:solidFill>
            <a:srgbClr val="ECE6D8"/>
          </a:solidFill>
          <a:ln/>
        </p:spPr>
      </p:sp>
      <p:sp>
        <p:nvSpPr>
          <p:cNvPr id="17" name="Shape 15"/>
          <p:cNvSpPr/>
          <p:nvPr/>
        </p:nvSpPr>
        <p:spPr>
          <a:xfrm>
            <a:off x="812780" y="4105000"/>
            <a:ext cx="7270731" cy="770000"/>
          </a:xfrm>
          <a:custGeom>
            <a:avLst/>
            <a:gdLst/>
            <a:ahLst/>
            <a:cxnLst/>
            <a:rect l="l" t="t" r="r" b="b"/>
            <a:pathLst>
              <a:path w="7270731"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8" name="Text 16"/>
          <p:cNvSpPr/>
          <p:nvPr/>
        </p:nvSpPr>
        <p:spPr>
          <a:xfrm>
            <a:off x="1065490" y="4145000"/>
            <a:ext cx="7019285"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      minutes_jouees_par_match  buts_par_match  passes_decisives_par_match</a:t>
            </a:r>
            <a:endParaRPr lang="en-US" sz="950" dirty="0"/>
          </a:p>
        </p:txBody>
      </p:sp>
      <p:sp>
        <p:nvSpPr>
          <p:cNvPr id="19" name="Text 17"/>
          <p:cNvSpPr/>
          <p:nvPr/>
        </p:nvSpPr>
        <p:spPr>
          <a:xfrm>
            <a:off x="1065490" y="4315000"/>
            <a:ext cx="7019285"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422                      74.31             0.0                        0.03</a:t>
            </a:r>
            <a:endParaRPr lang="en-US" sz="950" dirty="0"/>
          </a:p>
        </p:txBody>
      </p:sp>
      <p:sp>
        <p:nvSpPr>
          <p:cNvPr id="20" name="Text 18"/>
          <p:cNvSpPr/>
          <p:nvPr/>
        </p:nvSpPr>
        <p:spPr>
          <a:xfrm>
            <a:off x="1065490" y="4485000"/>
            <a:ext cx="7019285"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1106                     49.67             0.0                        0.00</a:t>
            </a:r>
            <a:endParaRPr lang="en-US" sz="950" dirty="0"/>
          </a:p>
        </p:txBody>
      </p:sp>
      <p:sp>
        <p:nvSpPr>
          <p:cNvPr id="21" name="Text 19"/>
          <p:cNvSpPr/>
          <p:nvPr/>
        </p:nvSpPr>
        <p:spPr>
          <a:xfrm>
            <a:off x="1065490" y="4655000"/>
            <a:ext cx="7019285"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266                      35.82             0.0                        0.06</a:t>
            </a:r>
            <a:endParaRPr lang="en-US" sz="950" dirty="0"/>
          </a:p>
        </p:txBody>
      </p:sp>
      <p:pic>
        <p:nvPicPr>
          <p:cNvPr id="22"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23" name="Text 20"/>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4" name="Text 21"/>
          <p:cNvSpPr/>
          <p:nvPr/>
        </p:nvSpPr>
        <p:spPr>
          <a:xfrm>
            <a:off x="10845308" y="6256015"/>
            <a:ext cx="533852"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15 / 41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PIPELINES</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Inspecter ce qui sort du pipeline</a:t>
            </a:r>
            <a:endParaRPr lang="en-US" sz="3200" dirty="0"/>
          </a:p>
        </p:txBody>
      </p:sp>
      <p:sp>
        <p:nvSpPr>
          <p:cNvPr id="4" name="Shape 2"/>
          <p:cNvSpPr/>
          <p:nvPr/>
        </p:nvSpPr>
        <p:spPr>
          <a:xfrm>
            <a:off x="819130" y="1809669"/>
            <a:ext cx="10553740" cy="129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prep.set_output(transform=</a:t>
            </a:r>
            <a:r>
              <a:rPr lang="en-US" sz="900" dirty="0">
                <a:solidFill>
                  <a:srgbClr val="2C6E3F"/>
                </a:solidFill>
                <a:latin typeface="JetBrains Mono" pitchFamily="49" charset="0"/>
                <a:ea typeface="JetBrains Mono" pitchFamily="49" charset="-122"/>
                <a:cs typeface="JetBrains Mono" pitchFamily="49" charset="-120"/>
              </a:rPr>
              <a:t>"pandas"</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7D7466"/>
                </a:solidFill>
                <a:latin typeface="JetBrains Mono" pitchFamily="49" charset="0"/>
                <a:ea typeface="JetBrains Mono" pitchFamily="49" charset="-122"/>
                <a:cs typeface="JetBrains Mono" pitchFamily="49" charset="-120"/>
              </a:rPr>
              <a:t># sorties en DataFrame</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Xt = prep.fit_transform(X_train)</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print(Xt.columns[:3].tolist())</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print(Xt.columns[5:8].tolist())</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coefs = pd.Series(modele[-1].coef_, index=modele[0].get_feature_names_out())</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print(coefs.sort_values().tail(3).round(-3))</a:t>
            </a:r>
            <a:endParaRPr lang="en-US" sz="900" dirty="0"/>
          </a:p>
        </p:txBody>
      </p:sp>
      <p:sp>
        <p:nvSpPr>
          <p:cNvPr id="11" name="Shape 9"/>
          <p:cNvSpPr/>
          <p:nvPr/>
        </p:nvSpPr>
        <p:spPr>
          <a:xfrm>
            <a:off x="812780" y="3155000"/>
            <a:ext cx="6908781" cy="1280000"/>
          </a:xfrm>
          <a:prstGeom prst="roundRect">
            <a:avLst>
              <a:gd name="adj" fmla="val 29167"/>
            </a:avLst>
          </a:prstGeom>
          <a:solidFill>
            <a:srgbClr val="ECE6D8"/>
          </a:solidFill>
          <a:ln/>
        </p:spPr>
      </p:sp>
      <p:sp>
        <p:nvSpPr>
          <p:cNvPr id="12" name="Shape 10"/>
          <p:cNvSpPr/>
          <p:nvPr/>
        </p:nvSpPr>
        <p:spPr>
          <a:xfrm>
            <a:off x="812780" y="3155000"/>
            <a:ext cx="6908781" cy="1280000"/>
          </a:xfrm>
          <a:custGeom>
            <a:avLst/>
            <a:gdLst/>
            <a:ahLst/>
            <a:cxnLst/>
            <a:rect l="l" t="t" r="r" b="b"/>
            <a:pathLst>
              <a:path w="6908781"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3" name="Text 11"/>
          <p:cNvSpPr/>
          <p:nvPr/>
        </p:nvSpPr>
        <p:spPr>
          <a:xfrm>
            <a:off x="1065490" y="3195000"/>
            <a:ext cx="6646477"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['num__matchs_joues', 'num__minutes_jouees', 'num__buts']</a:t>
            </a:r>
            <a:endParaRPr lang="en-US" sz="950" dirty="0"/>
          </a:p>
        </p:txBody>
      </p:sp>
      <p:sp>
        <p:nvSpPr>
          <p:cNvPr id="14" name="Text 12"/>
          <p:cNvSpPr/>
          <p:nvPr/>
        </p:nvSpPr>
        <p:spPr>
          <a:xfrm>
            <a:off x="1065490" y="3365000"/>
            <a:ext cx="6646477"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['cat__poste_Attaquant', 'cat__poste_Défenseur', 'cat__poste_Gardien']</a:t>
            </a:r>
            <a:endParaRPr lang="en-US" sz="950" dirty="0"/>
          </a:p>
        </p:txBody>
      </p:sp>
      <p:sp>
        <p:nvSpPr>
          <p:cNvPr id="15" name="Text 13"/>
          <p:cNvSpPr/>
          <p:nvPr/>
        </p:nvSpPr>
        <p:spPr>
          <a:xfrm>
            <a:off x="1065490" y="3535000"/>
            <a:ext cx="6646477"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cat__equipe_id_E02    127000.0</a:t>
            </a:r>
            <a:endParaRPr lang="en-US" sz="950" dirty="0"/>
          </a:p>
        </p:txBody>
      </p:sp>
      <p:sp>
        <p:nvSpPr>
          <p:cNvPr id="16" name="Text 14"/>
          <p:cNvSpPr/>
          <p:nvPr/>
        </p:nvSpPr>
        <p:spPr>
          <a:xfrm>
            <a:off x="1065490" y="3705000"/>
            <a:ext cx="6646477"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cat__equipe_id_E09    180000.0</a:t>
            </a:r>
            <a:endParaRPr lang="en-US" sz="950" dirty="0"/>
          </a:p>
        </p:txBody>
      </p:sp>
      <p:sp>
        <p:nvSpPr>
          <p:cNvPr id="17" name="Text 15"/>
          <p:cNvSpPr/>
          <p:nvPr/>
        </p:nvSpPr>
        <p:spPr>
          <a:xfrm>
            <a:off x="1065490" y="3875000"/>
            <a:ext cx="6646477"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cat__equipe_id_E01    238000.0</a:t>
            </a:r>
            <a:endParaRPr lang="en-US" sz="950" dirty="0"/>
          </a:p>
        </p:txBody>
      </p:sp>
      <p:sp>
        <p:nvSpPr>
          <p:cNvPr id="18" name="Text 16"/>
          <p:cNvSpPr/>
          <p:nvPr/>
        </p:nvSpPr>
        <p:spPr>
          <a:xfrm>
            <a:off x="1065490" y="4045000"/>
            <a:ext cx="6646477"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dtype: float64</a:t>
            </a:r>
            <a:endParaRPr lang="en-US" sz="950" dirty="0"/>
          </a:p>
        </p:txBody>
      </p:sp>
      <p:sp>
        <p:nvSpPr>
          <p:cNvPr id="19" name="Text 17"/>
          <p:cNvSpPr/>
          <p:nvPr/>
        </p:nvSpPr>
        <p:spPr>
          <a:xfrm>
            <a:off x="7975521" y="4215000"/>
            <a:ext cx="3505810"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Le club </a:t>
            </a:r>
            <a:r>
              <a:rPr lang="en-US" sz="950" b="1" dirty="0">
                <a:solidFill>
                  <a:srgbClr val="9A5414"/>
                </a:solidFill>
                <a:latin typeface="Space Grotesk" pitchFamily="34" charset="0"/>
                <a:ea typeface="Space Grotesk" pitchFamily="34" charset="-122"/>
                <a:cs typeface="Space Grotesk" pitchFamily="34" charset="-120"/>
              </a:rPr>
              <a:t>E01</a:t>
            </a:r>
            <a:r>
              <a:rPr lang="en-US" sz="950" dirty="0">
                <a:solidFill>
                  <a:srgbClr val="2B211B"/>
                </a:solidFill>
                <a:latin typeface="Space Grotesk" pitchFamily="34" charset="0"/>
                <a:ea typeface="Space Grotesk" pitchFamily="34" charset="-122"/>
                <a:cs typeface="Space Grotesk" pitchFamily="34" charset="-120"/>
              </a:rPr>
              <a:t> : coefficient le plus élevé, sans portée causale.</a:t>
            </a:r>
            <a:endParaRPr lang="en-US" sz="950" dirty="0"/>
          </a:p>
        </p:txBody>
      </p:sp>
      <p:pic>
        <p:nvPicPr>
          <p:cNvPr id="20" name="Image 0" descr="Logo ISM"/>
          <p:cNvPicPr>
            <a:picLocks noChangeAspect="1"/>
          </p:cNvPicPr>
          <p:nvPr/>
        </p:nvPicPr>
        <p:blipFill>
          <a:blip r:embed="rId3"/>
          <a:srcRect l="431" r="431"/>
          <a:stretch/>
        </p:blipFill>
        <p:spPr>
          <a:xfrm>
            <a:off x="812780" y="6223043"/>
            <a:ext cx="279380" cy="279380"/>
          </a:xfrm>
          <a:prstGeom prst="roundRect">
            <a:avLst>
              <a:gd name="adj" fmla="val 13637"/>
            </a:avLst>
          </a:prstGeom>
        </p:spPr>
      </p:pic>
      <p:sp>
        <p:nvSpPr>
          <p:cNvPr id="21" name="Text 18"/>
          <p:cNvSpPr/>
          <p:nvPr/>
        </p:nvSpPr>
        <p:spPr>
          <a:xfrm>
            <a:off x="1193721" y="6256021"/>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2" name="Text 19"/>
          <p:cNvSpPr/>
          <p:nvPr/>
        </p:nvSpPr>
        <p:spPr>
          <a:xfrm>
            <a:off x="10842951" y="6256021"/>
            <a:ext cx="53621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16 / 41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EFE5D3"/>
        </a:solidFill>
        <a:effectLst/>
      </p:bgPr>
    </p:bg>
    <p:spTree>
      <p:nvGrpSpPr>
        <p:cNvPr id="1" name=""/>
        <p:cNvGrpSpPr/>
        <p:nvPr/>
      </p:nvGrpSpPr>
      <p:grpSpPr>
        <a:xfrm>
          <a:off x="0" y="0"/>
          <a:ext cx="0" cy="0"/>
          <a:chOff x="0" y="0"/>
          <a:chExt cx="0" cy="0"/>
        </a:xfrm>
      </p:grpSpPr>
      <p:sp>
        <p:nvSpPr>
          <p:cNvPr id="2" name="Shape 0"/>
          <p:cNvSpPr/>
          <p:nvPr/>
        </p:nvSpPr>
        <p:spPr>
          <a:xfrm>
            <a:off x="812780" y="1993888"/>
            <a:ext cx="101560" cy="2667000"/>
          </a:xfrm>
          <a:prstGeom prst="roundRect">
            <a:avLst>
              <a:gd name="adj" fmla="val 50000"/>
            </a:avLst>
          </a:prstGeom>
          <a:solidFill>
            <a:srgbClr val="E3A23B"/>
          </a:solidFill>
          <a:ln/>
        </p:spPr>
      </p:sp>
      <p:sp>
        <p:nvSpPr>
          <p:cNvPr id="3" name="Text 1"/>
          <p:cNvSpPr/>
          <p:nvPr/>
        </p:nvSpPr>
        <p:spPr>
          <a:xfrm>
            <a:off x="1320701" y="2298688"/>
            <a:ext cx="1036027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9A5414"/>
                </a:solidFill>
                <a:latin typeface="JetBrains Mono" pitchFamily="49" charset="0"/>
                <a:ea typeface="JetBrains Mono" pitchFamily="49" charset="-122"/>
                <a:cs typeface="JetBrains Mono" pitchFamily="49" charset="-120"/>
              </a:rPr>
              <a:t>03</a:t>
            </a:r>
            <a:endParaRPr lang="en-US" sz="6000" dirty="0"/>
          </a:p>
        </p:txBody>
      </p:sp>
      <p:sp>
        <p:nvSpPr>
          <p:cNvPr id="4" name="Text 2"/>
          <p:cNvSpPr>
            <a:spLocks noGrp="1"/>
          </p:cNvSpPr>
          <p:nvPr>
            <p:ph type="title"/>
          </p:nvPr>
        </p:nvSpPr>
        <p:spPr>
          <a:xfrm>
            <a:off x="1320701" y="3213088"/>
            <a:ext cx="10360275"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4A2F20"/>
                </a:solidFill>
                <a:latin typeface="Space Grotesk" pitchFamily="34" charset="0"/>
                <a:ea typeface="Space Grotesk" pitchFamily="34" charset="-122"/>
                <a:cs typeface="Space Grotesk" pitchFamily="34" charset="-120"/>
              </a:rPr>
              <a:t>Évaluer sans se mentir</a:t>
            </a:r>
            <a:endParaRPr lang="en-US" sz="4800" dirty="0"/>
          </a:p>
        </p:txBody>
      </p:sp>
      <p:sp>
        <p:nvSpPr>
          <p:cNvPr id="5" name="Text 3"/>
          <p:cNvSpPr/>
          <p:nvPr/>
        </p:nvSpPr>
        <p:spPr>
          <a:xfrm>
            <a:off x="1320701" y="4036045"/>
            <a:ext cx="10360275"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6B6158"/>
                </a:solidFill>
                <a:latin typeface="Space Grotesk" pitchFamily="34" charset="0"/>
                <a:ea typeface="Space Grotesk" pitchFamily="34" charset="-122"/>
                <a:cs typeface="Space Grotesk" pitchFamily="34" charset="-120"/>
              </a:rPr>
              <a:t>Validation croisée, métriques, seuils, probabilités et fuites.</a:t>
            </a:r>
            <a:endParaRPr lang="en-US" sz="1800" dirty="0"/>
          </a:p>
        </p:txBody>
      </p:sp>
      <p:pic>
        <p:nvPicPr>
          <p:cNvPr id="6"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7" name="Text 4"/>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8" name="Text 5"/>
          <p:cNvSpPr/>
          <p:nvPr/>
        </p:nvSpPr>
        <p:spPr>
          <a:xfrm>
            <a:off x="10851666" y="6256027"/>
            <a:ext cx="52749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17 / 41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La validation croisée en K plis</a:t>
            </a:r>
            <a:endParaRPr lang="en-US" sz="3200" dirty="0"/>
          </a:p>
        </p:txBody>
      </p:sp>
      <p:sp>
        <p:nvSpPr>
          <p:cNvPr id="4" name="Text 2"/>
          <p:cNvSpPr/>
          <p:nvPr/>
        </p:nvSpPr>
        <p:spPr>
          <a:xfrm>
            <a:off x="812780" y="1874403"/>
            <a:ext cx="7492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1</a:t>
            </a:r>
            <a:endParaRPr lang="en-US" sz="1200" dirty="0"/>
          </a:p>
        </p:txBody>
      </p:sp>
      <p:sp>
        <p:nvSpPr>
          <p:cNvPr id="5" name="Text 3"/>
          <p:cNvSpPr/>
          <p:nvPr/>
        </p:nvSpPr>
        <p:spPr>
          <a:xfrm>
            <a:off x="1574721" y="1803326"/>
            <a:ext cx="1668840" cy="355580"/>
          </a:xfrm>
          <a:prstGeom prst="roundRect">
            <a:avLst>
              <a:gd name="adj" fmla="val 14287"/>
            </a:avLst>
          </a:prstGeom>
          <a:solidFill>
            <a:srgbClr val="9A541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pace Grotesk" pitchFamily="34" charset="0"/>
                <a:ea typeface="Space Grotesk" pitchFamily="34" charset="-122"/>
                <a:cs typeface="Space Grotesk" pitchFamily="34" charset="-120"/>
              </a:rPr>
              <a:t>validation</a:t>
            </a:r>
            <a:endParaRPr lang="en-US" sz="1200" dirty="0"/>
          </a:p>
        </p:txBody>
      </p:sp>
      <p:sp>
        <p:nvSpPr>
          <p:cNvPr id="6" name="Text 4"/>
          <p:cNvSpPr/>
          <p:nvPr/>
        </p:nvSpPr>
        <p:spPr>
          <a:xfrm>
            <a:off x="3307021" y="1803326"/>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7" name="Text 5"/>
          <p:cNvSpPr/>
          <p:nvPr/>
        </p:nvSpPr>
        <p:spPr>
          <a:xfrm>
            <a:off x="5039321" y="1803326"/>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8" name="Text 6"/>
          <p:cNvSpPr/>
          <p:nvPr/>
        </p:nvSpPr>
        <p:spPr>
          <a:xfrm>
            <a:off x="6771621" y="1803326"/>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9" name="Text 7"/>
          <p:cNvSpPr/>
          <p:nvPr/>
        </p:nvSpPr>
        <p:spPr>
          <a:xfrm>
            <a:off x="8503920" y="1803326"/>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10" name="Text 8"/>
          <p:cNvSpPr/>
          <p:nvPr/>
        </p:nvSpPr>
        <p:spPr>
          <a:xfrm>
            <a:off x="10236220" y="1803326"/>
            <a:ext cx="1143000" cy="355580"/>
          </a:xfrm>
          <a:prstGeom prst="roundRect">
            <a:avLst>
              <a:gd name="adj" fmla="val 14287"/>
            </a:avLst>
          </a:prstGeom>
          <a:solidFill>
            <a:srgbClr val="C9C3B3"/>
          </a:solidFill>
          <a:ln/>
        </p:spPr>
        <p:txBody>
          <a:bodyPr wrap="square" lIns="0" tIns="0" rIns="0" bIns="0" rtlCol="0" anchor="ctr">
            <a:normAutofit/>
          </a:bodyPr>
          <a:lstStyle/>
          <a:p>
            <a:pPr marL="0" indent="0" algn="ctr">
              <a:lnSpc>
                <a:spcPts val="1680"/>
              </a:lnSpc>
              <a:buNone/>
            </a:pPr>
            <a:r>
              <a:rPr lang="en-US" sz="1200" b="1" dirty="0">
                <a:solidFill>
                  <a:srgbClr val="2B211B"/>
                </a:solidFill>
                <a:latin typeface="Space Grotesk" pitchFamily="34" charset="0"/>
                <a:ea typeface="Space Grotesk" pitchFamily="34" charset="-122"/>
                <a:cs typeface="Space Grotesk" pitchFamily="34" charset="-120"/>
              </a:rPr>
              <a:t>test</a:t>
            </a:r>
            <a:endParaRPr lang="en-US" sz="1200" dirty="0"/>
          </a:p>
        </p:txBody>
      </p:sp>
      <p:sp>
        <p:nvSpPr>
          <p:cNvPr id="11" name="Text 9"/>
          <p:cNvSpPr/>
          <p:nvPr/>
        </p:nvSpPr>
        <p:spPr>
          <a:xfrm>
            <a:off x="812780" y="2318866"/>
            <a:ext cx="7492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2</a:t>
            </a:r>
            <a:endParaRPr lang="en-US" sz="1200" dirty="0"/>
          </a:p>
        </p:txBody>
      </p:sp>
      <p:sp>
        <p:nvSpPr>
          <p:cNvPr id="12" name="Text 10"/>
          <p:cNvSpPr/>
          <p:nvPr/>
        </p:nvSpPr>
        <p:spPr>
          <a:xfrm>
            <a:off x="1574721" y="2247788"/>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13" name="Text 11"/>
          <p:cNvSpPr/>
          <p:nvPr/>
        </p:nvSpPr>
        <p:spPr>
          <a:xfrm>
            <a:off x="3307021" y="2247788"/>
            <a:ext cx="1668840" cy="355580"/>
          </a:xfrm>
          <a:prstGeom prst="roundRect">
            <a:avLst>
              <a:gd name="adj" fmla="val 14287"/>
            </a:avLst>
          </a:prstGeom>
          <a:solidFill>
            <a:srgbClr val="9A541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pace Grotesk" pitchFamily="34" charset="0"/>
                <a:ea typeface="Space Grotesk" pitchFamily="34" charset="-122"/>
                <a:cs typeface="Space Grotesk" pitchFamily="34" charset="-120"/>
              </a:rPr>
              <a:t>validation</a:t>
            </a:r>
            <a:endParaRPr lang="en-US" sz="1200" dirty="0"/>
          </a:p>
        </p:txBody>
      </p:sp>
      <p:sp>
        <p:nvSpPr>
          <p:cNvPr id="14" name="Text 12"/>
          <p:cNvSpPr/>
          <p:nvPr/>
        </p:nvSpPr>
        <p:spPr>
          <a:xfrm>
            <a:off x="5039321" y="2247788"/>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15" name="Text 13"/>
          <p:cNvSpPr/>
          <p:nvPr/>
        </p:nvSpPr>
        <p:spPr>
          <a:xfrm>
            <a:off x="6771621" y="2247788"/>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16" name="Text 14"/>
          <p:cNvSpPr/>
          <p:nvPr/>
        </p:nvSpPr>
        <p:spPr>
          <a:xfrm>
            <a:off x="8503920" y="2247788"/>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17" name="Text 15"/>
          <p:cNvSpPr/>
          <p:nvPr/>
        </p:nvSpPr>
        <p:spPr>
          <a:xfrm>
            <a:off x="10236220" y="2247788"/>
            <a:ext cx="1143000" cy="355580"/>
          </a:xfrm>
          <a:prstGeom prst="roundRect">
            <a:avLst>
              <a:gd name="adj" fmla="val 14287"/>
            </a:avLst>
          </a:prstGeom>
          <a:solidFill>
            <a:srgbClr val="C9C3B3"/>
          </a:solidFill>
          <a:ln/>
        </p:spPr>
        <p:txBody>
          <a:bodyPr wrap="square" lIns="0" tIns="0" rIns="0" bIns="0" rtlCol="0" anchor="ctr">
            <a:normAutofit/>
          </a:bodyPr>
          <a:lstStyle/>
          <a:p>
            <a:pPr marL="0" indent="0" algn="ctr">
              <a:lnSpc>
                <a:spcPts val="1680"/>
              </a:lnSpc>
              <a:buNone/>
            </a:pPr>
            <a:r>
              <a:rPr lang="en-US" sz="1200" b="1" dirty="0">
                <a:solidFill>
                  <a:srgbClr val="2B211B"/>
                </a:solidFill>
                <a:latin typeface="Space Grotesk" pitchFamily="34" charset="0"/>
                <a:ea typeface="Space Grotesk" pitchFamily="34" charset="-122"/>
                <a:cs typeface="Space Grotesk" pitchFamily="34" charset="-120"/>
              </a:rPr>
              <a:t>test</a:t>
            </a:r>
            <a:endParaRPr lang="en-US" sz="1200" dirty="0"/>
          </a:p>
        </p:txBody>
      </p:sp>
      <p:sp>
        <p:nvSpPr>
          <p:cNvPr id="18" name="Text 16"/>
          <p:cNvSpPr/>
          <p:nvPr/>
        </p:nvSpPr>
        <p:spPr>
          <a:xfrm>
            <a:off x="812780" y="2763329"/>
            <a:ext cx="7492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3</a:t>
            </a:r>
            <a:endParaRPr lang="en-US" sz="1200" dirty="0"/>
          </a:p>
        </p:txBody>
      </p:sp>
      <p:sp>
        <p:nvSpPr>
          <p:cNvPr id="19" name="Text 17"/>
          <p:cNvSpPr/>
          <p:nvPr/>
        </p:nvSpPr>
        <p:spPr>
          <a:xfrm>
            <a:off x="1574721" y="2692251"/>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20" name="Text 18"/>
          <p:cNvSpPr/>
          <p:nvPr/>
        </p:nvSpPr>
        <p:spPr>
          <a:xfrm>
            <a:off x="3307021" y="2692251"/>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21" name="Text 19"/>
          <p:cNvSpPr/>
          <p:nvPr/>
        </p:nvSpPr>
        <p:spPr>
          <a:xfrm>
            <a:off x="5039321" y="2692251"/>
            <a:ext cx="1668840" cy="355580"/>
          </a:xfrm>
          <a:prstGeom prst="roundRect">
            <a:avLst>
              <a:gd name="adj" fmla="val 14287"/>
            </a:avLst>
          </a:prstGeom>
          <a:solidFill>
            <a:srgbClr val="9A541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pace Grotesk" pitchFamily="34" charset="0"/>
                <a:ea typeface="Space Grotesk" pitchFamily="34" charset="-122"/>
                <a:cs typeface="Space Grotesk" pitchFamily="34" charset="-120"/>
              </a:rPr>
              <a:t>validation</a:t>
            </a:r>
            <a:endParaRPr lang="en-US" sz="1200" dirty="0"/>
          </a:p>
        </p:txBody>
      </p:sp>
      <p:sp>
        <p:nvSpPr>
          <p:cNvPr id="22" name="Text 20"/>
          <p:cNvSpPr/>
          <p:nvPr/>
        </p:nvSpPr>
        <p:spPr>
          <a:xfrm>
            <a:off x="6771621" y="2692251"/>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23" name="Text 21"/>
          <p:cNvSpPr/>
          <p:nvPr/>
        </p:nvSpPr>
        <p:spPr>
          <a:xfrm>
            <a:off x="8503920" y="2692251"/>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24" name="Text 22"/>
          <p:cNvSpPr/>
          <p:nvPr/>
        </p:nvSpPr>
        <p:spPr>
          <a:xfrm>
            <a:off x="10236220" y="2692251"/>
            <a:ext cx="1143000" cy="355580"/>
          </a:xfrm>
          <a:prstGeom prst="roundRect">
            <a:avLst>
              <a:gd name="adj" fmla="val 14287"/>
            </a:avLst>
          </a:prstGeom>
          <a:solidFill>
            <a:srgbClr val="C9C3B3"/>
          </a:solidFill>
          <a:ln/>
        </p:spPr>
        <p:txBody>
          <a:bodyPr wrap="square" lIns="0" tIns="0" rIns="0" bIns="0" rtlCol="0" anchor="ctr">
            <a:normAutofit/>
          </a:bodyPr>
          <a:lstStyle/>
          <a:p>
            <a:pPr marL="0" indent="0" algn="ctr">
              <a:lnSpc>
                <a:spcPts val="1680"/>
              </a:lnSpc>
              <a:buNone/>
            </a:pPr>
            <a:r>
              <a:rPr lang="en-US" sz="1200" b="1" dirty="0">
                <a:solidFill>
                  <a:srgbClr val="2B211B"/>
                </a:solidFill>
                <a:latin typeface="Space Grotesk" pitchFamily="34" charset="0"/>
                <a:ea typeface="Space Grotesk" pitchFamily="34" charset="-122"/>
                <a:cs typeface="Space Grotesk" pitchFamily="34" charset="-120"/>
              </a:rPr>
              <a:t>test</a:t>
            </a:r>
            <a:endParaRPr lang="en-US" sz="1200" dirty="0"/>
          </a:p>
        </p:txBody>
      </p:sp>
      <p:sp>
        <p:nvSpPr>
          <p:cNvPr id="25" name="Text 23"/>
          <p:cNvSpPr/>
          <p:nvPr/>
        </p:nvSpPr>
        <p:spPr>
          <a:xfrm>
            <a:off x="812780" y="3207792"/>
            <a:ext cx="7492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4</a:t>
            </a:r>
            <a:endParaRPr lang="en-US" sz="1200" dirty="0"/>
          </a:p>
        </p:txBody>
      </p:sp>
      <p:sp>
        <p:nvSpPr>
          <p:cNvPr id="26" name="Text 24"/>
          <p:cNvSpPr/>
          <p:nvPr/>
        </p:nvSpPr>
        <p:spPr>
          <a:xfrm>
            <a:off x="1574721" y="3136702"/>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27" name="Text 25"/>
          <p:cNvSpPr/>
          <p:nvPr/>
        </p:nvSpPr>
        <p:spPr>
          <a:xfrm>
            <a:off x="3307021" y="3136702"/>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28" name="Text 26"/>
          <p:cNvSpPr/>
          <p:nvPr/>
        </p:nvSpPr>
        <p:spPr>
          <a:xfrm>
            <a:off x="5039321" y="3136702"/>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29" name="Text 27"/>
          <p:cNvSpPr/>
          <p:nvPr/>
        </p:nvSpPr>
        <p:spPr>
          <a:xfrm>
            <a:off x="6771621" y="3136702"/>
            <a:ext cx="1668840" cy="355580"/>
          </a:xfrm>
          <a:prstGeom prst="roundRect">
            <a:avLst>
              <a:gd name="adj" fmla="val 14287"/>
            </a:avLst>
          </a:prstGeom>
          <a:solidFill>
            <a:srgbClr val="9A541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pace Grotesk" pitchFamily="34" charset="0"/>
                <a:ea typeface="Space Grotesk" pitchFamily="34" charset="-122"/>
                <a:cs typeface="Space Grotesk" pitchFamily="34" charset="-120"/>
              </a:rPr>
              <a:t>validation</a:t>
            </a:r>
            <a:endParaRPr lang="en-US" sz="1200" dirty="0"/>
          </a:p>
        </p:txBody>
      </p:sp>
      <p:sp>
        <p:nvSpPr>
          <p:cNvPr id="30" name="Text 28"/>
          <p:cNvSpPr/>
          <p:nvPr/>
        </p:nvSpPr>
        <p:spPr>
          <a:xfrm>
            <a:off x="8503920" y="3136702"/>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31" name="Text 29"/>
          <p:cNvSpPr/>
          <p:nvPr/>
        </p:nvSpPr>
        <p:spPr>
          <a:xfrm>
            <a:off x="10236220" y="3136702"/>
            <a:ext cx="1143000" cy="355580"/>
          </a:xfrm>
          <a:prstGeom prst="roundRect">
            <a:avLst>
              <a:gd name="adj" fmla="val 14287"/>
            </a:avLst>
          </a:prstGeom>
          <a:solidFill>
            <a:srgbClr val="C9C3B3"/>
          </a:solidFill>
          <a:ln/>
        </p:spPr>
        <p:txBody>
          <a:bodyPr wrap="square" lIns="0" tIns="0" rIns="0" bIns="0" rtlCol="0" anchor="ctr">
            <a:normAutofit/>
          </a:bodyPr>
          <a:lstStyle/>
          <a:p>
            <a:pPr marL="0" indent="0" algn="ctr">
              <a:lnSpc>
                <a:spcPts val="1680"/>
              </a:lnSpc>
              <a:buNone/>
            </a:pPr>
            <a:r>
              <a:rPr lang="en-US" sz="1200" b="1" dirty="0">
                <a:solidFill>
                  <a:srgbClr val="2B211B"/>
                </a:solidFill>
                <a:latin typeface="Space Grotesk" pitchFamily="34" charset="0"/>
                <a:ea typeface="Space Grotesk" pitchFamily="34" charset="-122"/>
                <a:cs typeface="Space Grotesk" pitchFamily="34" charset="-120"/>
              </a:rPr>
              <a:t>test</a:t>
            </a:r>
            <a:endParaRPr lang="en-US" sz="1200" dirty="0"/>
          </a:p>
        </p:txBody>
      </p:sp>
      <p:sp>
        <p:nvSpPr>
          <p:cNvPr id="32" name="Text 30"/>
          <p:cNvSpPr/>
          <p:nvPr/>
        </p:nvSpPr>
        <p:spPr>
          <a:xfrm>
            <a:off x="812780" y="3652242"/>
            <a:ext cx="7492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5</a:t>
            </a:r>
            <a:endParaRPr lang="en-US" sz="1200" dirty="0"/>
          </a:p>
        </p:txBody>
      </p:sp>
      <p:sp>
        <p:nvSpPr>
          <p:cNvPr id="33" name="Text 31"/>
          <p:cNvSpPr/>
          <p:nvPr/>
        </p:nvSpPr>
        <p:spPr>
          <a:xfrm>
            <a:off x="1574721" y="3581164"/>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34" name="Text 32"/>
          <p:cNvSpPr/>
          <p:nvPr/>
        </p:nvSpPr>
        <p:spPr>
          <a:xfrm>
            <a:off x="3307021" y="3581164"/>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35" name="Text 33"/>
          <p:cNvSpPr/>
          <p:nvPr/>
        </p:nvSpPr>
        <p:spPr>
          <a:xfrm>
            <a:off x="5039321" y="3581164"/>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36" name="Text 34"/>
          <p:cNvSpPr/>
          <p:nvPr/>
        </p:nvSpPr>
        <p:spPr>
          <a:xfrm>
            <a:off x="6771621" y="3581164"/>
            <a:ext cx="1668840" cy="355580"/>
          </a:xfrm>
          <a:prstGeom prst="roundRect">
            <a:avLst>
              <a:gd name="adj" fmla="val 14287"/>
            </a:avLst>
          </a:prstGeom>
          <a:solidFill>
            <a:srgbClr val="FFFFFF"/>
          </a:solidFill>
          <a:ln/>
        </p:spPr>
        <p:txBody>
          <a:bodyPr wrap="square" lIns="0" tIns="0" rIns="0" bIns="0" rtlCol="0" anchor="ctr">
            <a:normAutofit/>
          </a:bodyPr>
          <a:lstStyle/>
          <a:p>
            <a:pPr marL="0" indent="0" algn="ctr">
              <a:lnSpc>
                <a:spcPts val="1680"/>
              </a:lnSpc>
              <a:buNone/>
            </a:pPr>
            <a:r>
              <a:rPr lang="en-US" sz="1200" b="1" dirty="0">
                <a:solidFill>
                  <a:srgbClr val="6B6158"/>
                </a:solidFill>
                <a:latin typeface="Space Grotesk" pitchFamily="34" charset="0"/>
                <a:ea typeface="Space Grotesk" pitchFamily="34" charset="-122"/>
                <a:cs typeface="Space Grotesk" pitchFamily="34" charset="-120"/>
              </a:rPr>
              <a:t>entraînement</a:t>
            </a:r>
            <a:endParaRPr lang="en-US" sz="1200" dirty="0"/>
          </a:p>
        </p:txBody>
      </p:sp>
      <p:sp>
        <p:nvSpPr>
          <p:cNvPr id="37" name="Text 35"/>
          <p:cNvSpPr/>
          <p:nvPr/>
        </p:nvSpPr>
        <p:spPr>
          <a:xfrm>
            <a:off x="8503920" y="3581164"/>
            <a:ext cx="1668840" cy="355580"/>
          </a:xfrm>
          <a:prstGeom prst="roundRect">
            <a:avLst>
              <a:gd name="adj" fmla="val 14287"/>
            </a:avLst>
          </a:prstGeom>
          <a:solidFill>
            <a:srgbClr val="9A541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pace Grotesk" pitchFamily="34" charset="0"/>
                <a:ea typeface="Space Grotesk" pitchFamily="34" charset="-122"/>
                <a:cs typeface="Space Grotesk" pitchFamily="34" charset="-120"/>
              </a:rPr>
              <a:t>validation</a:t>
            </a:r>
            <a:endParaRPr lang="en-US" sz="1200" dirty="0"/>
          </a:p>
        </p:txBody>
      </p:sp>
      <p:sp>
        <p:nvSpPr>
          <p:cNvPr id="38" name="Text 36"/>
          <p:cNvSpPr/>
          <p:nvPr/>
        </p:nvSpPr>
        <p:spPr>
          <a:xfrm>
            <a:off x="10236220" y="3581164"/>
            <a:ext cx="1143000" cy="355580"/>
          </a:xfrm>
          <a:prstGeom prst="roundRect">
            <a:avLst>
              <a:gd name="adj" fmla="val 14287"/>
            </a:avLst>
          </a:prstGeom>
          <a:solidFill>
            <a:srgbClr val="C9C3B3"/>
          </a:solidFill>
          <a:ln/>
        </p:spPr>
        <p:txBody>
          <a:bodyPr wrap="square" lIns="0" tIns="0" rIns="0" bIns="0" rtlCol="0" anchor="ctr">
            <a:normAutofit/>
          </a:bodyPr>
          <a:lstStyle/>
          <a:p>
            <a:pPr marL="0" indent="0" algn="ctr">
              <a:lnSpc>
                <a:spcPts val="1680"/>
              </a:lnSpc>
              <a:buNone/>
            </a:pPr>
            <a:r>
              <a:rPr lang="en-US" sz="1200" b="1" dirty="0">
                <a:solidFill>
                  <a:srgbClr val="2B211B"/>
                </a:solidFill>
                <a:latin typeface="Space Grotesk" pitchFamily="34" charset="0"/>
                <a:ea typeface="Space Grotesk" pitchFamily="34" charset="-122"/>
                <a:cs typeface="Space Grotesk" pitchFamily="34" charset="-120"/>
              </a:rPr>
              <a:t>test</a:t>
            </a:r>
            <a:endParaRPr lang="en-US" sz="1200" dirty="0"/>
          </a:p>
        </p:txBody>
      </p:sp>
      <p:sp>
        <p:nvSpPr>
          <p:cNvPr id="39" name="Text 37"/>
          <p:cNvSpPr/>
          <p:nvPr/>
        </p:nvSpPr>
        <p:spPr>
          <a:xfrm>
            <a:off x="812780" y="4025627"/>
            <a:ext cx="600735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B211B"/>
                </a:solidFill>
                <a:latin typeface="Space Grotesk" pitchFamily="34" charset="0"/>
                <a:ea typeface="Space Grotesk" pitchFamily="34" charset="-122"/>
                <a:cs typeface="Space Grotesk" pitchFamily="34" charset="-120"/>
              </a:rPr>
              <a:t>Score final = </a:t>
            </a:r>
            <a:r>
              <a:rPr lang="en-US" sz="1500" b="1" dirty="0">
                <a:solidFill>
                  <a:srgbClr val="9A5414"/>
                </a:solidFill>
                <a:latin typeface="Space Grotesk" pitchFamily="34" charset="0"/>
                <a:ea typeface="Space Grotesk" pitchFamily="34" charset="-122"/>
                <a:cs typeface="Space Grotesk" pitchFamily="34" charset="-120"/>
              </a:rPr>
              <a:t>moyenne ± écart-type</a:t>
            </a:r>
            <a:r>
              <a:rPr lang="en-US" sz="1500" dirty="0">
                <a:solidFill>
                  <a:srgbClr val="2B211B"/>
                </a:solidFill>
                <a:latin typeface="Space Grotesk" pitchFamily="34" charset="0"/>
                <a:ea typeface="Space Grotesk" pitchFamily="34" charset="-122"/>
                <a:cs typeface="Space Grotesk" pitchFamily="34" charset="-120"/>
              </a:rPr>
              <a:t> des 5 scores de validation.</a:t>
            </a:r>
            <a:endParaRPr lang="en-US" sz="1500" dirty="0"/>
          </a:p>
        </p:txBody>
      </p:sp>
      <p:sp>
        <p:nvSpPr>
          <p:cNvPr id="40" name="Text 38"/>
          <p:cNvSpPr/>
          <p:nvPr/>
        </p:nvSpPr>
        <p:spPr>
          <a:xfrm>
            <a:off x="6820139" y="4025627"/>
            <a:ext cx="24318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6B6158"/>
                </a:solidFill>
                <a:latin typeface="Space Grotesk" pitchFamily="34" charset="0"/>
                <a:ea typeface="Space Grotesk" pitchFamily="34" charset="-122"/>
                <a:cs typeface="Space Grotesk" pitchFamily="34" charset="-120"/>
              </a:rPr>
              <a:t>Le test reste sous clé.</a:t>
            </a:r>
            <a:endParaRPr lang="en-US" sz="1500" dirty="0"/>
          </a:p>
        </p:txBody>
      </p:sp>
      <p:pic>
        <p:nvPicPr>
          <p:cNvPr id="41"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42" name="Text 39"/>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43" name="Text 40"/>
          <p:cNvSpPr/>
          <p:nvPr/>
        </p:nvSpPr>
        <p:spPr>
          <a:xfrm>
            <a:off x="10840879" y="6256027"/>
            <a:ext cx="538282"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18 / 41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Comparer des modèles en validation croisée</a:t>
            </a:r>
            <a:endParaRPr lang="en-US" sz="3200" dirty="0"/>
          </a:p>
        </p:txBody>
      </p:sp>
      <p:sp>
        <p:nvSpPr>
          <p:cNvPr id="4" name="Shape 2"/>
          <p:cNvSpPr/>
          <p:nvPr/>
        </p:nvSpPr>
        <p:spPr>
          <a:xfrm>
            <a:off x="819130" y="1809676"/>
            <a:ext cx="10553740" cy="205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sklearn.model_selection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cross_validate, KFold</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sklearn.ensemble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RandomForestRegressor, HistGradientBoostingRegressor</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cv = KFold(n_splits=5, shuffle=</a:t>
            </a:r>
            <a:r>
              <a:rPr lang="en-US" sz="900" b="1" dirty="0">
                <a:solidFill>
                  <a:srgbClr val="9A3D0A"/>
                </a:solidFill>
                <a:latin typeface="JetBrains Mono" pitchFamily="49" charset="0"/>
                <a:ea typeface="JetBrains Mono" pitchFamily="49" charset="-122"/>
                <a:cs typeface="JetBrains Mono" pitchFamily="49" charset="-120"/>
              </a:rPr>
              <a:t>True</a:t>
            </a:r>
            <a:r>
              <a:rPr lang="en-US" sz="900" dirty="0">
                <a:solidFill>
                  <a:srgbClr val="2B211B"/>
                </a:solidFill>
                <a:latin typeface="JetBrains Mono" pitchFamily="49" charset="0"/>
                <a:ea typeface="JetBrains Mono" pitchFamily="49" charset="-122"/>
                <a:cs typeface="JetBrains Mono" pitchFamily="49" charset="-120"/>
              </a:rPr>
              <a:t>, random_state=42)</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candidats = {</a:t>
            </a:r>
            <a:r>
              <a:rPr lang="en-US" sz="900" dirty="0">
                <a:solidFill>
                  <a:srgbClr val="2C6E3F"/>
                </a:solidFill>
                <a:latin typeface="JetBrains Mono" pitchFamily="49" charset="0"/>
                <a:ea typeface="JetBrains Mono" pitchFamily="49" charset="-122"/>
                <a:cs typeface="JetBrains Mono" pitchFamily="49" charset="-120"/>
              </a:rPr>
              <a:t>"Ridge (log)"</a:t>
            </a:r>
            <a:r>
              <a:rPr lang="en-US" sz="900" dirty="0">
                <a:solidFill>
                  <a:srgbClr val="2B211B"/>
                </a:solidFill>
                <a:latin typeface="JetBrains Mono" pitchFamily="49" charset="0"/>
                <a:ea typeface="JetBrains Mono" pitchFamily="49" charset="-122"/>
                <a:cs typeface="JetBrains Mono" pitchFamily="49" charset="-120"/>
              </a:rPr>
              <a:t>: modele_log,</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"Forêt aléatoire"</a:t>
            </a:r>
            <a:r>
              <a:rPr lang="en-US" sz="900" dirty="0">
                <a:solidFill>
                  <a:srgbClr val="2B211B"/>
                </a:solidFill>
                <a:latin typeface="JetBrains Mono" pitchFamily="49" charset="0"/>
                <a:ea typeface="JetBrains Mono" pitchFamily="49" charset="-122"/>
                <a:cs typeface="JetBrains Mono" pitchFamily="49" charset="-120"/>
              </a:rPr>
              <a:t>: make_pipeline(prep, RandomForestRegressor(300, random_state=42)),</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"Gradient boosting"</a:t>
            </a:r>
            <a:r>
              <a:rPr lang="en-US" sz="900" dirty="0">
                <a:solidFill>
                  <a:srgbClr val="2B211B"/>
                </a:solidFill>
                <a:latin typeface="JetBrains Mono" pitchFamily="49" charset="0"/>
                <a:ea typeface="JetBrains Mono" pitchFamily="49" charset="-122"/>
                <a:cs typeface="JetBrains Mono" pitchFamily="49" charset="-120"/>
              </a:rPr>
              <a:t>: make_pipeline(prep, HistGradientBoostingRegressor(random_state=42))}</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for</a:t>
            </a:r>
            <a:r>
              <a:rPr lang="en-US" sz="900" dirty="0">
                <a:solidFill>
                  <a:srgbClr val="2B211B"/>
                </a:solidFill>
                <a:latin typeface="JetBrains Mono" pitchFamily="49" charset="0"/>
                <a:ea typeface="JetBrains Mono" pitchFamily="49" charset="-122"/>
                <a:cs typeface="JetBrains Mono" pitchFamily="49" charset="-120"/>
              </a:rPr>
              <a:t> nom, m </a:t>
            </a:r>
            <a:r>
              <a:rPr lang="en-US" sz="900" b="1" dirty="0">
                <a:solidFill>
                  <a:srgbClr val="9A3D0A"/>
                </a:solidFill>
                <a:latin typeface="JetBrains Mono" pitchFamily="49" charset="0"/>
                <a:ea typeface="JetBrains Mono" pitchFamily="49" charset="-122"/>
                <a:cs typeface="JetBrains Mono" pitchFamily="49" charset="-120"/>
              </a:rPr>
              <a:t>in</a:t>
            </a:r>
            <a:r>
              <a:rPr lang="en-US" sz="900" dirty="0">
                <a:solidFill>
                  <a:srgbClr val="2B211B"/>
                </a:solidFill>
                <a:latin typeface="JetBrains Mono" pitchFamily="49" charset="0"/>
                <a:ea typeface="JetBrains Mono" pitchFamily="49" charset="-122"/>
                <a:cs typeface="JetBrains Mono" pitchFamily="49" charset="-120"/>
              </a:rPr>
              <a:t> candidats.items():</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s = cross_validate(m, X_train, y_train, cv=cv, scoring=</a:t>
            </a:r>
            <a:r>
              <a:rPr lang="en-US" sz="900" dirty="0">
                <a:solidFill>
                  <a:srgbClr val="2C6E3F"/>
                </a:solidFill>
                <a:latin typeface="JetBrains Mono" pitchFamily="49" charset="0"/>
                <a:ea typeface="JetBrains Mono" pitchFamily="49" charset="-122"/>
                <a:cs typeface="JetBrains Mono" pitchFamily="49" charset="-120"/>
              </a:rPr>
              <a:t>"neg_mean_absolute_error"</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mae = -s[</a:t>
            </a:r>
            <a:r>
              <a:rPr lang="en-US" sz="900" dirty="0">
                <a:solidFill>
                  <a:srgbClr val="2C6E3F"/>
                </a:solidFill>
                <a:latin typeface="JetBrains Mono" pitchFamily="49" charset="0"/>
                <a:ea typeface="JetBrains Mono" pitchFamily="49" charset="-122"/>
                <a:cs typeface="JetBrains Mono" pitchFamily="49" charset="-120"/>
              </a:rPr>
              <a:t>"test_score"</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4" name="Text 12"/>
          <p:cNvSpPr/>
          <p:nvPr/>
        </p:nvSpPr>
        <p:spPr>
          <a:xfrm>
            <a:off x="1027390" y="362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print(</a:t>
            </a:r>
            <a:r>
              <a:rPr lang="en-US" sz="900" dirty="0">
                <a:solidFill>
                  <a:srgbClr val="2C6E3F"/>
                </a:solidFill>
                <a:latin typeface="JetBrains Mono" pitchFamily="49" charset="0"/>
                <a:ea typeface="JetBrains Mono" pitchFamily="49" charset="-122"/>
                <a:cs typeface="JetBrains Mono" pitchFamily="49" charset="-120"/>
              </a:rPr>
              <a:t>f"{nom:18} MAE = {mae.mean():&gt;7,.0f} ± {mae.std():&gt;5,.0f}"</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5" name="Shape 13"/>
          <p:cNvSpPr/>
          <p:nvPr/>
        </p:nvSpPr>
        <p:spPr>
          <a:xfrm>
            <a:off x="812780" y="3915000"/>
            <a:ext cx="4165580" cy="770000"/>
          </a:xfrm>
          <a:prstGeom prst="roundRect">
            <a:avLst>
              <a:gd name="adj" fmla="val 29167"/>
            </a:avLst>
          </a:prstGeom>
          <a:solidFill>
            <a:srgbClr val="ECE6D8"/>
          </a:solidFill>
          <a:ln/>
        </p:spPr>
      </p:sp>
      <p:sp>
        <p:nvSpPr>
          <p:cNvPr id="16" name="Shape 14"/>
          <p:cNvSpPr/>
          <p:nvPr/>
        </p:nvSpPr>
        <p:spPr>
          <a:xfrm>
            <a:off x="812780" y="3915000"/>
            <a:ext cx="4165580" cy="770000"/>
          </a:xfrm>
          <a:custGeom>
            <a:avLst/>
            <a:gdLst/>
            <a:ahLst/>
            <a:cxnLst/>
            <a:rect l="l" t="t" r="r" b="b"/>
            <a:pathLst>
              <a:path w="416558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7" name="Text 15"/>
          <p:cNvSpPr/>
          <p:nvPr/>
        </p:nvSpPr>
        <p:spPr>
          <a:xfrm>
            <a:off x="1065490" y="3955000"/>
            <a:ext cx="3820981"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Ridge (log)        MAE =  47,667 ± 2,532</a:t>
            </a:r>
            <a:endParaRPr lang="en-US" sz="950" dirty="0"/>
          </a:p>
        </p:txBody>
      </p:sp>
      <p:sp>
        <p:nvSpPr>
          <p:cNvPr id="18" name="Text 16"/>
          <p:cNvSpPr/>
          <p:nvPr/>
        </p:nvSpPr>
        <p:spPr>
          <a:xfrm>
            <a:off x="1065490" y="4125000"/>
            <a:ext cx="3820981"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Forêt aléatoire    MAE =  52,291 ± 3,304</a:t>
            </a:r>
            <a:endParaRPr lang="en-US" sz="950" dirty="0"/>
          </a:p>
        </p:txBody>
      </p:sp>
      <p:sp>
        <p:nvSpPr>
          <p:cNvPr id="19" name="Text 17"/>
          <p:cNvSpPr/>
          <p:nvPr/>
        </p:nvSpPr>
        <p:spPr>
          <a:xfrm>
            <a:off x="1065490" y="4295000"/>
            <a:ext cx="3820981"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Gradient boosting  MAE =  53,374 ± 3,041</a:t>
            </a:r>
            <a:endParaRPr lang="en-US" sz="950" dirty="0"/>
          </a:p>
        </p:txBody>
      </p:sp>
      <p:sp>
        <p:nvSpPr>
          <p:cNvPr id="20" name="Text 18"/>
          <p:cNvSpPr/>
          <p:nvPr/>
        </p:nvSpPr>
        <p:spPr>
          <a:xfrm>
            <a:off x="5232321" y="4465000"/>
            <a:ext cx="6331307"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Le modèle </a:t>
            </a:r>
            <a:r>
              <a:rPr lang="en-US" sz="950" b="1" dirty="0">
                <a:solidFill>
                  <a:srgbClr val="9A5414"/>
                </a:solidFill>
                <a:latin typeface="Space Grotesk" pitchFamily="34" charset="0"/>
                <a:ea typeface="Space Grotesk" pitchFamily="34" charset="-122"/>
                <a:cs typeface="Space Grotesk" pitchFamily="34" charset="-120"/>
              </a:rPr>
              <a:t>le plus simple gagne</a:t>
            </a:r>
            <a:r>
              <a:rPr lang="en-US" sz="950" dirty="0">
                <a:solidFill>
                  <a:srgbClr val="2B211B"/>
                </a:solidFill>
                <a:latin typeface="Space Grotesk" pitchFamily="34" charset="0"/>
                <a:ea typeface="Space Grotesk" pitchFamily="34" charset="-122"/>
                <a:cs typeface="Space Grotesk" pitchFamily="34" charset="-120"/>
              </a:rPr>
              <a:t> : la puissance ne remplace pas une bonne préparation.</a:t>
            </a:r>
            <a:endParaRPr lang="en-US" sz="950" dirty="0"/>
          </a:p>
        </p:txBody>
      </p:sp>
      <p:pic>
        <p:nvPicPr>
          <p:cNvPr id="21"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22" name="Text 19"/>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3" name="Text 20"/>
          <p:cNvSpPr/>
          <p:nvPr/>
        </p:nvSpPr>
        <p:spPr>
          <a:xfrm>
            <a:off x="10842951" y="6256027"/>
            <a:ext cx="53621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19 / 41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Choisir sa métrique de régression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814756"/>
          <a:ext cx="10554950" cy="2779395"/>
        </p:xfrm>
        <a:graphic>
          <a:graphicData uri="http://schemas.openxmlformats.org/drawingml/2006/table">
            <a:tbl>
              <a:tblPr/>
              <a:tblGrid>
                <a:gridCol w="1688792">
                  <a:extLst>
                    <a:ext uri="{9D8B030D-6E8A-4147-A177-3AD203B41FA5}">
                      <a16:colId xmlns:a16="http://schemas.microsoft.com/office/drawing/2014/main" val="20000"/>
                    </a:ext>
                  </a:extLst>
                </a:gridCol>
                <a:gridCol w="4433079">
                  <a:extLst>
                    <a:ext uri="{9D8B030D-6E8A-4147-A177-3AD203B41FA5}">
                      <a16:colId xmlns:a16="http://schemas.microsoft.com/office/drawing/2014/main" val="20001"/>
                    </a:ext>
                  </a:extLst>
                </a:gridCol>
                <a:gridCol w="4433079">
                  <a:extLst>
                    <a:ext uri="{9D8B030D-6E8A-4147-A177-3AD203B41FA5}">
                      <a16:colId xmlns:a16="http://schemas.microsoft.com/office/drawing/2014/main" val="20002"/>
                    </a:ext>
                  </a:extLst>
                </a:gridCol>
              </a:tblGrid>
              <a:tr h="498991">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Métrique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Formule simplifiée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Quand l'utiliser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extLst>
                  <a:ext uri="{0D108BD9-81ED-4DB2-BD59-A6C34878D82A}">
                    <a16:rowId xmlns:a16="http://schemas.microsoft.com/office/drawing/2014/main" val="10000"/>
                  </a:ext>
                </a:extLst>
              </a:tr>
              <a:tr h="49899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MAE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moyenne de |y − ŷ|</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Erreur lisible, dans l'unité de y, robuste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9899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RMSE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racine de la moyenne de (y − ŷ)²</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Pénalise fortement les grosses erreurs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78343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R²</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1 − erreur du modèle / erreur de la moyenne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Part de variance expliquée, sans unité</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98991">
                <a:tc>
                  <a:txBody>
                    <a:bodyPr/>
                    <a:lstStyle/>
                    <a:p>
                      <a:pPr marL="0" indent="0">
                        <a:lnSpc>
                          <a:spcPts val="2240"/>
                        </a:lnSpc>
                        <a:buNone/>
                      </a:pPr>
                      <a:r>
                        <a:rPr lang="en-US" sz="1600" dirty="0">
                          <a:solidFill>
                            <a:srgbClr val="9A5414"/>
                          </a:solidFill>
                          <a:latin typeface="Space Grotesk" pitchFamily="34" charset="0"/>
                          <a:ea typeface="Space Grotesk" pitchFamily="34" charset="-122"/>
                          <a:cs typeface="Space Grotesk" pitchFamily="34" charset="-120"/>
                        </a:rPr>
                        <a:t>MAPE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moyenne de |y − ŷ| / |y|</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Erreur relative ; instable si y ≈ 0</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780" y="4746551"/>
            <a:ext cx="10566440" cy="553700"/>
          </a:xfrm>
          <a:prstGeom prst="roundRect">
            <a:avLst>
              <a:gd name="adj" fmla="val 18349"/>
            </a:avLst>
          </a:prstGeom>
          <a:solidFill>
            <a:srgbClr val="FFFFFF"/>
          </a:solidFill>
          <a:ln/>
        </p:spPr>
        <p:txBody>
          <a:bodyPr wrap="square" lIns="222953" tIns="122642" rIns="0"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Dans scikit-learn, un score est toujours </a:t>
            </a:r>
            <a:r>
              <a:rPr lang="en-US" sz="1400" b="1" dirty="0">
                <a:solidFill>
                  <a:srgbClr val="2B211B"/>
                </a:solidFill>
                <a:latin typeface="Space Grotesk" pitchFamily="34" charset="0"/>
                <a:ea typeface="Space Grotesk" pitchFamily="34" charset="-122"/>
                <a:cs typeface="Space Grotesk" pitchFamily="34" charset="-120"/>
              </a:rPr>
              <a:t>à maximiser</a:t>
            </a:r>
            <a:r>
              <a:rPr lang="en-US" sz="1400" dirty="0">
                <a:solidFill>
                  <a:srgbClr val="2B211B"/>
                </a:solidFill>
                <a:latin typeface="Space Grotesk" pitchFamily="34" charset="0"/>
                <a:ea typeface="Space Grotesk" pitchFamily="34" charset="-122"/>
                <a:cs typeface="Space Grotesk" pitchFamily="34" charset="-120"/>
              </a:rPr>
              <a:t> : d'où </a:t>
            </a:r>
            <a:r>
              <a:rPr lang="en-US" sz="1400" b="1" dirty="0">
                <a:solidFill>
                  <a:srgbClr val="9A5414"/>
                </a:solidFill>
                <a:latin typeface="Space Grotesk" pitchFamily="34" charset="0"/>
                <a:ea typeface="Space Grotesk" pitchFamily="34" charset="-122"/>
                <a:cs typeface="Space Grotesk" pitchFamily="34" charset="-120"/>
              </a:rPr>
              <a:t>neg_mean_absolute_error</a:t>
            </a:r>
            <a:r>
              <a:rPr lang="en-US" sz="1400" dirty="0">
                <a:solidFill>
                  <a:srgbClr val="2B211B"/>
                </a:solidFill>
                <a:latin typeface="Space Grotesk" pitchFamily="34" charset="0"/>
                <a:ea typeface="Space Grotesk" pitchFamily="34" charset="-122"/>
                <a:cs typeface="Space Grotesk" pitchFamily="34" charset="-120"/>
              </a:rPr>
              <a:t>.</a:t>
            </a:r>
            <a:endParaRPr lang="en-US" sz="1400" dirty="0"/>
          </a:p>
        </p:txBody>
      </p:sp>
      <p:sp>
        <p:nvSpPr>
          <p:cNvPr id="6" name="Shape 3"/>
          <p:cNvSpPr/>
          <p:nvPr/>
        </p:nvSpPr>
        <p:spPr>
          <a:xfrm>
            <a:off x="812780" y="4746551"/>
            <a:ext cx="10566440" cy="553700"/>
          </a:xfrm>
          <a:custGeom>
            <a:avLst/>
            <a:gdLst/>
            <a:ahLst/>
            <a:cxnLst/>
            <a:rect l="l" t="t" r="r" b="b"/>
            <a:pathLst>
              <a:path w="10566440" h="553700">
                <a:moveTo>
                  <a:pt x="101600" y="553700"/>
                </a:moveTo>
                <a:lnTo>
                  <a:pt x="101600" y="553700"/>
                </a:lnTo>
                <a:arcTo wR="101600" hR="101600" stAng="5400000" swAng="5400000"/>
                <a:lnTo>
                  <a:pt x="0" y="101600"/>
                </a:lnTo>
                <a:arcTo wR="101600" hR="101600" stAng="10800000" swAng="5400000"/>
                <a:lnTo>
                  <a:pt x="101600" y="0"/>
                </a:lnTo>
                <a:arcTo wR="50800" hR="101600" stAng="16200000" swAng="-5400000"/>
                <a:lnTo>
                  <a:pt x="50800" y="452100"/>
                </a:lnTo>
                <a:arcTo wR="50800" hR="101600" stAng="10800000" swAng="-5400000"/>
                <a:close/>
              </a:path>
            </a:pathLst>
          </a:custGeom>
          <a:solidFill>
            <a:srgbClr val="E3A23B"/>
          </a:solidFill>
          <a:ln/>
        </p:spPr>
      </p:sp>
      <p:pic>
        <p:nvPicPr>
          <p:cNvPr id="7"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8" name="Text 4"/>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9" name="Text 5"/>
          <p:cNvSpPr/>
          <p:nvPr/>
        </p:nvSpPr>
        <p:spPr>
          <a:xfrm>
            <a:off x="10803803" y="6256027"/>
            <a:ext cx="57535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20 / 41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Classification : au-delà de l'exactitude</a:t>
            </a:r>
            <a:endParaRPr lang="en-US" sz="3200" dirty="0"/>
          </a:p>
        </p:txBody>
      </p:sp>
      <p:sp>
        <p:nvSpPr>
          <p:cNvPr id="4" name="Shape 2"/>
          <p:cNvSpPr/>
          <p:nvPr/>
        </p:nvSpPr>
        <p:spPr>
          <a:xfrm>
            <a:off x="819130" y="1809676"/>
            <a:ext cx="10553740" cy="167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sklearn.datasets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load_breast_cancer</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sklearn.linear_model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LogisticRegression</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sklearn.metrics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classification_report</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Xc, yc = load_breast_cancer(return_X_y=</a:t>
            </a:r>
            <a:r>
              <a:rPr lang="en-US" sz="900" b="1" dirty="0">
                <a:solidFill>
                  <a:srgbClr val="9A3D0A"/>
                </a:solidFill>
                <a:latin typeface="JetBrains Mono" pitchFamily="49" charset="0"/>
                <a:ea typeface="JetBrains Mono" pitchFamily="49" charset="-122"/>
                <a:cs typeface="JetBrains Mono" pitchFamily="49" charset="-120"/>
              </a:rPr>
              <a:t>True</a:t>
            </a:r>
            <a:r>
              <a:rPr lang="en-US" sz="900" dirty="0">
                <a:solidFill>
                  <a:srgbClr val="2B211B"/>
                </a:solidFill>
                <a:latin typeface="JetBrains Mono" pitchFamily="49" charset="0"/>
                <a:ea typeface="JetBrains Mono" pitchFamily="49" charset="-122"/>
                <a:cs typeface="JetBrains Mono" pitchFamily="49" charset="-120"/>
              </a:rPr>
              <a:t>, as_frame=</a:t>
            </a:r>
            <a:r>
              <a:rPr lang="en-US" sz="900" b="1" dirty="0">
                <a:solidFill>
                  <a:srgbClr val="9A3D0A"/>
                </a:solidFill>
                <a:latin typeface="JetBrains Mono" pitchFamily="49" charset="0"/>
                <a:ea typeface="JetBrains Mono" pitchFamily="49" charset="-122"/>
                <a:cs typeface="JetBrains Mono" pitchFamily="49" charset="-120"/>
              </a:rPr>
              <a:t>True</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yc = 1 - yc                                     </a:t>
            </a:r>
            <a:r>
              <a:rPr lang="en-US" sz="900" dirty="0">
                <a:solidFill>
                  <a:srgbClr val="7D7466"/>
                </a:solidFill>
                <a:latin typeface="JetBrains Mono" pitchFamily="49" charset="0"/>
                <a:ea typeface="JetBrains Mono" pitchFamily="49" charset="-122"/>
                <a:cs typeface="JetBrains Mono" pitchFamily="49" charset="-120"/>
              </a:rPr>
              <a:t># 1 = tumeur maligne</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Xc_tr, Xc_te, yc_tr, yc_te = train_test_split(Xc, yc, test_size=0.25, stratify=yc, random_state=42)</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clf = make_pipeline(StandardScaler(), LogisticRegression(max_iter=5000)).fit(Xc_tr, yc_tr)</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print(classification_report(yc_te, clf.predict(Xc_te), target_names=[</a:t>
            </a:r>
            <a:r>
              <a:rPr lang="en-US" sz="900" dirty="0">
                <a:solidFill>
                  <a:srgbClr val="2C6E3F"/>
                </a:solidFill>
                <a:latin typeface="JetBrains Mono" pitchFamily="49" charset="0"/>
                <a:ea typeface="JetBrains Mono" pitchFamily="49" charset="-122"/>
                <a:cs typeface="JetBrains Mono" pitchFamily="49" charset="-120"/>
              </a:rPr>
              <a:t>"bénigne"</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"maligne"</a:t>
            </a:r>
            <a:r>
              <a:rPr lang="en-US" sz="900" dirty="0">
                <a:solidFill>
                  <a:srgbClr val="2B211B"/>
                </a:solidFill>
                <a:latin typeface="JetBrains Mono" pitchFamily="49" charset="0"/>
                <a:ea typeface="JetBrains Mono" pitchFamily="49" charset="-122"/>
                <a:cs typeface="JetBrains Mono" pitchFamily="49" charset="-120"/>
              </a:rPr>
              <a:t>], digits=3))</a:t>
            </a:r>
            <a:endParaRPr lang="en-US" sz="900" dirty="0"/>
          </a:p>
        </p:txBody>
      </p:sp>
      <p:sp>
        <p:nvSpPr>
          <p:cNvPr id="13" name="Shape 11"/>
          <p:cNvSpPr/>
          <p:nvPr/>
        </p:nvSpPr>
        <p:spPr>
          <a:xfrm>
            <a:off x="812780" y="3535000"/>
            <a:ext cx="5353050" cy="1280000"/>
          </a:xfrm>
          <a:prstGeom prst="roundRect">
            <a:avLst>
              <a:gd name="adj" fmla="val 29167"/>
            </a:avLst>
          </a:prstGeom>
          <a:solidFill>
            <a:srgbClr val="ECE6D8"/>
          </a:solidFill>
          <a:ln/>
        </p:spPr>
      </p:sp>
      <p:sp>
        <p:nvSpPr>
          <p:cNvPr id="14" name="Shape 12"/>
          <p:cNvSpPr/>
          <p:nvPr/>
        </p:nvSpPr>
        <p:spPr>
          <a:xfrm>
            <a:off x="812780" y="3535000"/>
            <a:ext cx="5353050" cy="1280000"/>
          </a:xfrm>
          <a:custGeom>
            <a:avLst/>
            <a:gdLst/>
            <a:ahLst/>
            <a:cxnLst/>
            <a:rect l="l" t="t" r="r" b="b"/>
            <a:pathLst>
              <a:path w="535305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5" name="Text 13"/>
          <p:cNvSpPr/>
          <p:nvPr/>
        </p:nvSpPr>
        <p:spPr>
          <a:xfrm>
            <a:off x="1065490" y="3575000"/>
            <a:ext cx="504407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              precision    recall  f1-score   support</a:t>
            </a:r>
            <a:endParaRPr lang="en-US" sz="950" dirty="0"/>
          </a:p>
        </p:txBody>
      </p:sp>
      <p:sp>
        <p:nvSpPr>
          <p:cNvPr id="16" name="Text 14"/>
          <p:cNvSpPr/>
          <p:nvPr/>
        </p:nvSpPr>
        <p:spPr>
          <a:xfrm>
            <a:off x="1065490" y="3745000"/>
            <a:ext cx="504407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     bénigne      0.957     0.989     0.973        90</a:t>
            </a:r>
            <a:endParaRPr lang="en-US" sz="950" dirty="0"/>
          </a:p>
        </p:txBody>
      </p:sp>
      <p:sp>
        <p:nvSpPr>
          <p:cNvPr id="17" name="Text 15"/>
          <p:cNvSpPr/>
          <p:nvPr/>
        </p:nvSpPr>
        <p:spPr>
          <a:xfrm>
            <a:off x="1065490" y="3915000"/>
            <a:ext cx="504407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     maligne      0.980     0.925     0.951        53</a:t>
            </a:r>
            <a:endParaRPr lang="en-US" sz="950" dirty="0"/>
          </a:p>
        </p:txBody>
      </p:sp>
      <p:sp>
        <p:nvSpPr>
          <p:cNvPr id="18" name="Text 16"/>
          <p:cNvSpPr/>
          <p:nvPr/>
        </p:nvSpPr>
        <p:spPr>
          <a:xfrm>
            <a:off x="1065490" y="4085000"/>
            <a:ext cx="504407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    accuracy                          0.965       143</a:t>
            </a:r>
            <a:endParaRPr lang="en-US" sz="950" dirty="0"/>
          </a:p>
        </p:txBody>
      </p:sp>
      <p:sp>
        <p:nvSpPr>
          <p:cNvPr id="19" name="Text 17"/>
          <p:cNvSpPr/>
          <p:nvPr/>
        </p:nvSpPr>
        <p:spPr>
          <a:xfrm>
            <a:off x="1065490" y="4255000"/>
            <a:ext cx="504407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   macro avg      0.968     0.957     0.962       143</a:t>
            </a:r>
            <a:endParaRPr lang="en-US" sz="950" dirty="0"/>
          </a:p>
        </p:txBody>
      </p:sp>
      <p:sp>
        <p:nvSpPr>
          <p:cNvPr id="20" name="Text 18"/>
          <p:cNvSpPr/>
          <p:nvPr/>
        </p:nvSpPr>
        <p:spPr>
          <a:xfrm>
            <a:off x="1065490" y="4425000"/>
            <a:ext cx="504407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weighted avg      0.966     0.965     0.965       143</a:t>
            </a:r>
            <a:endParaRPr lang="en-US" sz="950" dirty="0"/>
          </a:p>
        </p:txBody>
      </p:sp>
      <p:sp>
        <p:nvSpPr>
          <p:cNvPr id="21" name="Text 19"/>
          <p:cNvSpPr/>
          <p:nvPr/>
        </p:nvSpPr>
        <p:spPr>
          <a:xfrm>
            <a:off x="6419791" y="4595000"/>
            <a:ext cx="5772209"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Exactitude de 96,5 %, mais </a:t>
            </a:r>
            <a:r>
              <a:rPr lang="en-US" sz="950" b="1" dirty="0">
                <a:solidFill>
                  <a:srgbClr val="9A5414"/>
                </a:solidFill>
                <a:latin typeface="Space Grotesk" pitchFamily="34" charset="0"/>
                <a:ea typeface="Space Grotesk" pitchFamily="34" charset="-122"/>
                <a:cs typeface="Space Grotesk" pitchFamily="34" charset="-120"/>
              </a:rPr>
              <a:t>4 tumeurs malignes</a:t>
            </a:r>
            <a:r>
              <a:rPr lang="en-US" sz="950" dirty="0">
                <a:solidFill>
                  <a:srgbClr val="2B211B"/>
                </a:solidFill>
                <a:latin typeface="Space Grotesk" pitchFamily="34" charset="0"/>
                <a:ea typeface="Space Grotesk" pitchFamily="34" charset="-122"/>
                <a:cs typeface="Space Grotesk" pitchFamily="34" charset="-120"/>
              </a:rPr>
              <a:t> sur 53 ne sont pas détectées : rappel de 0,925.</a:t>
            </a:r>
            <a:endParaRPr lang="en-US" sz="950" dirty="0"/>
          </a:p>
        </p:txBody>
      </p:sp>
      <p:pic>
        <p:nvPicPr>
          <p:cNvPr id="22"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23" name="Text 20"/>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4" name="Text 21"/>
          <p:cNvSpPr/>
          <p:nvPr/>
        </p:nvSpPr>
        <p:spPr>
          <a:xfrm>
            <a:off x="10844594" y="6256027"/>
            <a:ext cx="53456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21 / 41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Confusion, ROC et précision-rappel</a:t>
            </a:r>
            <a:endParaRPr lang="en-US" sz="3200" dirty="0"/>
          </a:p>
        </p:txBody>
      </p:sp>
      <p:sp>
        <p:nvSpPr>
          <p:cNvPr id="4" name="Shape 2"/>
          <p:cNvSpPr/>
          <p:nvPr/>
        </p:nvSpPr>
        <p:spPr>
          <a:xfrm>
            <a:off x="812780" y="1803326"/>
            <a:ext cx="2952750" cy="2667000"/>
          </a:xfrm>
          <a:prstGeom prst="roundRect">
            <a:avLst>
              <a:gd name="adj" fmla="val 2857"/>
            </a:avLst>
          </a:prstGeom>
          <a:solidFill>
            <a:srgbClr val="FFFFFF"/>
          </a:solidFill>
          <a:ln/>
        </p:spPr>
      </p:sp>
      <p:pic>
        <p:nvPicPr>
          <p:cNvPr id="5" name="Image 0" descr="Matrice de confusion : 89 vrais négatifs, 1 faux positif, 4 faux négatifs, 49 vrais positifs"/>
          <p:cNvPicPr>
            <a:picLocks noChangeAspect="1"/>
          </p:cNvPicPr>
          <p:nvPr/>
        </p:nvPicPr>
        <p:blipFill>
          <a:blip r:embed="rId3"/>
          <a:srcRect t="-41" b="-41"/>
          <a:stretch/>
        </p:blipFill>
        <p:spPr>
          <a:xfrm>
            <a:off x="819130" y="1809676"/>
            <a:ext cx="2940050" cy="2654300"/>
          </a:xfrm>
          <a:prstGeom prst="roundRect">
            <a:avLst>
              <a:gd name="adj" fmla="val 2632"/>
            </a:avLst>
          </a:prstGeom>
        </p:spPr>
      </p:pic>
      <p:sp>
        <p:nvSpPr>
          <p:cNvPr id="6" name="Shape 3"/>
          <p:cNvSpPr/>
          <p:nvPr/>
        </p:nvSpPr>
        <p:spPr>
          <a:xfrm>
            <a:off x="815955" y="1806501"/>
            <a:ext cx="2946400" cy="2660650"/>
          </a:xfrm>
          <a:prstGeom prst="roundRect">
            <a:avLst>
              <a:gd name="adj" fmla="val 2745"/>
            </a:avLst>
          </a:prstGeom>
          <a:noFill/>
          <a:ln w="6350">
            <a:solidFill>
              <a:srgbClr val="DCD7CA"/>
            </a:solidFill>
            <a:prstDash val="solid"/>
          </a:ln>
        </p:spPr>
      </p:sp>
      <p:sp>
        <p:nvSpPr>
          <p:cNvPr id="7" name="Shape 4"/>
          <p:cNvSpPr/>
          <p:nvPr/>
        </p:nvSpPr>
        <p:spPr>
          <a:xfrm>
            <a:off x="4019491" y="1803326"/>
            <a:ext cx="6572250" cy="2667000"/>
          </a:xfrm>
          <a:prstGeom prst="roundRect">
            <a:avLst>
              <a:gd name="adj" fmla="val 2857"/>
            </a:avLst>
          </a:prstGeom>
          <a:solidFill>
            <a:srgbClr val="FFFFFF"/>
          </a:solidFill>
          <a:ln/>
        </p:spPr>
      </p:sp>
      <p:pic>
        <p:nvPicPr>
          <p:cNvPr id="8" name="Image 1" descr="Courbes ROC et précision-rappel du classifieur, AUC 0,996"/>
          <p:cNvPicPr>
            <a:picLocks noChangeAspect="1"/>
          </p:cNvPicPr>
          <p:nvPr/>
        </p:nvPicPr>
        <p:blipFill>
          <a:blip r:embed="rId4"/>
          <a:srcRect l="-139" r="-139"/>
          <a:stretch/>
        </p:blipFill>
        <p:spPr>
          <a:xfrm>
            <a:off x="4025841" y="1809676"/>
            <a:ext cx="6559550" cy="2654300"/>
          </a:xfrm>
          <a:prstGeom prst="roundRect">
            <a:avLst>
              <a:gd name="adj" fmla="val 2632"/>
            </a:avLst>
          </a:prstGeom>
        </p:spPr>
      </p:pic>
      <p:sp>
        <p:nvSpPr>
          <p:cNvPr id="9" name="Shape 5"/>
          <p:cNvSpPr/>
          <p:nvPr/>
        </p:nvSpPr>
        <p:spPr>
          <a:xfrm>
            <a:off x="4022666" y="1806501"/>
            <a:ext cx="6565900" cy="2660650"/>
          </a:xfrm>
          <a:prstGeom prst="roundRect">
            <a:avLst>
              <a:gd name="adj" fmla="val 2745"/>
            </a:avLst>
          </a:prstGeom>
          <a:noFill/>
          <a:ln w="6350">
            <a:solidFill>
              <a:srgbClr val="DCD7CA"/>
            </a:solidFill>
            <a:prstDash val="solid"/>
          </a:ln>
        </p:spPr>
      </p:sp>
      <p:sp>
        <p:nvSpPr>
          <p:cNvPr id="10" name="Text 6"/>
          <p:cNvSpPr/>
          <p:nvPr/>
        </p:nvSpPr>
        <p:spPr>
          <a:xfrm>
            <a:off x="812780" y="4622726"/>
            <a:ext cx="5519500" cy="802600"/>
          </a:xfrm>
          <a:prstGeom prst="roundRect">
            <a:avLst>
              <a:gd name="adj" fmla="val 12659"/>
            </a:avLst>
          </a:prstGeom>
          <a:solidFill>
            <a:srgbClr val="FFFFFF"/>
          </a:solidFill>
          <a:ln/>
        </p:spPr>
        <p:txBody>
          <a:bodyPr wrap="square" lIns="222953" tIns="122642" rIns="21514"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AUC ROC = </a:t>
            </a:r>
            <a:r>
              <a:rPr lang="en-US" sz="1400" b="1" dirty="0">
                <a:solidFill>
                  <a:srgbClr val="9A5414"/>
                </a:solidFill>
                <a:latin typeface="Space Grotesk" pitchFamily="34" charset="0"/>
                <a:ea typeface="Space Grotesk" pitchFamily="34" charset="-122"/>
                <a:cs typeface="Space Grotesk" pitchFamily="34" charset="-120"/>
              </a:rPr>
              <a:t>0.996</a:t>
            </a:r>
            <a:r>
              <a:rPr lang="en-US" sz="1400" dirty="0">
                <a:solidFill>
                  <a:srgbClr val="2B211B"/>
                </a:solidFill>
                <a:latin typeface="Space Grotesk" pitchFamily="34" charset="0"/>
                <a:ea typeface="Space Grotesk" pitchFamily="34" charset="-122"/>
                <a:cs typeface="Space Grotesk" pitchFamily="34" charset="-120"/>
              </a:rPr>
              <a:t> : probabilité qu'un cas malin reçoive un score plus élevé qu'un cas bénin.</a:t>
            </a:r>
            <a:endParaRPr lang="en-US" sz="1400" dirty="0"/>
          </a:p>
        </p:txBody>
      </p:sp>
      <p:sp>
        <p:nvSpPr>
          <p:cNvPr id="11" name="Shape 7"/>
          <p:cNvSpPr/>
          <p:nvPr/>
        </p:nvSpPr>
        <p:spPr>
          <a:xfrm>
            <a:off x="812780" y="4622726"/>
            <a:ext cx="5519500" cy="802600"/>
          </a:xfrm>
          <a:custGeom>
            <a:avLst/>
            <a:gdLst/>
            <a:ahLst/>
            <a:cxnLst/>
            <a:rect l="l" t="t" r="r" b="b"/>
            <a:pathLst>
              <a:path w="5519500"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9A5414"/>
          </a:solidFill>
          <a:ln/>
        </p:spPr>
      </p:sp>
      <p:sp>
        <p:nvSpPr>
          <p:cNvPr id="12" name="Text 8"/>
          <p:cNvSpPr/>
          <p:nvPr/>
        </p:nvSpPr>
        <p:spPr>
          <a:xfrm>
            <a:off x="6510040" y="4622726"/>
            <a:ext cx="4869180" cy="802600"/>
          </a:xfrm>
          <a:prstGeom prst="roundRect">
            <a:avLst>
              <a:gd name="adj" fmla="val 12659"/>
            </a:avLst>
          </a:prstGeom>
          <a:solidFill>
            <a:srgbClr val="FFFFFF"/>
          </a:solidFill>
          <a:ln/>
        </p:spPr>
        <p:txBody>
          <a:bodyPr wrap="square" lIns="222953" tIns="122642" rIns="41024"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Précision moyenne = </a:t>
            </a:r>
            <a:r>
              <a:rPr lang="en-US" sz="1400" b="1" dirty="0">
                <a:solidFill>
                  <a:srgbClr val="9A5414"/>
                </a:solidFill>
                <a:latin typeface="Space Grotesk" pitchFamily="34" charset="0"/>
                <a:ea typeface="Space Grotesk" pitchFamily="34" charset="-122"/>
                <a:cs typeface="Space Grotesk" pitchFamily="34" charset="-120"/>
              </a:rPr>
              <a:t>0.994</a:t>
            </a:r>
            <a:r>
              <a:rPr lang="en-US" sz="1400" dirty="0">
                <a:solidFill>
                  <a:srgbClr val="2B211B"/>
                </a:solidFill>
                <a:latin typeface="Space Grotesk" pitchFamily="34" charset="0"/>
                <a:ea typeface="Space Grotesk" pitchFamily="34" charset="-122"/>
                <a:cs typeface="Space Grotesk" pitchFamily="34" charset="-120"/>
              </a:rPr>
              <a:t> : plus informative quand la classe positive est rare.</a:t>
            </a:r>
            <a:endParaRPr lang="en-US" sz="1400" dirty="0"/>
          </a:p>
        </p:txBody>
      </p:sp>
      <p:sp>
        <p:nvSpPr>
          <p:cNvPr id="13" name="Shape 9"/>
          <p:cNvSpPr/>
          <p:nvPr/>
        </p:nvSpPr>
        <p:spPr>
          <a:xfrm>
            <a:off x="6510040" y="4622726"/>
            <a:ext cx="4869180" cy="802600"/>
          </a:xfrm>
          <a:custGeom>
            <a:avLst/>
            <a:gdLst/>
            <a:ahLst/>
            <a:cxnLst/>
            <a:rect l="l" t="t" r="r" b="b"/>
            <a:pathLst>
              <a:path w="4869180"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E3A23B"/>
          </a:solidFill>
          <a:ln/>
        </p:spPr>
      </p:sp>
      <p:pic>
        <p:nvPicPr>
          <p:cNvPr id="14" name="Image 2" descr="Logo ISM"/>
          <p:cNvPicPr>
            <a:picLocks noChangeAspect="1"/>
          </p:cNvPicPr>
          <p:nvPr/>
        </p:nvPicPr>
        <p:blipFill>
          <a:blip r:embed="rId5"/>
          <a:srcRect l="431" r="431"/>
          <a:stretch/>
        </p:blipFill>
        <p:spPr>
          <a:xfrm>
            <a:off x="812780" y="6223050"/>
            <a:ext cx="279380" cy="279380"/>
          </a:xfrm>
          <a:prstGeom prst="roundRect">
            <a:avLst>
              <a:gd name="adj" fmla="val 13637"/>
            </a:avLst>
          </a:prstGeom>
        </p:spPr>
      </p:pic>
      <p:sp>
        <p:nvSpPr>
          <p:cNvPr id="15" name="Text 10"/>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6" name="Text 11"/>
          <p:cNvSpPr/>
          <p:nvPr/>
        </p:nvSpPr>
        <p:spPr>
          <a:xfrm>
            <a:off x="10810733" y="6256027"/>
            <a:ext cx="56842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22 / 41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Optimiser le seuil de décision</a:t>
            </a:r>
            <a:endParaRPr lang="en-US" sz="3200" dirty="0"/>
          </a:p>
        </p:txBody>
      </p:sp>
      <p:sp>
        <p:nvSpPr>
          <p:cNvPr id="4" name="Shape 2"/>
          <p:cNvSpPr/>
          <p:nvPr/>
        </p:nvSpPr>
        <p:spPr>
          <a:xfrm>
            <a:off x="819130" y="1809676"/>
            <a:ext cx="10553740" cy="186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sklearn.model_selection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TunedThresholdClassifierCV</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sklearn.metrics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recall_score, make_scorer, fbeta_score</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7D7466"/>
                </a:solidFill>
                <a:latin typeface="JetBrains Mono" pitchFamily="49" charset="0"/>
                <a:ea typeface="JetBrains Mono" pitchFamily="49" charset="-122"/>
                <a:cs typeface="JetBrains Mono" pitchFamily="49" charset="-120"/>
              </a:rPr>
              <a:t># F2 : le rappel compte deux fois plus que la précision</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ajuste = TunedThresholdClassifierCV(clf, scoring=make_scorer(fbeta_score, beta=2),</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cv=5, random_state=42).fit(Xc_tr, yc_tr)</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for</a:t>
            </a:r>
            <a:r>
              <a:rPr lang="en-US" sz="900" dirty="0">
                <a:solidFill>
                  <a:srgbClr val="2B211B"/>
                </a:solidFill>
                <a:latin typeface="JetBrains Mono" pitchFamily="49" charset="0"/>
                <a:ea typeface="JetBrains Mono" pitchFamily="49" charset="-122"/>
                <a:cs typeface="JetBrains Mono" pitchFamily="49" charset="-120"/>
              </a:rPr>
              <a:t> nom, m </a:t>
            </a:r>
            <a:r>
              <a:rPr lang="en-US" sz="900" b="1" dirty="0">
                <a:solidFill>
                  <a:srgbClr val="9A3D0A"/>
                </a:solidFill>
                <a:latin typeface="JetBrains Mono" pitchFamily="49" charset="0"/>
                <a:ea typeface="JetBrains Mono" pitchFamily="49" charset="-122"/>
                <a:cs typeface="JetBrains Mono" pitchFamily="49" charset="-120"/>
              </a:rPr>
              <a:t>in</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"seuil 0,50"</a:t>
            </a:r>
            <a:r>
              <a:rPr lang="en-US" sz="900" dirty="0">
                <a:solidFill>
                  <a:srgbClr val="2B211B"/>
                </a:solidFill>
                <a:latin typeface="JetBrains Mono" pitchFamily="49" charset="0"/>
                <a:ea typeface="JetBrains Mono" pitchFamily="49" charset="-122"/>
                <a:cs typeface="JetBrains Mono" pitchFamily="49" charset="-120"/>
              </a:rPr>
              <a:t>, clf), (</a:t>
            </a:r>
            <a:r>
              <a:rPr lang="en-US" sz="900" dirty="0">
                <a:solidFill>
                  <a:srgbClr val="2C6E3F"/>
                </a:solidFill>
                <a:latin typeface="JetBrains Mono" pitchFamily="49" charset="0"/>
                <a:ea typeface="JetBrains Mono" pitchFamily="49" charset="-122"/>
                <a:cs typeface="JetBrains Mono" pitchFamily="49" charset="-120"/>
              </a:rPr>
              <a:t>f"seuil {ajuste.best_threshold_:.2f}"</a:t>
            </a:r>
            <a:r>
              <a:rPr lang="en-US" sz="900" dirty="0">
                <a:solidFill>
                  <a:srgbClr val="2B211B"/>
                </a:solidFill>
                <a:latin typeface="JetBrains Mono" pitchFamily="49" charset="0"/>
                <a:ea typeface="JetBrains Mono" pitchFamily="49" charset="-122"/>
                <a:cs typeface="JetBrains Mono" pitchFamily="49" charset="-120"/>
              </a:rPr>
              <a:t>, ajuste)]:</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p = m.predict(Xc_te)</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print(</a:t>
            </a:r>
            <a:r>
              <a:rPr lang="en-US" sz="900" dirty="0">
                <a:solidFill>
                  <a:srgbClr val="2C6E3F"/>
                </a:solidFill>
                <a:latin typeface="JetBrains Mono" pitchFamily="49" charset="0"/>
                <a:ea typeface="JetBrains Mono" pitchFamily="49" charset="-122"/>
                <a:cs typeface="JetBrains Mono" pitchFamily="49" charset="-120"/>
              </a:rPr>
              <a:t>f"{nom} : rappel = {recall_score(yc_te, p):.3f}  "</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f"faux positifs = {((p == 1) &amp; (yc_te == 0)).sum()}"</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4" name="Shape 12"/>
          <p:cNvSpPr/>
          <p:nvPr/>
        </p:nvSpPr>
        <p:spPr>
          <a:xfrm>
            <a:off x="812780" y="3725000"/>
            <a:ext cx="4711660" cy="600000"/>
          </a:xfrm>
          <a:prstGeom prst="roundRect">
            <a:avLst>
              <a:gd name="adj" fmla="val 29167"/>
            </a:avLst>
          </a:prstGeom>
          <a:solidFill>
            <a:srgbClr val="ECE6D8"/>
          </a:solidFill>
          <a:ln/>
        </p:spPr>
      </p:sp>
      <p:sp>
        <p:nvSpPr>
          <p:cNvPr id="15" name="Shape 13"/>
          <p:cNvSpPr/>
          <p:nvPr/>
        </p:nvSpPr>
        <p:spPr>
          <a:xfrm>
            <a:off x="812780" y="3725000"/>
            <a:ext cx="4711660" cy="600000"/>
          </a:xfrm>
          <a:custGeom>
            <a:avLst/>
            <a:gdLst/>
            <a:ahLst/>
            <a:cxnLst/>
            <a:rect l="l" t="t" r="r" b="b"/>
            <a:pathLst>
              <a:path w="471166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6" name="Text 14"/>
          <p:cNvSpPr/>
          <p:nvPr/>
        </p:nvSpPr>
        <p:spPr>
          <a:xfrm>
            <a:off x="1065490" y="3765000"/>
            <a:ext cx="4383443"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seuil 0,50 : rappel = 0.925  faux positifs = 1</a:t>
            </a:r>
            <a:endParaRPr lang="en-US" sz="950" dirty="0"/>
          </a:p>
        </p:txBody>
      </p:sp>
      <p:sp>
        <p:nvSpPr>
          <p:cNvPr id="17" name="Text 15"/>
          <p:cNvSpPr/>
          <p:nvPr/>
        </p:nvSpPr>
        <p:spPr>
          <a:xfrm>
            <a:off x="1065490" y="3935000"/>
            <a:ext cx="4383443"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seuil 0.35 : rappel = 0.943  faux positifs = 1</a:t>
            </a:r>
            <a:endParaRPr lang="en-US" sz="950" dirty="0"/>
          </a:p>
        </p:txBody>
      </p:sp>
      <p:sp>
        <p:nvSpPr>
          <p:cNvPr id="18" name="Text 16"/>
          <p:cNvSpPr/>
          <p:nvPr/>
        </p:nvSpPr>
        <p:spPr>
          <a:xfrm>
            <a:off x="5778401" y="4105000"/>
            <a:ext cx="5768844"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Seuil abaissé à </a:t>
            </a:r>
            <a:r>
              <a:rPr lang="en-US" sz="950" b="1" dirty="0">
                <a:solidFill>
                  <a:srgbClr val="9A5414"/>
                </a:solidFill>
                <a:latin typeface="Space Grotesk" pitchFamily="34" charset="0"/>
                <a:ea typeface="Space Grotesk" pitchFamily="34" charset="-122"/>
                <a:cs typeface="Space Grotesk" pitchFamily="34" charset="-120"/>
              </a:rPr>
              <a:t>0,35</a:t>
            </a:r>
            <a:r>
              <a:rPr lang="en-US" sz="950" dirty="0">
                <a:solidFill>
                  <a:srgbClr val="2B211B"/>
                </a:solidFill>
                <a:latin typeface="Space Grotesk" pitchFamily="34" charset="0"/>
                <a:ea typeface="Space Grotesk" pitchFamily="34" charset="-122"/>
                <a:cs typeface="Space Grotesk" pitchFamily="34" charset="-120"/>
              </a:rPr>
              <a:t> : un cancer détecté en plus, aucun faux positif en plus.</a:t>
            </a:r>
            <a:endParaRPr lang="en-US" sz="950" dirty="0"/>
          </a:p>
        </p:txBody>
      </p:sp>
      <p:pic>
        <p:nvPicPr>
          <p:cNvPr id="19"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20" name="Text 17"/>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1" name="Text 18"/>
          <p:cNvSpPr/>
          <p:nvPr/>
        </p:nvSpPr>
        <p:spPr>
          <a:xfrm>
            <a:off x="10811304" y="6256027"/>
            <a:ext cx="567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23 / 41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33"/>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Des probabilités dignes de confiance</a:t>
            </a:r>
            <a:endParaRPr lang="en-US" sz="3200" dirty="0"/>
          </a:p>
        </p:txBody>
      </p:sp>
      <p:sp>
        <p:nvSpPr>
          <p:cNvPr id="4" name="Shape 2"/>
          <p:cNvSpPr/>
          <p:nvPr/>
        </p:nvSpPr>
        <p:spPr>
          <a:xfrm>
            <a:off x="819130" y="1809663"/>
            <a:ext cx="10553740" cy="186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sklearn.naive_bayes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GaussianNB</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sklearn.calibration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CalibratedClassifierCV</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sklearn.metrics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brier_score_loss</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nb = make_pipeline(StandardScaler(), GaussianNB()).fit(Xc_tr, yc_tr)</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nb_cal = CalibratedClassifierCV(make_pipeline(StandardScaler(), GaussianNB()),</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method=</a:t>
            </a:r>
            <a:r>
              <a:rPr lang="en-US" sz="900" dirty="0">
                <a:solidFill>
                  <a:srgbClr val="2C6E3F"/>
                </a:solidFill>
                <a:latin typeface="JetBrains Mono" pitchFamily="49" charset="0"/>
                <a:ea typeface="JetBrains Mono" pitchFamily="49" charset="-122"/>
                <a:cs typeface="JetBrains Mono" pitchFamily="49" charset="-120"/>
              </a:rPr>
              <a:t>"isotonic"</a:t>
            </a:r>
            <a:r>
              <a:rPr lang="en-US" sz="900" dirty="0">
                <a:solidFill>
                  <a:srgbClr val="2B211B"/>
                </a:solidFill>
                <a:latin typeface="JetBrains Mono" pitchFamily="49" charset="0"/>
                <a:ea typeface="JetBrains Mono" pitchFamily="49" charset="-122"/>
                <a:cs typeface="JetBrains Mono" pitchFamily="49" charset="-120"/>
              </a:rPr>
              <a:t>, cv=5).fit(Xc_tr, yc_tr)</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for</a:t>
            </a:r>
            <a:r>
              <a:rPr lang="en-US" sz="900" dirty="0">
                <a:solidFill>
                  <a:srgbClr val="2B211B"/>
                </a:solidFill>
                <a:latin typeface="JetBrains Mono" pitchFamily="49" charset="0"/>
                <a:ea typeface="JetBrains Mono" pitchFamily="49" charset="-122"/>
                <a:cs typeface="JetBrains Mono" pitchFamily="49" charset="-120"/>
              </a:rPr>
              <a:t> nom, m </a:t>
            </a:r>
            <a:r>
              <a:rPr lang="en-US" sz="900" b="1" dirty="0">
                <a:solidFill>
                  <a:srgbClr val="9A3D0A"/>
                </a:solidFill>
                <a:latin typeface="JetBrains Mono" pitchFamily="49" charset="0"/>
                <a:ea typeface="JetBrains Mono" pitchFamily="49" charset="-122"/>
                <a:cs typeface="JetBrains Mono" pitchFamily="49" charset="-120"/>
              </a:rPr>
              <a:t>in</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"Naive Bayes"</a:t>
            </a:r>
            <a:r>
              <a:rPr lang="en-US" sz="900" dirty="0">
                <a:solidFill>
                  <a:srgbClr val="2B211B"/>
                </a:solidFill>
                <a:latin typeface="JetBrains Mono" pitchFamily="49" charset="0"/>
                <a:ea typeface="JetBrains Mono" pitchFamily="49" charset="-122"/>
                <a:cs typeface="JetBrains Mono" pitchFamily="49" charset="-120"/>
              </a:rPr>
              <a:t>, nb), (</a:t>
            </a:r>
            <a:r>
              <a:rPr lang="en-US" sz="900" dirty="0">
                <a:solidFill>
                  <a:srgbClr val="2C6E3F"/>
                </a:solidFill>
                <a:latin typeface="JetBrains Mono" pitchFamily="49" charset="0"/>
                <a:ea typeface="JetBrains Mono" pitchFamily="49" charset="-122"/>
                <a:cs typeface="JetBrains Mono" pitchFamily="49" charset="-120"/>
              </a:rPr>
              <a:t>"Naive Bayes calibré"</a:t>
            </a:r>
            <a:r>
              <a:rPr lang="en-US" sz="900" dirty="0">
                <a:solidFill>
                  <a:srgbClr val="2B211B"/>
                </a:solidFill>
                <a:latin typeface="JetBrains Mono" pitchFamily="49" charset="0"/>
                <a:ea typeface="JetBrains Mono" pitchFamily="49" charset="-122"/>
                <a:cs typeface="JetBrains Mono" pitchFamily="49" charset="-120"/>
              </a:rPr>
              <a:t>, nb_cal), (</a:t>
            </a:r>
            <a:r>
              <a:rPr lang="en-US" sz="900" dirty="0">
                <a:solidFill>
                  <a:srgbClr val="2C6E3F"/>
                </a:solidFill>
                <a:latin typeface="JetBrains Mono" pitchFamily="49" charset="0"/>
                <a:ea typeface="JetBrains Mono" pitchFamily="49" charset="-122"/>
                <a:cs typeface="JetBrains Mono" pitchFamily="49" charset="-120"/>
              </a:rPr>
              <a:t>"Régression logistique"</a:t>
            </a:r>
            <a:r>
              <a:rPr lang="en-US" sz="900" dirty="0">
                <a:solidFill>
                  <a:srgbClr val="2B211B"/>
                </a:solidFill>
                <a:latin typeface="JetBrains Mono" pitchFamily="49" charset="0"/>
                <a:ea typeface="JetBrains Mono" pitchFamily="49" charset="-122"/>
                <a:cs typeface="JetBrains Mono" pitchFamily="49" charset="-120"/>
              </a:rPr>
              <a:t>, clf)]:</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proba = m.predict_proba(Xc_te)[:, 1]</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print(</a:t>
            </a:r>
            <a:r>
              <a:rPr lang="en-US" sz="900" dirty="0">
                <a:solidFill>
                  <a:srgbClr val="2C6E3F"/>
                </a:solidFill>
                <a:latin typeface="JetBrains Mono" pitchFamily="49" charset="0"/>
                <a:ea typeface="JetBrains Mono" pitchFamily="49" charset="-122"/>
                <a:cs typeface="JetBrains Mono" pitchFamily="49" charset="-120"/>
              </a:rPr>
              <a:t>f"{nom:22} Brier = {brier_score_loss(yc_te, proba):.4f}"</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4" name="Shape 12"/>
          <p:cNvSpPr/>
          <p:nvPr/>
        </p:nvSpPr>
        <p:spPr>
          <a:xfrm>
            <a:off x="812780" y="3725000"/>
            <a:ext cx="3886200" cy="770000"/>
          </a:xfrm>
          <a:prstGeom prst="roundRect">
            <a:avLst>
              <a:gd name="adj" fmla="val 29167"/>
            </a:avLst>
          </a:prstGeom>
          <a:solidFill>
            <a:srgbClr val="ECE6D8"/>
          </a:solidFill>
          <a:ln/>
        </p:spPr>
      </p:sp>
      <p:sp>
        <p:nvSpPr>
          <p:cNvPr id="15" name="Shape 13"/>
          <p:cNvSpPr/>
          <p:nvPr/>
        </p:nvSpPr>
        <p:spPr>
          <a:xfrm>
            <a:off x="812780" y="3725000"/>
            <a:ext cx="3886200" cy="770000"/>
          </a:xfrm>
          <a:custGeom>
            <a:avLst/>
            <a:gdLst/>
            <a:ahLst/>
            <a:cxnLst/>
            <a:rect l="l" t="t" r="r" b="b"/>
            <a:pathLst>
              <a:path w="388620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6" name="Text 14"/>
          <p:cNvSpPr/>
          <p:nvPr/>
        </p:nvSpPr>
        <p:spPr>
          <a:xfrm>
            <a:off x="1065490" y="3765000"/>
            <a:ext cx="3533219"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Naive Bayes            Brier = 0.0530</a:t>
            </a:r>
            <a:endParaRPr lang="en-US" sz="950" dirty="0"/>
          </a:p>
        </p:txBody>
      </p:sp>
      <p:sp>
        <p:nvSpPr>
          <p:cNvPr id="17" name="Text 15"/>
          <p:cNvSpPr/>
          <p:nvPr/>
        </p:nvSpPr>
        <p:spPr>
          <a:xfrm>
            <a:off x="1065490" y="3935000"/>
            <a:ext cx="3533219"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Naive Bayes calibré    Brier = 0.0367</a:t>
            </a:r>
            <a:endParaRPr lang="en-US" sz="950" dirty="0"/>
          </a:p>
        </p:txBody>
      </p:sp>
      <p:sp>
        <p:nvSpPr>
          <p:cNvPr id="18" name="Text 16"/>
          <p:cNvSpPr/>
          <p:nvPr/>
        </p:nvSpPr>
        <p:spPr>
          <a:xfrm>
            <a:off x="1065490" y="4105000"/>
            <a:ext cx="3533219"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Régression logistique  Brier = 0.0224</a:t>
            </a:r>
            <a:endParaRPr lang="en-US" sz="950" dirty="0"/>
          </a:p>
        </p:txBody>
      </p:sp>
      <p:sp>
        <p:nvSpPr>
          <p:cNvPr id="19" name="Text 17"/>
          <p:cNvSpPr/>
          <p:nvPr/>
        </p:nvSpPr>
        <p:spPr>
          <a:xfrm>
            <a:off x="4952941" y="4275000"/>
            <a:ext cx="6619068"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Brier = moyenne de (p − y)², </a:t>
            </a:r>
            <a:r>
              <a:rPr lang="en-US" sz="950" b="1" dirty="0">
                <a:solidFill>
                  <a:srgbClr val="9A5414"/>
                </a:solidFill>
                <a:latin typeface="Space Grotesk" pitchFamily="34" charset="0"/>
                <a:ea typeface="Space Grotesk" pitchFamily="34" charset="-122"/>
                <a:cs typeface="Space Grotesk" pitchFamily="34" charset="-120"/>
              </a:rPr>
              <a:t>plus bas = mieux</a:t>
            </a:r>
            <a:r>
              <a:rPr lang="en-US" sz="950" dirty="0">
                <a:solidFill>
                  <a:srgbClr val="2B211B"/>
                </a:solidFill>
                <a:latin typeface="Space Grotesk" pitchFamily="34" charset="0"/>
                <a:ea typeface="Space Grotesk" pitchFamily="34" charset="-122"/>
                <a:cs typeface="Space Grotesk" pitchFamily="34" charset="-120"/>
              </a:rPr>
              <a:t> : de 0,053 à 0,037 après calibration.</a:t>
            </a:r>
            <a:endParaRPr lang="en-US" sz="950" dirty="0"/>
          </a:p>
        </p:txBody>
      </p:sp>
      <p:pic>
        <p:nvPicPr>
          <p:cNvPr id="20"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21" name="Text 18"/>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2" name="Text 19"/>
          <p:cNvSpPr/>
          <p:nvPr/>
        </p:nvSpPr>
        <p:spPr>
          <a:xfrm>
            <a:off x="10812018" y="6256015"/>
            <a:ext cx="567142"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24 / 41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7510"/>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9A5414"/>
                </a:solidFill>
                <a:latin typeface="Space Grotesk" pitchFamily="34" charset="0"/>
                <a:ea typeface="Space Grotesk" pitchFamily="34" charset="-122"/>
                <a:cs typeface="Space Grotesk" pitchFamily="34" charset="-120"/>
              </a:rPr>
              <a:t>ÉVALUER</a:t>
            </a:r>
            <a:endParaRPr lang="en-US" sz="1196" dirty="0"/>
          </a:p>
        </p:txBody>
      </p:sp>
      <p:sp>
        <p:nvSpPr>
          <p:cNvPr id="3" name="Text 1"/>
          <p:cNvSpPr>
            <a:spLocks noGrp="1"/>
          </p:cNvSpPr>
          <p:nvPr>
            <p:ph type="title"/>
          </p:nvPr>
        </p:nvSpPr>
        <p:spPr>
          <a:xfrm>
            <a:off x="812780" y="1101080"/>
            <a:ext cx="10883434" cy="46980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Lire un diagramme de fiabilité</a:t>
            </a:r>
            <a:endParaRPr lang="en-US" sz="3200" dirty="0"/>
          </a:p>
        </p:txBody>
      </p:sp>
      <p:sp>
        <p:nvSpPr>
          <p:cNvPr id="4" name="Shape 2"/>
          <p:cNvSpPr/>
          <p:nvPr/>
        </p:nvSpPr>
        <p:spPr>
          <a:xfrm>
            <a:off x="812780" y="1799444"/>
            <a:ext cx="4705350" cy="4063960"/>
          </a:xfrm>
          <a:prstGeom prst="roundRect">
            <a:avLst>
              <a:gd name="adj" fmla="val 1875"/>
            </a:avLst>
          </a:prstGeom>
          <a:solidFill>
            <a:srgbClr val="FFFFFF"/>
          </a:solidFill>
          <a:ln/>
        </p:spPr>
      </p:sp>
      <p:pic>
        <p:nvPicPr>
          <p:cNvPr id="5" name="Image 0" descr="Diagramme de fiabilité comparant Naive Bayes, Naive Bayes calibré et régression logistique"/>
          <p:cNvPicPr>
            <a:picLocks noChangeAspect="1"/>
          </p:cNvPicPr>
          <p:nvPr/>
        </p:nvPicPr>
        <p:blipFill>
          <a:blip r:embed="rId3"/>
          <a:srcRect t="-43" b="-43"/>
          <a:stretch/>
        </p:blipFill>
        <p:spPr>
          <a:xfrm>
            <a:off x="819130" y="1805794"/>
            <a:ext cx="4692650" cy="4051260"/>
          </a:xfrm>
          <a:prstGeom prst="roundRect">
            <a:avLst>
              <a:gd name="adj" fmla="val 1724"/>
            </a:avLst>
          </a:prstGeom>
        </p:spPr>
      </p:pic>
      <p:sp>
        <p:nvSpPr>
          <p:cNvPr id="6" name="Shape 3"/>
          <p:cNvSpPr/>
          <p:nvPr/>
        </p:nvSpPr>
        <p:spPr>
          <a:xfrm>
            <a:off x="815955" y="1802619"/>
            <a:ext cx="4699000" cy="4057610"/>
          </a:xfrm>
          <a:prstGeom prst="roundRect">
            <a:avLst>
              <a:gd name="adj" fmla="val 1800"/>
            </a:avLst>
          </a:prstGeom>
          <a:noFill/>
          <a:ln w="6350">
            <a:solidFill>
              <a:srgbClr val="DCD7CA"/>
            </a:solidFill>
            <a:prstDash val="solid"/>
          </a:ln>
        </p:spPr>
      </p:sp>
      <p:sp>
        <p:nvSpPr>
          <p:cNvPr id="7" name="Text 4"/>
          <p:cNvSpPr/>
          <p:nvPr/>
        </p:nvSpPr>
        <p:spPr>
          <a:xfrm>
            <a:off x="5772091" y="1799444"/>
            <a:ext cx="5607129" cy="802600"/>
          </a:xfrm>
          <a:prstGeom prst="roundRect">
            <a:avLst>
              <a:gd name="adj" fmla="val 12659"/>
            </a:avLst>
          </a:prstGeom>
          <a:solidFill>
            <a:srgbClr val="FFFFFF"/>
          </a:solidFill>
          <a:ln/>
        </p:spPr>
        <p:txBody>
          <a:bodyPr wrap="square" lIns="222953" tIns="122642" rIns="18885" bIns="97242" rtlCol="0" anchor="t">
            <a:normAutofit/>
          </a:bodyPr>
          <a:lstStyle/>
          <a:p>
            <a:pPr marL="0" indent="0" algn="l">
              <a:lnSpc>
                <a:spcPts val="1960"/>
              </a:lnSpc>
              <a:buNone/>
            </a:pPr>
            <a:r>
              <a:rPr lang="en-US" sz="1400" b="1" dirty="0">
                <a:solidFill>
                  <a:srgbClr val="2B211B"/>
                </a:solidFill>
                <a:latin typeface="Space Grotesk" pitchFamily="34" charset="0"/>
                <a:ea typeface="Space Grotesk" pitchFamily="34" charset="-122"/>
                <a:cs typeface="Space Grotesk" pitchFamily="34" charset="-120"/>
              </a:rPr>
              <a:t>Diagonale</a:t>
            </a:r>
            <a:r>
              <a:rPr lang="en-US" sz="1400" dirty="0">
                <a:solidFill>
                  <a:srgbClr val="2B211B"/>
                </a:solidFill>
                <a:latin typeface="Space Grotesk" pitchFamily="34" charset="0"/>
                <a:ea typeface="Space Grotesk" pitchFamily="34" charset="-122"/>
                <a:cs typeface="Space Grotesk" pitchFamily="34" charset="-120"/>
              </a:rPr>
              <a:t> : calibration parfaite. Quand le modèle annonce 70 %, l'événement arrive 7 fois sur 10.</a:t>
            </a:r>
            <a:endParaRPr lang="en-US" sz="1400" dirty="0"/>
          </a:p>
        </p:txBody>
      </p:sp>
      <p:sp>
        <p:nvSpPr>
          <p:cNvPr id="8" name="Shape 5"/>
          <p:cNvSpPr/>
          <p:nvPr/>
        </p:nvSpPr>
        <p:spPr>
          <a:xfrm>
            <a:off x="5772091" y="1799444"/>
            <a:ext cx="5607129" cy="802600"/>
          </a:xfrm>
          <a:custGeom>
            <a:avLst/>
            <a:gdLst/>
            <a:ahLst/>
            <a:cxnLst/>
            <a:rect l="l" t="t" r="r" b="b"/>
            <a:pathLst>
              <a:path w="5607129"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6B6158"/>
          </a:solidFill>
          <a:ln/>
        </p:spPr>
      </p:sp>
      <p:sp>
        <p:nvSpPr>
          <p:cNvPr id="9" name="Text 6"/>
          <p:cNvSpPr/>
          <p:nvPr/>
        </p:nvSpPr>
        <p:spPr>
          <a:xfrm>
            <a:off x="5772091" y="2729024"/>
            <a:ext cx="5607129" cy="802600"/>
          </a:xfrm>
          <a:prstGeom prst="roundRect">
            <a:avLst>
              <a:gd name="adj" fmla="val 12659"/>
            </a:avLst>
          </a:prstGeom>
          <a:solidFill>
            <a:srgbClr val="FFFFFF"/>
          </a:solidFill>
          <a:ln/>
        </p:spPr>
        <p:txBody>
          <a:bodyPr wrap="square" lIns="222953" tIns="122642" rIns="18885" bIns="97242" rtlCol="0" anchor="t">
            <a:normAutofit/>
          </a:bodyPr>
          <a:lstStyle/>
          <a:p>
            <a:pPr marL="0" indent="0" algn="l">
              <a:lnSpc>
                <a:spcPts val="1960"/>
              </a:lnSpc>
              <a:buNone/>
            </a:pPr>
            <a:r>
              <a:rPr lang="en-US" sz="1400" b="1" dirty="0">
                <a:solidFill>
                  <a:srgbClr val="2B211B"/>
                </a:solidFill>
                <a:latin typeface="Space Grotesk" pitchFamily="34" charset="0"/>
                <a:ea typeface="Space Grotesk" pitchFamily="34" charset="-122"/>
                <a:cs typeface="Space Grotesk" pitchFamily="34" charset="-120"/>
              </a:rPr>
              <a:t>Naive Bayes</a:t>
            </a:r>
            <a:r>
              <a:rPr lang="en-US" sz="1400" dirty="0">
                <a:solidFill>
                  <a:srgbClr val="2B211B"/>
                </a:solidFill>
                <a:latin typeface="Space Grotesk" pitchFamily="34" charset="0"/>
                <a:ea typeface="Space Grotesk" pitchFamily="34" charset="-122"/>
                <a:cs typeface="Space Grotesk" pitchFamily="34" charset="-120"/>
              </a:rPr>
              <a:t> : s'écarte de la diagonale, ses probabilités sont trop extrêmes.</a:t>
            </a:r>
            <a:endParaRPr lang="en-US" sz="1400" dirty="0"/>
          </a:p>
        </p:txBody>
      </p:sp>
      <p:sp>
        <p:nvSpPr>
          <p:cNvPr id="10" name="Shape 7"/>
          <p:cNvSpPr/>
          <p:nvPr/>
        </p:nvSpPr>
        <p:spPr>
          <a:xfrm>
            <a:off x="5772091" y="2729024"/>
            <a:ext cx="5607129" cy="802600"/>
          </a:xfrm>
          <a:custGeom>
            <a:avLst/>
            <a:gdLst/>
            <a:ahLst/>
            <a:cxnLst/>
            <a:rect l="l" t="t" r="r" b="b"/>
            <a:pathLst>
              <a:path w="5607129"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C0392B"/>
          </a:solidFill>
          <a:ln/>
        </p:spPr>
      </p:sp>
      <p:sp>
        <p:nvSpPr>
          <p:cNvPr id="11" name="Text 8"/>
          <p:cNvSpPr/>
          <p:nvPr/>
        </p:nvSpPr>
        <p:spPr>
          <a:xfrm>
            <a:off x="5772091" y="3658605"/>
            <a:ext cx="5607129" cy="802600"/>
          </a:xfrm>
          <a:prstGeom prst="roundRect">
            <a:avLst>
              <a:gd name="adj" fmla="val 12659"/>
            </a:avLst>
          </a:prstGeom>
          <a:solidFill>
            <a:srgbClr val="FFFFFF"/>
          </a:solidFill>
          <a:ln/>
        </p:spPr>
        <p:txBody>
          <a:bodyPr wrap="square" lIns="222953" tIns="122642" rIns="18885" bIns="97242" rtlCol="0" anchor="t">
            <a:normAutofit/>
          </a:bodyPr>
          <a:lstStyle/>
          <a:p>
            <a:pPr marL="0" indent="0" algn="l">
              <a:lnSpc>
                <a:spcPts val="1960"/>
              </a:lnSpc>
              <a:buNone/>
            </a:pPr>
            <a:r>
              <a:rPr lang="en-US" sz="1400" b="1" dirty="0">
                <a:solidFill>
                  <a:srgbClr val="2B211B"/>
                </a:solidFill>
                <a:latin typeface="Space Grotesk" pitchFamily="34" charset="0"/>
                <a:ea typeface="Space Grotesk" pitchFamily="34" charset="-122"/>
                <a:cs typeface="Space Grotesk" pitchFamily="34" charset="-120"/>
              </a:rPr>
              <a:t>Après calibration</a:t>
            </a:r>
            <a:r>
              <a:rPr lang="en-US" sz="1400" dirty="0">
                <a:solidFill>
                  <a:srgbClr val="2B211B"/>
                </a:solidFill>
                <a:latin typeface="Space Grotesk" pitchFamily="34" charset="0"/>
                <a:ea typeface="Space Grotesk" pitchFamily="34" charset="-122"/>
                <a:cs typeface="Space Grotesk" pitchFamily="34" charset="-120"/>
              </a:rPr>
              <a:t> et </a:t>
            </a:r>
            <a:r>
              <a:rPr lang="en-US" sz="1400" b="1" dirty="0">
                <a:solidFill>
                  <a:srgbClr val="2B211B"/>
                </a:solidFill>
                <a:latin typeface="Space Grotesk" pitchFamily="34" charset="0"/>
                <a:ea typeface="Space Grotesk" pitchFamily="34" charset="-122"/>
                <a:cs typeface="Space Grotesk" pitchFamily="34" charset="-120"/>
              </a:rPr>
              <a:t>régression logistique</a:t>
            </a:r>
            <a:r>
              <a:rPr lang="en-US" sz="1400" dirty="0">
                <a:solidFill>
                  <a:srgbClr val="2B211B"/>
                </a:solidFill>
                <a:latin typeface="Space Grotesk" pitchFamily="34" charset="0"/>
                <a:ea typeface="Space Grotesk" pitchFamily="34" charset="-122"/>
                <a:cs typeface="Space Grotesk" pitchFamily="34" charset="-120"/>
              </a:rPr>
              <a:t> : proches de la diagonale.</a:t>
            </a:r>
            <a:endParaRPr lang="en-US" sz="1400" dirty="0"/>
          </a:p>
        </p:txBody>
      </p:sp>
      <p:sp>
        <p:nvSpPr>
          <p:cNvPr id="12" name="Shape 9"/>
          <p:cNvSpPr/>
          <p:nvPr/>
        </p:nvSpPr>
        <p:spPr>
          <a:xfrm>
            <a:off x="5772091" y="3658605"/>
            <a:ext cx="5607129" cy="802600"/>
          </a:xfrm>
          <a:custGeom>
            <a:avLst/>
            <a:gdLst/>
            <a:ahLst/>
            <a:cxnLst/>
            <a:rect l="l" t="t" r="r" b="b"/>
            <a:pathLst>
              <a:path w="5607129"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1E8449"/>
          </a:solidFill>
          <a:ln/>
        </p:spPr>
      </p:sp>
      <p:pic>
        <p:nvPicPr>
          <p:cNvPr id="13" name="Image 1" descr="Logo ISM"/>
          <p:cNvPicPr>
            <a:picLocks noChangeAspect="1"/>
          </p:cNvPicPr>
          <p:nvPr/>
        </p:nvPicPr>
        <p:blipFill>
          <a:blip r:embed="rId4"/>
          <a:srcRect l="431" r="431"/>
          <a:stretch/>
        </p:blipFill>
        <p:spPr>
          <a:xfrm>
            <a:off x="812780" y="6223037"/>
            <a:ext cx="279380" cy="279380"/>
          </a:xfrm>
          <a:prstGeom prst="roundRect">
            <a:avLst>
              <a:gd name="adj" fmla="val 13637"/>
            </a:avLst>
          </a:prstGeom>
        </p:spPr>
      </p:pic>
      <p:sp>
        <p:nvSpPr>
          <p:cNvPr id="14" name="Text 10"/>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5" name="Text 11"/>
          <p:cNvSpPr/>
          <p:nvPr/>
        </p:nvSpPr>
        <p:spPr>
          <a:xfrm>
            <a:off x="10811447" y="6256015"/>
            <a:ext cx="567714"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25 / 41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33"/>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La fuite de données, démontrée</a:t>
            </a:r>
            <a:endParaRPr lang="en-US" sz="3200" dirty="0"/>
          </a:p>
        </p:txBody>
      </p:sp>
      <p:sp>
        <p:nvSpPr>
          <p:cNvPr id="4" name="Shape 2"/>
          <p:cNvSpPr/>
          <p:nvPr/>
        </p:nvSpPr>
        <p:spPr>
          <a:xfrm>
            <a:off x="819130" y="1809663"/>
            <a:ext cx="10553740" cy="243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sklearn.feature_selection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SelectKBest, f_classif</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sklearn.model_selection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cross_val_score</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rng = np.random.default_rng(0)</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Xb = rng.normal(size=(200, 5000))         </a:t>
            </a:r>
            <a:r>
              <a:rPr lang="en-US" sz="900" dirty="0">
                <a:solidFill>
                  <a:srgbClr val="7D7466"/>
                </a:solidFill>
                <a:latin typeface="JetBrains Mono" pitchFamily="49" charset="0"/>
                <a:ea typeface="JetBrains Mono" pitchFamily="49" charset="-122"/>
                <a:cs typeface="JetBrains Mono" pitchFamily="49" charset="-120"/>
              </a:rPr>
              <a:t># 5 000 colonnes de pur bruit</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yb = rng.integers(0, 2, size=200)          </a:t>
            </a:r>
            <a:r>
              <a:rPr lang="en-US" sz="900" dirty="0">
                <a:solidFill>
                  <a:srgbClr val="7D7466"/>
                </a:solidFill>
                <a:latin typeface="JetBrains Mono" pitchFamily="49" charset="0"/>
                <a:ea typeface="JetBrains Mono" pitchFamily="49" charset="-122"/>
                <a:cs typeface="JetBrains Mono" pitchFamily="49" charset="-120"/>
              </a:rPr>
              <a:t># étiquettes au hasard</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7D7466"/>
                </a:solidFill>
                <a:latin typeface="JetBrains Mono" pitchFamily="49" charset="0"/>
                <a:ea typeface="JetBrains Mono" pitchFamily="49" charset="-122"/>
                <a:cs typeface="JetBrains Mono" pitchFamily="49" charset="-120"/>
              </a:rPr>
              <a:t># MAUVAIS : sélection des variables sur TOUTES les données, puis validation</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X_sel = SelectKBest(f_classif, k=20).fit_transform(Xb, yb)</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faux = cross_val_score(LogisticRegression(), X_sel, yb, cv=5).mean()</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7D7466"/>
                </a:solidFill>
                <a:latin typeface="JetBrains Mono" pitchFamily="49" charset="0"/>
                <a:ea typeface="JetBrains Mono" pitchFamily="49" charset="-122"/>
                <a:cs typeface="JetBrains Mono" pitchFamily="49" charset="-120"/>
              </a:rPr>
              <a:t># BON : la sélection est refaite dans chaque pli, grâce au pipeline</a:t>
            </a:r>
            <a:endParaRPr lang="en-US" sz="900" dirty="0"/>
          </a:p>
        </p:txBody>
      </p:sp>
      <p:sp>
        <p:nvSpPr>
          <p:cNvPr id="14" name="Text 12"/>
          <p:cNvSpPr/>
          <p:nvPr/>
        </p:nvSpPr>
        <p:spPr>
          <a:xfrm>
            <a:off x="1027390" y="362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pipe = make_pipeline(SelectKBest(f_classif, k=20), LogisticRegression())</a:t>
            </a:r>
            <a:endParaRPr lang="en-US" sz="900" dirty="0"/>
          </a:p>
        </p:txBody>
      </p:sp>
      <p:sp>
        <p:nvSpPr>
          <p:cNvPr id="15" name="Text 13"/>
          <p:cNvSpPr/>
          <p:nvPr/>
        </p:nvSpPr>
        <p:spPr>
          <a:xfrm>
            <a:off x="1027390" y="38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vrai = cross_val_score(pipe, Xb, yb, cv=5).mean()</a:t>
            </a:r>
            <a:endParaRPr lang="en-US" sz="900" dirty="0"/>
          </a:p>
        </p:txBody>
      </p:sp>
      <p:sp>
        <p:nvSpPr>
          <p:cNvPr id="16" name="Text 14"/>
          <p:cNvSpPr/>
          <p:nvPr/>
        </p:nvSpPr>
        <p:spPr>
          <a:xfrm>
            <a:off x="1027390" y="40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a:t>
            </a:r>
            <a:r>
              <a:rPr lang="en-US" sz="900" dirty="0">
                <a:solidFill>
                  <a:srgbClr val="2C6E3F"/>
                </a:solidFill>
                <a:latin typeface="JetBrains Mono" pitchFamily="49" charset="0"/>
                <a:ea typeface="JetBrains Mono" pitchFamily="49" charset="-122"/>
                <a:cs typeface="JetBrains Mono" pitchFamily="49" charset="-120"/>
              </a:rPr>
              <a:t>f"Avec fuite : {faux:.2f}   Sans fuite : {vrai:.2f}"</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7" name="Shape 15"/>
          <p:cNvSpPr/>
          <p:nvPr/>
        </p:nvSpPr>
        <p:spPr>
          <a:xfrm>
            <a:off x="812780" y="4295000"/>
            <a:ext cx="3886200" cy="430000"/>
          </a:xfrm>
          <a:prstGeom prst="roundRect">
            <a:avLst>
              <a:gd name="adj" fmla="val 29167"/>
            </a:avLst>
          </a:prstGeom>
          <a:solidFill>
            <a:srgbClr val="ECE6D8"/>
          </a:solidFill>
          <a:ln/>
        </p:spPr>
      </p:sp>
      <p:sp>
        <p:nvSpPr>
          <p:cNvPr id="18" name="Shape 16"/>
          <p:cNvSpPr/>
          <p:nvPr/>
        </p:nvSpPr>
        <p:spPr>
          <a:xfrm>
            <a:off x="812780" y="4295000"/>
            <a:ext cx="3886200" cy="430000"/>
          </a:xfrm>
          <a:custGeom>
            <a:avLst/>
            <a:gdLst/>
            <a:ahLst/>
            <a:cxnLst/>
            <a:rect l="l" t="t" r="r" b="b"/>
            <a:pathLst>
              <a:path w="388620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9" name="Text 17"/>
          <p:cNvSpPr/>
          <p:nvPr/>
        </p:nvSpPr>
        <p:spPr>
          <a:xfrm>
            <a:off x="1065490" y="4335000"/>
            <a:ext cx="3533219"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Avec fuite : 0.79   Sans fuite : 0.51</a:t>
            </a:r>
            <a:endParaRPr lang="en-US" sz="950" dirty="0"/>
          </a:p>
        </p:txBody>
      </p:sp>
      <p:sp>
        <p:nvSpPr>
          <p:cNvPr id="20" name="Text 18"/>
          <p:cNvSpPr/>
          <p:nvPr/>
        </p:nvSpPr>
        <p:spPr>
          <a:xfrm>
            <a:off x="4952941" y="4505000"/>
            <a:ext cx="6619068"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Données </a:t>
            </a:r>
            <a:r>
              <a:rPr lang="en-US" sz="950" b="1" dirty="0">
                <a:solidFill>
                  <a:srgbClr val="9A5414"/>
                </a:solidFill>
                <a:latin typeface="Space Grotesk" pitchFamily="34" charset="0"/>
                <a:ea typeface="Space Grotesk" pitchFamily="34" charset="-122"/>
                <a:cs typeface="Space Grotesk" pitchFamily="34" charset="-120"/>
              </a:rPr>
              <a:t>100 % aléatoires</a:t>
            </a:r>
            <a:r>
              <a:rPr lang="en-US" sz="950" dirty="0">
                <a:solidFill>
                  <a:srgbClr val="2B211B"/>
                </a:solidFill>
                <a:latin typeface="Space Grotesk" pitchFamily="34" charset="0"/>
                <a:ea typeface="Space Grotesk" pitchFamily="34" charset="-122"/>
                <a:cs typeface="Space Grotesk" pitchFamily="34" charset="-120"/>
              </a:rPr>
              <a:t> : 79 % est une illusion, 51 % est la vérité.</a:t>
            </a:r>
            <a:endParaRPr lang="en-US" sz="950" dirty="0"/>
          </a:p>
        </p:txBody>
      </p:sp>
      <p:pic>
        <p:nvPicPr>
          <p:cNvPr id="21"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22" name="Text 19"/>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3" name="Text 20"/>
          <p:cNvSpPr/>
          <p:nvPr/>
        </p:nvSpPr>
        <p:spPr>
          <a:xfrm>
            <a:off x="10809089" y="6256015"/>
            <a:ext cx="57007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26 / 41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ÉVALUER</a:t>
            </a:r>
            <a:endParaRPr lang="en-US" sz="1200" dirty="0"/>
          </a:p>
        </p:txBody>
      </p:sp>
      <p:sp>
        <p:nvSpPr>
          <p:cNvPr id="3" name="Text 1"/>
          <p:cNvSpPr>
            <a:spLocks noGrp="1"/>
          </p:cNvSpPr>
          <p:nvPr>
            <p:ph type="title"/>
          </p:nvPr>
        </p:nvSpPr>
        <p:spPr>
          <a:xfrm>
            <a:off x="812780" y="1102333"/>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Données temporelles : TimeSeriesSplit</a:t>
            </a:r>
            <a:endParaRPr lang="en-US" sz="3200" dirty="0"/>
          </a:p>
        </p:txBody>
      </p:sp>
      <p:sp>
        <p:nvSpPr>
          <p:cNvPr id="4" name="Text 2"/>
          <p:cNvSpPr/>
          <p:nvPr/>
        </p:nvSpPr>
        <p:spPr>
          <a:xfrm>
            <a:off x="812780" y="1803313"/>
            <a:ext cx="660400" cy="1800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0</a:t>
            </a:r>
            <a:endParaRPr lang="en-US" sz="1200" dirty="0"/>
          </a:p>
        </p:txBody>
      </p:sp>
      <p:sp>
        <p:nvSpPr>
          <p:cNvPr id="5" name="Shape 3"/>
          <p:cNvSpPr/>
          <p:nvPr/>
        </p:nvSpPr>
        <p:spPr>
          <a:xfrm>
            <a:off x="1447741" y="1803313"/>
            <a:ext cx="178475" cy="355580"/>
          </a:xfrm>
          <a:prstGeom prst="roundRect">
            <a:avLst>
              <a:gd name="adj" fmla="val 28463"/>
            </a:avLst>
          </a:prstGeom>
          <a:solidFill>
            <a:srgbClr val="4A2F20"/>
          </a:solidFill>
          <a:ln/>
        </p:spPr>
      </p:sp>
      <p:sp>
        <p:nvSpPr>
          <p:cNvPr id="6" name="Shape 4"/>
          <p:cNvSpPr/>
          <p:nvPr/>
        </p:nvSpPr>
        <p:spPr>
          <a:xfrm>
            <a:off x="1651576" y="1803313"/>
            <a:ext cx="178534" cy="355580"/>
          </a:xfrm>
          <a:prstGeom prst="roundRect">
            <a:avLst>
              <a:gd name="adj" fmla="val 28454"/>
            </a:avLst>
          </a:prstGeom>
          <a:solidFill>
            <a:srgbClr val="4A2F20"/>
          </a:solidFill>
          <a:ln/>
        </p:spPr>
      </p:sp>
      <p:sp>
        <p:nvSpPr>
          <p:cNvPr id="7" name="Shape 5"/>
          <p:cNvSpPr/>
          <p:nvPr/>
        </p:nvSpPr>
        <p:spPr>
          <a:xfrm>
            <a:off x="1855470" y="1803313"/>
            <a:ext cx="178475" cy="355580"/>
          </a:xfrm>
          <a:prstGeom prst="roundRect">
            <a:avLst>
              <a:gd name="adj" fmla="val 28463"/>
            </a:avLst>
          </a:prstGeom>
          <a:solidFill>
            <a:srgbClr val="4A2F20"/>
          </a:solidFill>
          <a:ln/>
        </p:spPr>
      </p:sp>
      <p:sp>
        <p:nvSpPr>
          <p:cNvPr id="8" name="Shape 6"/>
          <p:cNvSpPr/>
          <p:nvPr/>
        </p:nvSpPr>
        <p:spPr>
          <a:xfrm>
            <a:off x="2059305" y="1803313"/>
            <a:ext cx="178534" cy="355580"/>
          </a:xfrm>
          <a:prstGeom prst="roundRect">
            <a:avLst>
              <a:gd name="adj" fmla="val 28454"/>
            </a:avLst>
          </a:prstGeom>
          <a:solidFill>
            <a:srgbClr val="4A2F20"/>
          </a:solidFill>
          <a:ln/>
        </p:spPr>
      </p:sp>
      <p:sp>
        <p:nvSpPr>
          <p:cNvPr id="9" name="Shape 7"/>
          <p:cNvSpPr/>
          <p:nvPr/>
        </p:nvSpPr>
        <p:spPr>
          <a:xfrm>
            <a:off x="2263200" y="1803313"/>
            <a:ext cx="178475" cy="355580"/>
          </a:xfrm>
          <a:prstGeom prst="roundRect">
            <a:avLst>
              <a:gd name="adj" fmla="val 28463"/>
            </a:avLst>
          </a:prstGeom>
          <a:solidFill>
            <a:srgbClr val="E3A23B"/>
          </a:solidFill>
          <a:ln/>
        </p:spPr>
      </p:sp>
      <p:sp>
        <p:nvSpPr>
          <p:cNvPr id="10" name="Shape 8"/>
          <p:cNvSpPr/>
          <p:nvPr/>
        </p:nvSpPr>
        <p:spPr>
          <a:xfrm>
            <a:off x="2467035" y="1803313"/>
            <a:ext cx="178475" cy="355580"/>
          </a:xfrm>
          <a:prstGeom prst="roundRect">
            <a:avLst>
              <a:gd name="adj" fmla="val 28463"/>
            </a:avLst>
          </a:prstGeom>
          <a:solidFill>
            <a:srgbClr val="E3A23B"/>
          </a:solidFill>
          <a:ln/>
        </p:spPr>
      </p:sp>
      <p:sp>
        <p:nvSpPr>
          <p:cNvPr id="11" name="Shape 9"/>
          <p:cNvSpPr/>
          <p:nvPr/>
        </p:nvSpPr>
        <p:spPr>
          <a:xfrm>
            <a:off x="2670870" y="1803313"/>
            <a:ext cx="178475" cy="355580"/>
          </a:xfrm>
          <a:prstGeom prst="roundRect">
            <a:avLst>
              <a:gd name="adj" fmla="val 28463"/>
            </a:avLst>
          </a:prstGeom>
          <a:solidFill>
            <a:srgbClr val="E3A23B"/>
          </a:solidFill>
          <a:ln/>
        </p:spPr>
      </p:sp>
      <p:sp>
        <p:nvSpPr>
          <p:cNvPr id="12" name="Shape 10"/>
          <p:cNvSpPr/>
          <p:nvPr/>
        </p:nvSpPr>
        <p:spPr>
          <a:xfrm>
            <a:off x="2874705" y="1803313"/>
            <a:ext cx="178475" cy="355580"/>
          </a:xfrm>
          <a:prstGeom prst="roundRect">
            <a:avLst>
              <a:gd name="adj" fmla="val 28463"/>
            </a:avLst>
          </a:prstGeom>
          <a:solidFill>
            <a:srgbClr val="E3A23B"/>
          </a:solidFill>
          <a:ln/>
        </p:spPr>
      </p:sp>
      <p:sp>
        <p:nvSpPr>
          <p:cNvPr id="13" name="Shape 11"/>
          <p:cNvSpPr/>
          <p:nvPr/>
        </p:nvSpPr>
        <p:spPr>
          <a:xfrm>
            <a:off x="3078540" y="1803313"/>
            <a:ext cx="178475" cy="355580"/>
          </a:xfrm>
          <a:prstGeom prst="roundRect">
            <a:avLst>
              <a:gd name="adj" fmla="val 28463"/>
            </a:avLst>
          </a:prstGeom>
          <a:solidFill>
            <a:srgbClr val="FFFFFF"/>
          </a:solidFill>
          <a:ln/>
        </p:spPr>
      </p:sp>
      <p:sp>
        <p:nvSpPr>
          <p:cNvPr id="14" name="Shape 12"/>
          <p:cNvSpPr/>
          <p:nvPr/>
        </p:nvSpPr>
        <p:spPr>
          <a:xfrm>
            <a:off x="3282375" y="1803313"/>
            <a:ext cx="178475" cy="355580"/>
          </a:xfrm>
          <a:prstGeom prst="roundRect">
            <a:avLst>
              <a:gd name="adj" fmla="val 28463"/>
            </a:avLst>
          </a:prstGeom>
          <a:solidFill>
            <a:srgbClr val="FFFFFF"/>
          </a:solidFill>
          <a:ln/>
        </p:spPr>
      </p:sp>
      <p:sp>
        <p:nvSpPr>
          <p:cNvPr id="15" name="Shape 13"/>
          <p:cNvSpPr/>
          <p:nvPr/>
        </p:nvSpPr>
        <p:spPr>
          <a:xfrm>
            <a:off x="3486210" y="1803313"/>
            <a:ext cx="178475" cy="355580"/>
          </a:xfrm>
          <a:prstGeom prst="roundRect">
            <a:avLst>
              <a:gd name="adj" fmla="val 28463"/>
            </a:avLst>
          </a:prstGeom>
          <a:solidFill>
            <a:srgbClr val="FFFFFF"/>
          </a:solidFill>
          <a:ln/>
        </p:spPr>
      </p:sp>
      <p:sp>
        <p:nvSpPr>
          <p:cNvPr id="16" name="Shape 14"/>
          <p:cNvSpPr/>
          <p:nvPr/>
        </p:nvSpPr>
        <p:spPr>
          <a:xfrm>
            <a:off x="3690045" y="1803313"/>
            <a:ext cx="178475" cy="355580"/>
          </a:xfrm>
          <a:prstGeom prst="roundRect">
            <a:avLst>
              <a:gd name="adj" fmla="val 28463"/>
            </a:avLst>
          </a:prstGeom>
          <a:solidFill>
            <a:srgbClr val="FFFFFF"/>
          </a:solidFill>
          <a:ln/>
        </p:spPr>
      </p:sp>
      <p:sp>
        <p:nvSpPr>
          <p:cNvPr id="17" name="Shape 15"/>
          <p:cNvSpPr/>
          <p:nvPr/>
        </p:nvSpPr>
        <p:spPr>
          <a:xfrm>
            <a:off x="3893880" y="1803313"/>
            <a:ext cx="178475" cy="355580"/>
          </a:xfrm>
          <a:prstGeom prst="roundRect">
            <a:avLst>
              <a:gd name="adj" fmla="val 28463"/>
            </a:avLst>
          </a:prstGeom>
          <a:solidFill>
            <a:srgbClr val="FFFFFF"/>
          </a:solidFill>
          <a:ln/>
        </p:spPr>
      </p:sp>
      <p:sp>
        <p:nvSpPr>
          <p:cNvPr id="18" name="Shape 16"/>
          <p:cNvSpPr/>
          <p:nvPr/>
        </p:nvSpPr>
        <p:spPr>
          <a:xfrm>
            <a:off x="4097715" y="1803313"/>
            <a:ext cx="178475" cy="355580"/>
          </a:xfrm>
          <a:prstGeom prst="roundRect">
            <a:avLst>
              <a:gd name="adj" fmla="val 28463"/>
            </a:avLst>
          </a:prstGeom>
          <a:solidFill>
            <a:srgbClr val="FFFFFF"/>
          </a:solidFill>
          <a:ln/>
        </p:spPr>
      </p:sp>
      <p:sp>
        <p:nvSpPr>
          <p:cNvPr id="19" name="Shape 17"/>
          <p:cNvSpPr/>
          <p:nvPr/>
        </p:nvSpPr>
        <p:spPr>
          <a:xfrm>
            <a:off x="4301550" y="1803313"/>
            <a:ext cx="178475" cy="355580"/>
          </a:xfrm>
          <a:prstGeom prst="roundRect">
            <a:avLst>
              <a:gd name="adj" fmla="val 28463"/>
            </a:avLst>
          </a:prstGeom>
          <a:solidFill>
            <a:srgbClr val="FFFFFF"/>
          </a:solidFill>
          <a:ln/>
        </p:spPr>
      </p:sp>
      <p:sp>
        <p:nvSpPr>
          <p:cNvPr id="20" name="Shape 18"/>
          <p:cNvSpPr/>
          <p:nvPr/>
        </p:nvSpPr>
        <p:spPr>
          <a:xfrm>
            <a:off x="4505385" y="1803313"/>
            <a:ext cx="178475" cy="355580"/>
          </a:xfrm>
          <a:prstGeom prst="roundRect">
            <a:avLst>
              <a:gd name="adj" fmla="val 28463"/>
            </a:avLst>
          </a:prstGeom>
          <a:solidFill>
            <a:srgbClr val="FFFFFF"/>
          </a:solidFill>
          <a:ln/>
        </p:spPr>
      </p:sp>
      <p:sp>
        <p:nvSpPr>
          <p:cNvPr id="21" name="Shape 19"/>
          <p:cNvSpPr/>
          <p:nvPr/>
        </p:nvSpPr>
        <p:spPr>
          <a:xfrm>
            <a:off x="4709220" y="1803313"/>
            <a:ext cx="178475" cy="355580"/>
          </a:xfrm>
          <a:prstGeom prst="roundRect">
            <a:avLst>
              <a:gd name="adj" fmla="val 28463"/>
            </a:avLst>
          </a:prstGeom>
          <a:solidFill>
            <a:srgbClr val="FFFFFF"/>
          </a:solidFill>
          <a:ln/>
        </p:spPr>
      </p:sp>
      <p:sp>
        <p:nvSpPr>
          <p:cNvPr id="22" name="Shape 20"/>
          <p:cNvSpPr/>
          <p:nvPr/>
        </p:nvSpPr>
        <p:spPr>
          <a:xfrm>
            <a:off x="4913055" y="1803313"/>
            <a:ext cx="178475" cy="355580"/>
          </a:xfrm>
          <a:prstGeom prst="roundRect">
            <a:avLst>
              <a:gd name="adj" fmla="val 28463"/>
            </a:avLst>
          </a:prstGeom>
          <a:solidFill>
            <a:srgbClr val="FFFFFF"/>
          </a:solidFill>
          <a:ln/>
        </p:spPr>
      </p:sp>
      <p:sp>
        <p:nvSpPr>
          <p:cNvPr id="23" name="Shape 21"/>
          <p:cNvSpPr/>
          <p:nvPr/>
        </p:nvSpPr>
        <p:spPr>
          <a:xfrm>
            <a:off x="5116890" y="1803313"/>
            <a:ext cx="178475" cy="355580"/>
          </a:xfrm>
          <a:prstGeom prst="roundRect">
            <a:avLst>
              <a:gd name="adj" fmla="val 28463"/>
            </a:avLst>
          </a:prstGeom>
          <a:solidFill>
            <a:srgbClr val="FFFFFF"/>
          </a:solidFill>
          <a:ln/>
        </p:spPr>
      </p:sp>
      <p:sp>
        <p:nvSpPr>
          <p:cNvPr id="24" name="Shape 22"/>
          <p:cNvSpPr/>
          <p:nvPr/>
        </p:nvSpPr>
        <p:spPr>
          <a:xfrm>
            <a:off x="5320725" y="1803313"/>
            <a:ext cx="178475" cy="355580"/>
          </a:xfrm>
          <a:prstGeom prst="roundRect">
            <a:avLst>
              <a:gd name="adj" fmla="val 28463"/>
            </a:avLst>
          </a:prstGeom>
          <a:solidFill>
            <a:srgbClr val="FFFFFF"/>
          </a:solidFill>
          <a:ln/>
        </p:spPr>
      </p:sp>
      <p:sp>
        <p:nvSpPr>
          <p:cNvPr id="25" name="Text 23"/>
          <p:cNvSpPr/>
          <p:nvPr/>
        </p:nvSpPr>
        <p:spPr>
          <a:xfrm>
            <a:off x="812780" y="2247776"/>
            <a:ext cx="660400" cy="1800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1</a:t>
            </a:r>
            <a:endParaRPr lang="en-US" sz="1200" dirty="0"/>
          </a:p>
        </p:txBody>
      </p:sp>
      <p:sp>
        <p:nvSpPr>
          <p:cNvPr id="26" name="Shape 24"/>
          <p:cNvSpPr/>
          <p:nvPr/>
        </p:nvSpPr>
        <p:spPr>
          <a:xfrm>
            <a:off x="1447741" y="2247776"/>
            <a:ext cx="178475" cy="355580"/>
          </a:xfrm>
          <a:prstGeom prst="roundRect">
            <a:avLst>
              <a:gd name="adj" fmla="val 28463"/>
            </a:avLst>
          </a:prstGeom>
          <a:solidFill>
            <a:srgbClr val="4A2F20"/>
          </a:solidFill>
          <a:ln/>
        </p:spPr>
      </p:sp>
      <p:sp>
        <p:nvSpPr>
          <p:cNvPr id="27" name="Shape 25"/>
          <p:cNvSpPr/>
          <p:nvPr/>
        </p:nvSpPr>
        <p:spPr>
          <a:xfrm>
            <a:off x="1651576" y="2247776"/>
            <a:ext cx="178534" cy="355580"/>
          </a:xfrm>
          <a:prstGeom prst="roundRect">
            <a:avLst>
              <a:gd name="adj" fmla="val 28454"/>
            </a:avLst>
          </a:prstGeom>
          <a:solidFill>
            <a:srgbClr val="4A2F20"/>
          </a:solidFill>
          <a:ln/>
        </p:spPr>
      </p:sp>
      <p:sp>
        <p:nvSpPr>
          <p:cNvPr id="28" name="Shape 26"/>
          <p:cNvSpPr/>
          <p:nvPr/>
        </p:nvSpPr>
        <p:spPr>
          <a:xfrm>
            <a:off x="1855470" y="2247776"/>
            <a:ext cx="178475" cy="355580"/>
          </a:xfrm>
          <a:prstGeom prst="roundRect">
            <a:avLst>
              <a:gd name="adj" fmla="val 28463"/>
            </a:avLst>
          </a:prstGeom>
          <a:solidFill>
            <a:srgbClr val="4A2F20"/>
          </a:solidFill>
          <a:ln/>
        </p:spPr>
      </p:sp>
      <p:sp>
        <p:nvSpPr>
          <p:cNvPr id="29" name="Shape 27"/>
          <p:cNvSpPr/>
          <p:nvPr/>
        </p:nvSpPr>
        <p:spPr>
          <a:xfrm>
            <a:off x="2059305" y="2247776"/>
            <a:ext cx="178534" cy="355580"/>
          </a:xfrm>
          <a:prstGeom prst="roundRect">
            <a:avLst>
              <a:gd name="adj" fmla="val 28454"/>
            </a:avLst>
          </a:prstGeom>
          <a:solidFill>
            <a:srgbClr val="4A2F20"/>
          </a:solidFill>
          <a:ln/>
        </p:spPr>
      </p:sp>
      <p:sp>
        <p:nvSpPr>
          <p:cNvPr id="30" name="Shape 28"/>
          <p:cNvSpPr/>
          <p:nvPr/>
        </p:nvSpPr>
        <p:spPr>
          <a:xfrm>
            <a:off x="2263200" y="2247776"/>
            <a:ext cx="178475" cy="355580"/>
          </a:xfrm>
          <a:prstGeom prst="roundRect">
            <a:avLst>
              <a:gd name="adj" fmla="val 28463"/>
            </a:avLst>
          </a:prstGeom>
          <a:solidFill>
            <a:srgbClr val="4A2F20"/>
          </a:solidFill>
          <a:ln/>
        </p:spPr>
      </p:sp>
      <p:sp>
        <p:nvSpPr>
          <p:cNvPr id="31" name="Shape 29"/>
          <p:cNvSpPr/>
          <p:nvPr/>
        </p:nvSpPr>
        <p:spPr>
          <a:xfrm>
            <a:off x="2467035" y="2247776"/>
            <a:ext cx="178475" cy="355580"/>
          </a:xfrm>
          <a:prstGeom prst="roundRect">
            <a:avLst>
              <a:gd name="adj" fmla="val 28463"/>
            </a:avLst>
          </a:prstGeom>
          <a:solidFill>
            <a:srgbClr val="4A2F20"/>
          </a:solidFill>
          <a:ln/>
        </p:spPr>
      </p:sp>
      <p:sp>
        <p:nvSpPr>
          <p:cNvPr id="32" name="Shape 30"/>
          <p:cNvSpPr/>
          <p:nvPr/>
        </p:nvSpPr>
        <p:spPr>
          <a:xfrm>
            <a:off x="2670870" y="2247776"/>
            <a:ext cx="178475" cy="355580"/>
          </a:xfrm>
          <a:prstGeom prst="roundRect">
            <a:avLst>
              <a:gd name="adj" fmla="val 28463"/>
            </a:avLst>
          </a:prstGeom>
          <a:solidFill>
            <a:srgbClr val="4A2F20"/>
          </a:solidFill>
          <a:ln/>
        </p:spPr>
      </p:sp>
      <p:sp>
        <p:nvSpPr>
          <p:cNvPr id="33" name="Shape 31"/>
          <p:cNvSpPr/>
          <p:nvPr/>
        </p:nvSpPr>
        <p:spPr>
          <a:xfrm>
            <a:off x="2874705" y="2247776"/>
            <a:ext cx="178475" cy="355580"/>
          </a:xfrm>
          <a:prstGeom prst="roundRect">
            <a:avLst>
              <a:gd name="adj" fmla="val 28463"/>
            </a:avLst>
          </a:prstGeom>
          <a:solidFill>
            <a:srgbClr val="4A2F20"/>
          </a:solidFill>
          <a:ln/>
        </p:spPr>
      </p:sp>
      <p:sp>
        <p:nvSpPr>
          <p:cNvPr id="34" name="Shape 32"/>
          <p:cNvSpPr/>
          <p:nvPr/>
        </p:nvSpPr>
        <p:spPr>
          <a:xfrm>
            <a:off x="3078540" y="2247776"/>
            <a:ext cx="178475" cy="355580"/>
          </a:xfrm>
          <a:prstGeom prst="roundRect">
            <a:avLst>
              <a:gd name="adj" fmla="val 28463"/>
            </a:avLst>
          </a:prstGeom>
          <a:solidFill>
            <a:srgbClr val="E3A23B"/>
          </a:solidFill>
          <a:ln/>
        </p:spPr>
      </p:sp>
      <p:sp>
        <p:nvSpPr>
          <p:cNvPr id="35" name="Shape 33"/>
          <p:cNvSpPr/>
          <p:nvPr/>
        </p:nvSpPr>
        <p:spPr>
          <a:xfrm>
            <a:off x="3282375" y="2247776"/>
            <a:ext cx="178475" cy="355580"/>
          </a:xfrm>
          <a:prstGeom prst="roundRect">
            <a:avLst>
              <a:gd name="adj" fmla="val 28463"/>
            </a:avLst>
          </a:prstGeom>
          <a:solidFill>
            <a:srgbClr val="E3A23B"/>
          </a:solidFill>
          <a:ln/>
        </p:spPr>
      </p:sp>
      <p:sp>
        <p:nvSpPr>
          <p:cNvPr id="36" name="Shape 34"/>
          <p:cNvSpPr/>
          <p:nvPr/>
        </p:nvSpPr>
        <p:spPr>
          <a:xfrm>
            <a:off x="3486210" y="2247776"/>
            <a:ext cx="178475" cy="355580"/>
          </a:xfrm>
          <a:prstGeom prst="roundRect">
            <a:avLst>
              <a:gd name="adj" fmla="val 28463"/>
            </a:avLst>
          </a:prstGeom>
          <a:solidFill>
            <a:srgbClr val="E3A23B"/>
          </a:solidFill>
          <a:ln/>
        </p:spPr>
      </p:sp>
      <p:sp>
        <p:nvSpPr>
          <p:cNvPr id="37" name="Shape 35"/>
          <p:cNvSpPr/>
          <p:nvPr/>
        </p:nvSpPr>
        <p:spPr>
          <a:xfrm>
            <a:off x="3690045" y="2247776"/>
            <a:ext cx="178475" cy="355580"/>
          </a:xfrm>
          <a:prstGeom prst="roundRect">
            <a:avLst>
              <a:gd name="adj" fmla="val 28463"/>
            </a:avLst>
          </a:prstGeom>
          <a:solidFill>
            <a:srgbClr val="E3A23B"/>
          </a:solidFill>
          <a:ln/>
        </p:spPr>
      </p:sp>
      <p:sp>
        <p:nvSpPr>
          <p:cNvPr id="38" name="Shape 36"/>
          <p:cNvSpPr/>
          <p:nvPr/>
        </p:nvSpPr>
        <p:spPr>
          <a:xfrm>
            <a:off x="3893880" y="2247776"/>
            <a:ext cx="178475" cy="355580"/>
          </a:xfrm>
          <a:prstGeom prst="roundRect">
            <a:avLst>
              <a:gd name="adj" fmla="val 28463"/>
            </a:avLst>
          </a:prstGeom>
          <a:solidFill>
            <a:srgbClr val="FFFFFF"/>
          </a:solidFill>
          <a:ln/>
        </p:spPr>
      </p:sp>
      <p:sp>
        <p:nvSpPr>
          <p:cNvPr id="39" name="Shape 37"/>
          <p:cNvSpPr/>
          <p:nvPr/>
        </p:nvSpPr>
        <p:spPr>
          <a:xfrm>
            <a:off x="4097715" y="2247776"/>
            <a:ext cx="178475" cy="355580"/>
          </a:xfrm>
          <a:prstGeom prst="roundRect">
            <a:avLst>
              <a:gd name="adj" fmla="val 28463"/>
            </a:avLst>
          </a:prstGeom>
          <a:solidFill>
            <a:srgbClr val="FFFFFF"/>
          </a:solidFill>
          <a:ln/>
        </p:spPr>
      </p:sp>
      <p:sp>
        <p:nvSpPr>
          <p:cNvPr id="40" name="Shape 38"/>
          <p:cNvSpPr/>
          <p:nvPr/>
        </p:nvSpPr>
        <p:spPr>
          <a:xfrm>
            <a:off x="4301550" y="2247776"/>
            <a:ext cx="178475" cy="355580"/>
          </a:xfrm>
          <a:prstGeom prst="roundRect">
            <a:avLst>
              <a:gd name="adj" fmla="val 28463"/>
            </a:avLst>
          </a:prstGeom>
          <a:solidFill>
            <a:srgbClr val="FFFFFF"/>
          </a:solidFill>
          <a:ln/>
        </p:spPr>
      </p:sp>
      <p:sp>
        <p:nvSpPr>
          <p:cNvPr id="41" name="Shape 39"/>
          <p:cNvSpPr/>
          <p:nvPr/>
        </p:nvSpPr>
        <p:spPr>
          <a:xfrm>
            <a:off x="4505385" y="2247776"/>
            <a:ext cx="178475" cy="355580"/>
          </a:xfrm>
          <a:prstGeom prst="roundRect">
            <a:avLst>
              <a:gd name="adj" fmla="val 28463"/>
            </a:avLst>
          </a:prstGeom>
          <a:solidFill>
            <a:srgbClr val="FFFFFF"/>
          </a:solidFill>
          <a:ln/>
        </p:spPr>
      </p:sp>
      <p:sp>
        <p:nvSpPr>
          <p:cNvPr id="42" name="Shape 40"/>
          <p:cNvSpPr/>
          <p:nvPr/>
        </p:nvSpPr>
        <p:spPr>
          <a:xfrm>
            <a:off x="4709220" y="2247776"/>
            <a:ext cx="178475" cy="355580"/>
          </a:xfrm>
          <a:prstGeom prst="roundRect">
            <a:avLst>
              <a:gd name="adj" fmla="val 28463"/>
            </a:avLst>
          </a:prstGeom>
          <a:solidFill>
            <a:srgbClr val="FFFFFF"/>
          </a:solidFill>
          <a:ln/>
        </p:spPr>
      </p:sp>
      <p:sp>
        <p:nvSpPr>
          <p:cNvPr id="43" name="Shape 41"/>
          <p:cNvSpPr/>
          <p:nvPr/>
        </p:nvSpPr>
        <p:spPr>
          <a:xfrm>
            <a:off x="4913055" y="2247776"/>
            <a:ext cx="178475" cy="355580"/>
          </a:xfrm>
          <a:prstGeom prst="roundRect">
            <a:avLst>
              <a:gd name="adj" fmla="val 28463"/>
            </a:avLst>
          </a:prstGeom>
          <a:solidFill>
            <a:srgbClr val="FFFFFF"/>
          </a:solidFill>
          <a:ln/>
        </p:spPr>
      </p:sp>
      <p:sp>
        <p:nvSpPr>
          <p:cNvPr id="44" name="Shape 42"/>
          <p:cNvSpPr/>
          <p:nvPr/>
        </p:nvSpPr>
        <p:spPr>
          <a:xfrm>
            <a:off x="5116890" y="2247776"/>
            <a:ext cx="178475" cy="355580"/>
          </a:xfrm>
          <a:prstGeom prst="roundRect">
            <a:avLst>
              <a:gd name="adj" fmla="val 28463"/>
            </a:avLst>
          </a:prstGeom>
          <a:solidFill>
            <a:srgbClr val="FFFFFF"/>
          </a:solidFill>
          <a:ln/>
        </p:spPr>
      </p:sp>
      <p:sp>
        <p:nvSpPr>
          <p:cNvPr id="45" name="Shape 43"/>
          <p:cNvSpPr/>
          <p:nvPr/>
        </p:nvSpPr>
        <p:spPr>
          <a:xfrm>
            <a:off x="5320725" y="2247776"/>
            <a:ext cx="178475" cy="355580"/>
          </a:xfrm>
          <a:prstGeom prst="roundRect">
            <a:avLst>
              <a:gd name="adj" fmla="val 28463"/>
            </a:avLst>
          </a:prstGeom>
          <a:solidFill>
            <a:srgbClr val="FFFFFF"/>
          </a:solidFill>
          <a:ln/>
        </p:spPr>
      </p:sp>
      <p:sp>
        <p:nvSpPr>
          <p:cNvPr id="46" name="Text 44"/>
          <p:cNvSpPr/>
          <p:nvPr/>
        </p:nvSpPr>
        <p:spPr>
          <a:xfrm>
            <a:off x="812780" y="2692239"/>
            <a:ext cx="660400" cy="1800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2</a:t>
            </a:r>
            <a:endParaRPr lang="en-US" sz="1200" dirty="0"/>
          </a:p>
        </p:txBody>
      </p:sp>
      <p:sp>
        <p:nvSpPr>
          <p:cNvPr id="47" name="Shape 45"/>
          <p:cNvSpPr/>
          <p:nvPr/>
        </p:nvSpPr>
        <p:spPr>
          <a:xfrm>
            <a:off x="1447741" y="2692239"/>
            <a:ext cx="178475" cy="355580"/>
          </a:xfrm>
          <a:prstGeom prst="roundRect">
            <a:avLst>
              <a:gd name="adj" fmla="val 28463"/>
            </a:avLst>
          </a:prstGeom>
          <a:solidFill>
            <a:srgbClr val="4A2F20"/>
          </a:solidFill>
          <a:ln/>
        </p:spPr>
      </p:sp>
      <p:sp>
        <p:nvSpPr>
          <p:cNvPr id="48" name="Shape 46"/>
          <p:cNvSpPr/>
          <p:nvPr/>
        </p:nvSpPr>
        <p:spPr>
          <a:xfrm>
            <a:off x="1651576" y="2692239"/>
            <a:ext cx="178534" cy="355580"/>
          </a:xfrm>
          <a:prstGeom prst="roundRect">
            <a:avLst>
              <a:gd name="adj" fmla="val 28454"/>
            </a:avLst>
          </a:prstGeom>
          <a:solidFill>
            <a:srgbClr val="4A2F20"/>
          </a:solidFill>
          <a:ln/>
        </p:spPr>
      </p:sp>
      <p:sp>
        <p:nvSpPr>
          <p:cNvPr id="49" name="Shape 47"/>
          <p:cNvSpPr/>
          <p:nvPr/>
        </p:nvSpPr>
        <p:spPr>
          <a:xfrm>
            <a:off x="1855470" y="2692239"/>
            <a:ext cx="178475" cy="355580"/>
          </a:xfrm>
          <a:prstGeom prst="roundRect">
            <a:avLst>
              <a:gd name="adj" fmla="val 28463"/>
            </a:avLst>
          </a:prstGeom>
          <a:solidFill>
            <a:srgbClr val="4A2F20"/>
          </a:solidFill>
          <a:ln/>
        </p:spPr>
      </p:sp>
      <p:sp>
        <p:nvSpPr>
          <p:cNvPr id="50" name="Shape 48"/>
          <p:cNvSpPr/>
          <p:nvPr/>
        </p:nvSpPr>
        <p:spPr>
          <a:xfrm>
            <a:off x="2059305" y="2692239"/>
            <a:ext cx="178534" cy="355580"/>
          </a:xfrm>
          <a:prstGeom prst="roundRect">
            <a:avLst>
              <a:gd name="adj" fmla="val 28454"/>
            </a:avLst>
          </a:prstGeom>
          <a:solidFill>
            <a:srgbClr val="4A2F20"/>
          </a:solidFill>
          <a:ln/>
        </p:spPr>
      </p:sp>
      <p:sp>
        <p:nvSpPr>
          <p:cNvPr id="51" name="Shape 49"/>
          <p:cNvSpPr/>
          <p:nvPr/>
        </p:nvSpPr>
        <p:spPr>
          <a:xfrm>
            <a:off x="2263200" y="2692239"/>
            <a:ext cx="178475" cy="355580"/>
          </a:xfrm>
          <a:prstGeom prst="roundRect">
            <a:avLst>
              <a:gd name="adj" fmla="val 28463"/>
            </a:avLst>
          </a:prstGeom>
          <a:solidFill>
            <a:srgbClr val="4A2F20"/>
          </a:solidFill>
          <a:ln/>
        </p:spPr>
      </p:sp>
      <p:sp>
        <p:nvSpPr>
          <p:cNvPr id="52" name="Shape 50"/>
          <p:cNvSpPr/>
          <p:nvPr/>
        </p:nvSpPr>
        <p:spPr>
          <a:xfrm>
            <a:off x="2467035" y="2692239"/>
            <a:ext cx="178475" cy="355580"/>
          </a:xfrm>
          <a:prstGeom prst="roundRect">
            <a:avLst>
              <a:gd name="adj" fmla="val 28463"/>
            </a:avLst>
          </a:prstGeom>
          <a:solidFill>
            <a:srgbClr val="4A2F20"/>
          </a:solidFill>
          <a:ln/>
        </p:spPr>
      </p:sp>
      <p:sp>
        <p:nvSpPr>
          <p:cNvPr id="53" name="Shape 51"/>
          <p:cNvSpPr/>
          <p:nvPr/>
        </p:nvSpPr>
        <p:spPr>
          <a:xfrm>
            <a:off x="2670870" y="2692239"/>
            <a:ext cx="178475" cy="355580"/>
          </a:xfrm>
          <a:prstGeom prst="roundRect">
            <a:avLst>
              <a:gd name="adj" fmla="val 28463"/>
            </a:avLst>
          </a:prstGeom>
          <a:solidFill>
            <a:srgbClr val="4A2F20"/>
          </a:solidFill>
          <a:ln/>
        </p:spPr>
      </p:sp>
      <p:sp>
        <p:nvSpPr>
          <p:cNvPr id="54" name="Shape 52"/>
          <p:cNvSpPr/>
          <p:nvPr/>
        </p:nvSpPr>
        <p:spPr>
          <a:xfrm>
            <a:off x="2874705" y="2692239"/>
            <a:ext cx="178475" cy="355580"/>
          </a:xfrm>
          <a:prstGeom prst="roundRect">
            <a:avLst>
              <a:gd name="adj" fmla="val 28463"/>
            </a:avLst>
          </a:prstGeom>
          <a:solidFill>
            <a:srgbClr val="4A2F20"/>
          </a:solidFill>
          <a:ln/>
        </p:spPr>
      </p:sp>
      <p:sp>
        <p:nvSpPr>
          <p:cNvPr id="55" name="Shape 53"/>
          <p:cNvSpPr/>
          <p:nvPr/>
        </p:nvSpPr>
        <p:spPr>
          <a:xfrm>
            <a:off x="3078540" y="2692239"/>
            <a:ext cx="178475" cy="355580"/>
          </a:xfrm>
          <a:prstGeom prst="roundRect">
            <a:avLst>
              <a:gd name="adj" fmla="val 28463"/>
            </a:avLst>
          </a:prstGeom>
          <a:solidFill>
            <a:srgbClr val="4A2F20"/>
          </a:solidFill>
          <a:ln/>
        </p:spPr>
      </p:sp>
      <p:sp>
        <p:nvSpPr>
          <p:cNvPr id="56" name="Shape 54"/>
          <p:cNvSpPr/>
          <p:nvPr/>
        </p:nvSpPr>
        <p:spPr>
          <a:xfrm>
            <a:off x="3282375" y="2692239"/>
            <a:ext cx="178475" cy="355580"/>
          </a:xfrm>
          <a:prstGeom prst="roundRect">
            <a:avLst>
              <a:gd name="adj" fmla="val 28463"/>
            </a:avLst>
          </a:prstGeom>
          <a:solidFill>
            <a:srgbClr val="4A2F20"/>
          </a:solidFill>
          <a:ln/>
        </p:spPr>
      </p:sp>
      <p:sp>
        <p:nvSpPr>
          <p:cNvPr id="57" name="Shape 55"/>
          <p:cNvSpPr/>
          <p:nvPr/>
        </p:nvSpPr>
        <p:spPr>
          <a:xfrm>
            <a:off x="3486210" y="2692239"/>
            <a:ext cx="178475" cy="355580"/>
          </a:xfrm>
          <a:prstGeom prst="roundRect">
            <a:avLst>
              <a:gd name="adj" fmla="val 28463"/>
            </a:avLst>
          </a:prstGeom>
          <a:solidFill>
            <a:srgbClr val="4A2F20"/>
          </a:solidFill>
          <a:ln/>
        </p:spPr>
      </p:sp>
      <p:sp>
        <p:nvSpPr>
          <p:cNvPr id="58" name="Shape 56"/>
          <p:cNvSpPr/>
          <p:nvPr/>
        </p:nvSpPr>
        <p:spPr>
          <a:xfrm>
            <a:off x="3690045" y="2692239"/>
            <a:ext cx="178475" cy="355580"/>
          </a:xfrm>
          <a:prstGeom prst="roundRect">
            <a:avLst>
              <a:gd name="adj" fmla="val 28463"/>
            </a:avLst>
          </a:prstGeom>
          <a:solidFill>
            <a:srgbClr val="4A2F20"/>
          </a:solidFill>
          <a:ln/>
        </p:spPr>
      </p:sp>
      <p:sp>
        <p:nvSpPr>
          <p:cNvPr id="59" name="Shape 57"/>
          <p:cNvSpPr/>
          <p:nvPr/>
        </p:nvSpPr>
        <p:spPr>
          <a:xfrm>
            <a:off x="3893880" y="2692239"/>
            <a:ext cx="178475" cy="355580"/>
          </a:xfrm>
          <a:prstGeom prst="roundRect">
            <a:avLst>
              <a:gd name="adj" fmla="val 28463"/>
            </a:avLst>
          </a:prstGeom>
          <a:solidFill>
            <a:srgbClr val="E3A23B"/>
          </a:solidFill>
          <a:ln/>
        </p:spPr>
      </p:sp>
      <p:sp>
        <p:nvSpPr>
          <p:cNvPr id="60" name="Shape 58"/>
          <p:cNvSpPr/>
          <p:nvPr/>
        </p:nvSpPr>
        <p:spPr>
          <a:xfrm>
            <a:off x="4097715" y="2692239"/>
            <a:ext cx="178475" cy="355580"/>
          </a:xfrm>
          <a:prstGeom prst="roundRect">
            <a:avLst>
              <a:gd name="adj" fmla="val 28463"/>
            </a:avLst>
          </a:prstGeom>
          <a:solidFill>
            <a:srgbClr val="E3A23B"/>
          </a:solidFill>
          <a:ln/>
        </p:spPr>
      </p:sp>
      <p:sp>
        <p:nvSpPr>
          <p:cNvPr id="61" name="Shape 59"/>
          <p:cNvSpPr/>
          <p:nvPr/>
        </p:nvSpPr>
        <p:spPr>
          <a:xfrm>
            <a:off x="4301550" y="2692239"/>
            <a:ext cx="178475" cy="355580"/>
          </a:xfrm>
          <a:prstGeom prst="roundRect">
            <a:avLst>
              <a:gd name="adj" fmla="val 28463"/>
            </a:avLst>
          </a:prstGeom>
          <a:solidFill>
            <a:srgbClr val="E3A23B"/>
          </a:solidFill>
          <a:ln/>
        </p:spPr>
      </p:sp>
      <p:sp>
        <p:nvSpPr>
          <p:cNvPr id="62" name="Shape 60"/>
          <p:cNvSpPr/>
          <p:nvPr/>
        </p:nvSpPr>
        <p:spPr>
          <a:xfrm>
            <a:off x="4505385" y="2692239"/>
            <a:ext cx="178475" cy="355580"/>
          </a:xfrm>
          <a:prstGeom prst="roundRect">
            <a:avLst>
              <a:gd name="adj" fmla="val 28463"/>
            </a:avLst>
          </a:prstGeom>
          <a:solidFill>
            <a:srgbClr val="E3A23B"/>
          </a:solidFill>
          <a:ln/>
        </p:spPr>
      </p:sp>
      <p:sp>
        <p:nvSpPr>
          <p:cNvPr id="63" name="Shape 61"/>
          <p:cNvSpPr/>
          <p:nvPr/>
        </p:nvSpPr>
        <p:spPr>
          <a:xfrm>
            <a:off x="4709220" y="2692239"/>
            <a:ext cx="178475" cy="355580"/>
          </a:xfrm>
          <a:prstGeom prst="roundRect">
            <a:avLst>
              <a:gd name="adj" fmla="val 28463"/>
            </a:avLst>
          </a:prstGeom>
          <a:solidFill>
            <a:srgbClr val="FFFFFF"/>
          </a:solidFill>
          <a:ln/>
        </p:spPr>
      </p:sp>
      <p:sp>
        <p:nvSpPr>
          <p:cNvPr id="64" name="Shape 62"/>
          <p:cNvSpPr/>
          <p:nvPr/>
        </p:nvSpPr>
        <p:spPr>
          <a:xfrm>
            <a:off x="4913055" y="2692239"/>
            <a:ext cx="178475" cy="355580"/>
          </a:xfrm>
          <a:prstGeom prst="roundRect">
            <a:avLst>
              <a:gd name="adj" fmla="val 28463"/>
            </a:avLst>
          </a:prstGeom>
          <a:solidFill>
            <a:srgbClr val="FFFFFF"/>
          </a:solidFill>
          <a:ln/>
        </p:spPr>
      </p:sp>
      <p:sp>
        <p:nvSpPr>
          <p:cNvPr id="65" name="Shape 63"/>
          <p:cNvSpPr/>
          <p:nvPr/>
        </p:nvSpPr>
        <p:spPr>
          <a:xfrm>
            <a:off x="5116890" y="2692239"/>
            <a:ext cx="178475" cy="355580"/>
          </a:xfrm>
          <a:prstGeom prst="roundRect">
            <a:avLst>
              <a:gd name="adj" fmla="val 28463"/>
            </a:avLst>
          </a:prstGeom>
          <a:solidFill>
            <a:srgbClr val="FFFFFF"/>
          </a:solidFill>
          <a:ln/>
        </p:spPr>
      </p:sp>
      <p:sp>
        <p:nvSpPr>
          <p:cNvPr id="66" name="Shape 64"/>
          <p:cNvSpPr/>
          <p:nvPr/>
        </p:nvSpPr>
        <p:spPr>
          <a:xfrm>
            <a:off x="5320725" y="2692239"/>
            <a:ext cx="178475" cy="355580"/>
          </a:xfrm>
          <a:prstGeom prst="roundRect">
            <a:avLst>
              <a:gd name="adj" fmla="val 28463"/>
            </a:avLst>
          </a:prstGeom>
          <a:solidFill>
            <a:srgbClr val="FFFFFF"/>
          </a:solidFill>
          <a:ln/>
        </p:spPr>
      </p:sp>
      <p:sp>
        <p:nvSpPr>
          <p:cNvPr id="67" name="Text 65"/>
          <p:cNvSpPr/>
          <p:nvPr/>
        </p:nvSpPr>
        <p:spPr>
          <a:xfrm>
            <a:off x="812780" y="3136702"/>
            <a:ext cx="660400" cy="1800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JetBrains Mono" pitchFamily="49" charset="0"/>
                <a:ea typeface="JetBrains Mono" pitchFamily="49" charset="-122"/>
                <a:cs typeface="JetBrains Mono" pitchFamily="49" charset="-120"/>
              </a:rPr>
              <a:t>pli 3</a:t>
            </a:r>
            <a:endParaRPr lang="en-US" sz="1200" dirty="0"/>
          </a:p>
        </p:txBody>
      </p:sp>
      <p:sp>
        <p:nvSpPr>
          <p:cNvPr id="68" name="Shape 66"/>
          <p:cNvSpPr/>
          <p:nvPr/>
        </p:nvSpPr>
        <p:spPr>
          <a:xfrm>
            <a:off x="1447741" y="3136702"/>
            <a:ext cx="178475" cy="355580"/>
          </a:xfrm>
          <a:prstGeom prst="roundRect">
            <a:avLst>
              <a:gd name="adj" fmla="val 28463"/>
            </a:avLst>
          </a:prstGeom>
          <a:solidFill>
            <a:srgbClr val="4A2F20"/>
          </a:solidFill>
          <a:ln/>
        </p:spPr>
      </p:sp>
      <p:sp>
        <p:nvSpPr>
          <p:cNvPr id="69" name="Shape 67"/>
          <p:cNvSpPr/>
          <p:nvPr/>
        </p:nvSpPr>
        <p:spPr>
          <a:xfrm>
            <a:off x="1651576" y="3136702"/>
            <a:ext cx="178534" cy="355580"/>
          </a:xfrm>
          <a:prstGeom prst="roundRect">
            <a:avLst>
              <a:gd name="adj" fmla="val 28454"/>
            </a:avLst>
          </a:prstGeom>
          <a:solidFill>
            <a:srgbClr val="4A2F20"/>
          </a:solidFill>
          <a:ln/>
        </p:spPr>
      </p:sp>
      <p:sp>
        <p:nvSpPr>
          <p:cNvPr id="70" name="Shape 68"/>
          <p:cNvSpPr/>
          <p:nvPr/>
        </p:nvSpPr>
        <p:spPr>
          <a:xfrm>
            <a:off x="1855470" y="3136702"/>
            <a:ext cx="178475" cy="355580"/>
          </a:xfrm>
          <a:prstGeom prst="roundRect">
            <a:avLst>
              <a:gd name="adj" fmla="val 28463"/>
            </a:avLst>
          </a:prstGeom>
          <a:solidFill>
            <a:srgbClr val="4A2F20"/>
          </a:solidFill>
          <a:ln/>
        </p:spPr>
      </p:sp>
      <p:sp>
        <p:nvSpPr>
          <p:cNvPr id="71" name="Shape 69"/>
          <p:cNvSpPr/>
          <p:nvPr/>
        </p:nvSpPr>
        <p:spPr>
          <a:xfrm>
            <a:off x="2059305" y="3136702"/>
            <a:ext cx="178534" cy="355580"/>
          </a:xfrm>
          <a:prstGeom prst="roundRect">
            <a:avLst>
              <a:gd name="adj" fmla="val 28454"/>
            </a:avLst>
          </a:prstGeom>
          <a:solidFill>
            <a:srgbClr val="4A2F20"/>
          </a:solidFill>
          <a:ln/>
        </p:spPr>
      </p:sp>
      <p:sp>
        <p:nvSpPr>
          <p:cNvPr id="72" name="Shape 70"/>
          <p:cNvSpPr/>
          <p:nvPr/>
        </p:nvSpPr>
        <p:spPr>
          <a:xfrm>
            <a:off x="2263200" y="3136702"/>
            <a:ext cx="178475" cy="355580"/>
          </a:xfrm>
          <a:prstGeom prst="roundRect">
            <a:avLst>
              <a:gd name="adj" fmla="val 28463"/>
            </a:avLst>
          </a:prstGeom>
          <a:solidFill>
            <a:srgbClr val="4A2F20"/>
          </a:solidFill>
          <a:ln/>
        </p:spPr>
      </p:sp>
      <p:sp>
        <p:nvSpPr>
          <p:cNvPr id="73" name="Shape 71"/>
          <p:cNvSpPr/>
          <p:nvPr/>
        </p:nvSpPr>
        <p:spPr>
          <a:xfrm>
            <a:off x="2467035" y="3136702"/>
            <a:ext cx="178475" cy="355580"/>
          </a:xfrm>
          <a:prstGeom prst="roundRect">
            <a:avLst>
              <a:gd name="adj" fmla="val 28463"/>
            </a:avLst>
          </a:prstGeom>
          <a:solidFill>
            <a:srgbClr val="4A2F20"/>
          </a:solidFill>
          <a:ln/>
        </p:spPr>
      </p:sp>
      <p:sp>
        <p:nvSpPr>
          <p:cNvPr id="74" name="Shape 72"/>
          <p:cNvSpPr/>
          <p:nvPr/>
        </p:nvSpPr>
        <p:spPr>
          <a:xfrm>
            <a:off x="2670870" y="3136702"/>
            <a:ext cx="178475" cy="355580"/>
          </a:xfrm>
          <a:prstGeom prst="roundRect">
            <a:avLst>
              <a:gd name="adj" fmla="val 28463"/>
            </a:avLst>
          </a:prstGeom>
          <a:solidFill>
            <a:srgbClr val="4A2F20"/>
          </a:solidFill>
          <a:ln/>
        </p:spPr>
      </p:sp>
      <p:sp>
        <p:nvSpPr>
          <p:cNvPr id="75" name="Shape 73"/>
          <p:cNvSpPr/>
          <p:nvPr/>
        </p:nvSpPr>
        <p:spPr>
          <a:xfrm>
            <a:off x="2874705" y="3136702"/>
            <a:ext cx="178475" cy="355580"/>
          </a:xfrm>
          <a:prstGeom prst="roundRect">
            <a:avLst>
              <a:gd name="adj" fmla="val 28463"/>
            </a:avLst>
          </a:prstGeom>
          <a:solidFill>
            <a:srgbClr val="4A2F20"/>
          </a:solidFill>
          <a:ln/>
        </p:spPr>
      </p:sp>
      <p:sp>
        <p:nvSpPr>
          <p:cNvPr id="76" name="Shape 74"/>
          <p:cNvSpPr/>
          <p:nvPr/>
        </p:nvSpPr>
        <p:spPr>
          <a:xfrm>
            <a:off x="3078540" y="3136702"/>
            <a:ext cx="178475" cy="355580"/>
          </a:xfrm>
          <a:prstGeom prst="roundRect">
            <a:avLst>
              <a:gd name="adj" fmla="val 28463"/>
            </a:avLst>
          </a:prstGeom>
          <a:solidFill>
            <a:srgbClr val="4A2F20"/>
          </a:solidFill>
          <a:ln/>
        </p:spPr>
      </p:sp>
      <p:sp>
        <p:nvSpPr>
          <p:cNvPr id="77" name="Shape 75"/>
          <p:cNvSpPr/>
          <p:nvPr/>
        </p:nvSpPr>
        <p:spPr>
          <a:xfrm>
            <a:off x="3282375" y="3136702"/>
            <a:ext cx="178475" cy="355580"/>
          </a:xfrm>
          <a:prstGeom prst="roundRect">
            <a:avLst>
              <a:gd name="adj" fmla="val 28463"/>
            </a:avLst>
          </a:prstGeom>
          <a:solidFill>
            <a:srgbClr val="4A2F20"/>
          </a:solidFill>
          <a:ln/>
        </p:spPr>
      </p:sp>
      <p:sp>
        <p:nvSpPr>
          <p:cNvPr id="78" name="Shape 76"/>
          <p:cNvSpPr/>
          <p:nvPr/>
        </p:nvSpPr>
        <p:spPr>
          <a:xfrm>
            <a:off x="3486210" y="3136702"/>
            <a:ext cx="178475" cy="355580"/>
          </a:xfrm>
          <a:prstGeom prst="roundRect">
            <a:avLst>
              <a:gd name="adj" fmla="val 28463"/>
            </a:avLst>
          </a:prstGeom>
          <a:solidFill>
            <a:srgbClr val="4A2F20"/>
          </a:solidFill>
          <a:ln/>
        </p:spPr>
      </p:sp>
      <p:sp>
        <p:nvSpPr>
          <p:cNvPr id="79" name="Shape 77"/>
          <p:cNvSpPr/>
          <p:nvPr/>
        </p:nvSpPr>
        <p:spPr>
          <a:xfrm>
            <a:off x="3690045" y="3136702"/>
            <a:ext cx="178475" cy="355580"/>
          </a:xfrm>
          <a:prstGeom prst="roundRect">
            <a:avLst>
              <a:gd name="adj" fmla="val 28463"/>
            </a:avLst>
          </a:prstGeom>
          <a:solidFill>
            <a:srgbClr val="4A2F20"/>
          </a:solidFill>
          <a:ln/>
        </p:spPr>
      </p:sp>
      <p:sp>
        <p:nvSpPr>
          <p:cNvPr id="80" name="Shape 78"/>
          <p:cNvSpPr/>
          <p:nvPr/>
        </p:nvSpPr>
        <p:spPr>
          <a:xfrm>
            <a:off x="3893880" y="3136702"/>
            <a:ext cx="178475" cy="355580"/>
          </a:xfrm>
          <a:prstGeom prst="roundRect">
            <a:avLst>
              <a:gd name="adj" fmla="val 28463"/>
            </a:avLst>
          </a:prstGeom>
          <a:solidFill>
            <a:srgbClr val="4A2F20"/>
          </a:solidFill>
          <a:ln/>
        </p:spPr>
      </p:sp>
      <p:sp>
        <p:nvSpPr>
          <p:cNvPr id="81" name="Shape 79"/>
          <p:cNvSpPr/>
          <p:nvPr/>
        </p:nvSpPr>
        <p:spPr>
          <a:xfrm>
            <a:off x="4097715" y="3136702"/>
            <a:ext cx="178475" cy="355580"/>
          </a:xfrm>
          <a:prstGeom prst="roundRect">
            <a:avLst>
              <a:gd name="adj" fmla="val 28463"/>
            </a:avLst>
          </a:prstGeom>
          <a:solidFill>
            <a:srgbClr val="4A2F20"/>
          </a:solidFill>
          <a:ln/>
        </p:spPr>
      </p:sp>
      <p:sp>
        <p:nvSpPr>
          <p:cNvPr id="82" name="Shape 80"/>
          <p:cNvSpPr/>
          <p:nvPr/>
        </p:nvSpPr>
        <p:spPr>
          <a:xfrm>
            <a:off x="4301550" y="3136702"/>
            <a:ext cx="178475" cy="355580"/>
          </a:xfrm>
          <a:prstGeom prst="roundRect">
            <a:avLst>
              <a:gd name="adj" fmla="val 28463"/>
            </a:avLst>
          </a:prstGeom>
          <a:solidFill>
            <a:srgbClr val="4A2F20"/>
          </a:solidFill>
          <a:ln/>
        </p:spPr>
      </p:sp>
      <p:sp>
        <p:nvSpPr>
          <p:cNvPr id="83" name="Shape 81"/>
          <p:cNvSpPr/>
          <p:nvPr/>
        </p:nvSpPr>
        <p:spPr>
          <a:xfrm>
            <a:off x="4505385" y="3136702"/>
            <a:ext cx="178475" cy="355580"/>
          </a:xfrm>
          <a:prstGeom prst="roundRect">
            <a:avLst>
              <a:gd name="adj" fmla="val 28463"/>
            </a:avLst>
          </a:prstGeom>
          <a:solidFill>
            <a:srgbClr val="4A2F20"/>
          </a:solidFill>
          <a:ln/>
        </p:spPr>
      </p:sp>
      <p:sp>
        <p:nvSpPr>
          <p:cNvPr id="84" name="Shape 82"/>
          <p:cNvSpPr/>
          <p:nvPr/>
        </p:nvSpPr>
        <p:spPr>
          <a:xfrm>
            <a:off x="4709220" y="3136702"/>
            <a:ext cx="178475" cy="355580"/>
          </a:xfrm>
          <a:prstGeom prst="roundRect">
            <a:avLst>
              <a:gd name="adj" fmla="val 28463"/>
            </a:avLst>
          </a:prstGeom>
          <a:solidFill>
            <a:srgbClr val="E3A23B"/>
          </a:solidFill>
          <a:ln/>
        </p:spPr>
      </p:sp>
      <p:sp>
        <p:nvSpPr>
          <p:cNvPr id="85" name="Shape 83"/>
          <p:cNvSpPr/>
          <p:nvPr/>
        </p:nvSpPr>
        <p:spPr>
          <a:xfrm>
            <a:off x="4913055" y="3136702"/>
            <a:ext cx="178475" cy="355580"/>
          </a:xfrm>
          <a:prstGeom prst="roundRect">
            <a:avLst>
              <a:gd name="adj" fmla="val 28463"/>
            </a:avLst>
          </a:prstGeom>
          <a:solidFill>
            <a:srgbClr val="E3A23B"/>
          </a:solidFill>
          <a:ln/>
        </p:spPr>
      </p:sp>
      <p:sp>
        <p:nvSpPr>
          <p:cNvPr id="86" name="Shape 84"/>
          <p:cNvSpPr/>
          <p:nvPr/>
        </p:nvSpPr>
        <p:spPr>
          <a:xfrm>
            <a:off x="5116890" y="3136702"/>
            <a:ext cx="178475" cy="355580"/>
          </a:xfrm>
          <a:prstGeom prst="roundRect">
            <a:avLst>
              <a:gd name="adj" fmla="val 28463"/>
            </a:avLst>
          </a:prstGeom>
          <a:solidFill>
            <a:srgbClr val="E3A23B"/>
          </a:solidFill>
          <a:ln/>
        </p:spPr>
      </p:sp>
      <p:sp>
        <p:nvSpPr>
          <p:cNvPr id="87" name="Shape 85"/>
          <p:cNvSpPr/>
          <p:nvPr/>
        </p:nvSpPr>
        <p:spPr>
          <a:xfrm>
            <a:off x="5320725" y="3136702"/>
            <a:ext cx="178475" cy="355580"/>
          </a:xfrm>
          <a:prstGeom prst="roundRect">
            <a:avLst>
              <a:gd name="adj" fmla="val 28463"/>
            </a:avLst>
          </a:prstGeom>
          <a:solidFill>
            <a:srgbClr val="E3A23B"/>
          </a:solidFill>
          <a:ln/>
        </p:spPr>
      </p:sp>
      <p:sp>
        <p:nvSpPr>
          <p:cNvPr id="88" name="Shape 86"/>
          <p:cNvSpPr/>
          <p:nvPr/>
        </p:nvSpPr>
        <p:spPr>
          <a:xfrm>
            <a:off x="815955" y="3589387"/>
            <a:ext cx="196830" cy="196830"/>
          </a:xfrm>
          <a:prstGeom prst="roundRect">
            <a:avLst>
              <a:gd name="adj" fmla="val 17744"/>
            </a:avLst>
          </a:prstGeom>
          <a:solidFill>
            <a:srgbClr val="4A2F20"/>
          </a:solidFill>
          <a:ln w="6350">
            <a:solidFill>
              <a:srgbClr val="DCD7CA"/>
            </a:solidFill>
            <a:prstDash val="solid"/>
          </a:ln>
        </p:spPr>
      </p:sp>
      <p:sp>
        <p:nvSpPr>
          <p:cNvPr id="89" name="Text 87"/>
          <p:cNvSpPr/>
          <p:nvPr/>
        </p:nvSpPr>
        <p:spPr>
          <a:xfrm>
            <a:off x="1092160" y="3581152"/>
            <a:ext cx="20609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Space Grotesk" pitchFamily="34" charset="0"/>
                <a:ea typeface="Space Grotesk" pitchFamily="34" charset="-122"/>
                <a:cs typeface="Space Grotesk" pitchFamily="34" charset="-120"/>
              </a:rPr>
              <a:t>entraînement : le passé</a:t>
            </a:r>
            <a:endParaRPr lang="en-US" sz="1200" dirty="0"/>
          </a:p>
        </p:txBody>
      </p:sp>
      <p:sp>
        <p:nvSpPr>
          <p:cNvPr id="90" name="Shape 88"/>
          <p:cNvSpPr/>
          <p:nvPr/>
        </p:nvSpPr>
        <p:spPr>
          <a:xfrm>
            <a:off x="815955" y="3866207"/>
            <a:ext cx="196830" cy="196830"/>
          </a:xfrm>
          <a:prstGeom prst="roundRect">
            <a:avLst>
              <a:gd name="adj" fmla="val 17744"/>
            </a:avLst>
          </a:prstGeom>
          <a:solidFill>
            <a:srgbClr val="E3A23B"/>
          </a:solidFill>
          <a:ln w="6350">
            <a:solidFill>
              <a:srgbClr val="DCD7CA"/>
            </a:solidFill>
            <a:prstDash val="solid"/>
          </a:ln>
        </p:spPr>
      </p:sp>
      <p:sp>
        <p:nvSpPr>
          <p:cNvPr id="91" name="Text 89"/>
          <p:cNvSpPr/>
          <p:nvPr/>
        </p:nvSpPr>
        <p:spPr>
          <a:xfrm>
            <a:off x="1092160" y="3857972"/>
            <a:ext cx="16596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Space Grotesk" pitchFamily="34" charset="0"/>
                <a:ea typeface="Space Grotesk" pitchFamily="34" charset="-122"/>
                <a:cs typeface="Space Grotesk" pitchFamily="34" charset="-120"/>
              </a:rPr>
              <a:t>validation : le futur</a:t>
            </a:r>
            <a:endParaRPr lang="en-US" sz="1200" dirty="0"/>
          </a:p>
        </p:txBody>
      </p:sp>
      <p:sp>
        <p:nvSpPr>
          <p:cNvPr id="92" name="Shape 90"/>
          <p:cNvSpPr/>
          <p:nvPr/>
        </p:nvSpPr>
        <p:spPr>
          <a:xfrm>
            <a:off x="815955" y="4143028"/>
            <a:ext cx="196830" cy="196830"/>
          </a:xfrm>
          <a:prstGeom prst="roundRect">
            <a:avLst>
              <a:gd name="adj" fmla="val 17744"/>
            </a:avLst>
          </a:prstGeom>
          <a:solidFill>
            <a:srgbClr val="FFFFFF"/>
          </a:solidFill>
          <a:ln w="6350">
            <a:solidFill>
              <a:srgbClr val="DCD7CA"/>
            </a:solidFill>
            <a:prstDash val="solid"/>
          </a:ln>
        </p:spPr>
      </p:sp>
      <p:sp>
        <p:nvSpPr>
          <p:cNvPr id="93" name="Text 91"/>
          <p:cNvSpPr/>
          <p:nvPr/>
        </p:nvSpPr>
        <p:spPr>
          <a:xfrm>
            <a:off x="1092160" y="4134793"/>
            <a:ext cx="9194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211B"/>
                </a:solidFill>
                <a:latin typeface="Space Grotesk" pitchFamily="34" charset="0"/>
                <a:ea typeface="Space Grotesk" pitchFamily="34" charset="-122"/>
                <a:cs typeface="Space Grotesk" pitchFamily="34" charset="-120"/>
              </a:rPr>
              <a:t>non utilisé</a:t>
            </a:r>
            <a:endParaRPr lang="en-US" sz="1200" dirty="0"/>
          </a:p>
        </p:txBody>
      </p:sp>
      <p:sp>
        <p:nvSpPr>
          <p:cNvPr id="94" name="Shape 92"/>
          <p:cNvSpPr/>
          <p:nvPr/>
        </p:nvSpPr>
        <p:spPr>
          <a:xfrm>
            <a:off x="5759510" y="1809663"/>
            <a:ext cx="5613360" cy="1200000"/>
          </a:xfrm>
          <a:prstGeom prst="roundRect">
            <a:avLst>
              <a:gd name="adj" fmla="val 26210"/>
            </a:avLst>
          </a:prstGeom>
          <a:solidFill>
            <a:srgbClr val="FFFDF8"/>
          </a:solidFill>
          <a:ln w="12700">
            <a:solidFill>
              <a:srgbClr val="E2D9C6"/>
            </a:solidFill>
            <a:prstDash val="solid"/>
          </a:ln>
        </p:spPr>
      </p:sp>
      <p:sp>
        <p:nvSpPr>
          <p:cNvPr id="95" name="Text 93"/>
          <p:cNvSpPr/>
          <p:nvPr/>
        </p:nvSpPr>
        <p:spPr>
          <a:xfrm>
            <a:off x="5967770" y="1900000"/>
            <a:ext cx="5000000" cy="150000"/>
          </a:xfrm>
          <a:prstGeom prst="rect">
            <a:avLst/>
          </a:prstGeom>
          <a:noFill/>
          <a:ln/>
        </p:spPr>
        <p:txBody>
          <a:bodyPr wrap="none" lIns="0" tIns="0" rIns="0" bIns="0" rtlCol="0" anchor="t">
            <a:normAutofit/>
          </a:bodyPr>
          <a:lstStyle/>
          <a:p>
            <a:pPr marL="0" indent="0" algn="l">
              <a:lnSpc>
                <a:spcPts val="936"/>
              </a:lnSpc>
              <a:buNone/>
            </a:pPr>
            <a:r>
              <a:rPr lang="en-US" sz="850" b="1" dirty="0">
                <a:solidFill>
                  <a:srgbClr val="9A3D0A"/>
                </a:solidFill>
                <a:latin typeface="JetBrains Mono" pitchFamily="49" charset="0"/>
                <a:ea typeface="JetBrains Mono" pitchFamily="49" charset="-122"/>
                <a:cs typeface="JetBrains Mono" pitchFamily="49" charset="-120"/>
              </a:rPr>
              <a:t>from</a:t>
            </a:r>
            <a:r>
              <a:rPr lang="en-US" sz="850" dirty="0">
                <a:solidFill>
                  <a:srgbClr val="2B211B"/>
                </a:solidFill>
                <a:latin typeface="JetBrains Mono" pitchFamily="49" charset="0"/>
                <a:ea typeface="JetBrains Mono" pitchFamily="49" charset="-122"/>
                <a:cs typeface="JetBrains Mono" pitchFamily="49" charset="-120"/>
              </a:rPr>
              <a:t> sklearn.model_selection </a:t>
            </a:r>
            <a:r>
              <a:rPr lang="en-US" sz="850" b="1" dirty="0">
                <a:solidFill>
                  <a:srgbClr val="9A3D0A"/>
                </a:solidFill>
                <a:latin typeface="JetBrains Mono" pitchFamily="49" charset="0"/>
                <a:ea typeface="JetBrains Mono" pitchFamily="49" charset="-122"/>
                <a:cs typeface="JetBrains Mono" pitchFamily="49" charset="-120"/>
              </a:rPr>
              <a:t>import</a:t>
            </a:r>
            <a:r>
              <a:rPr lang="en-US" sz="850" dirty="0">
                <a:solidFill>
                  <a:srgbClr val="2B211B"/>
                </a:solidFill>
                <a:latin typeface="JetBrains Mono" pitchFamily="49" charset="0"/>
                <a:ea typeface="JetBrains Mono" pitchFamily="49" charset="-122"/>
                <a:cs typeface="JetBrains Mono" pitchFamily="49" charset="-120"/>
              </a:rPr>
              <a:t> TimeSeriesSplit</a:t>
            </a:r>
            <a:endParaRPr lang="en-US" sz="850" dirty="0"/>
          </a:p>
        </p:txBody>
      </p:sp>
      <p:sp>
        <p:nvSpPr>
          <p:cNvPr id="96" name="Text 94"/>
          <p:cNvSpPr/>
          <p:nvPr/>
        </p:nvSpPr>
        <p:spPr>
          <a:xfrm>
            <a:off x="5967770" y="2080000"/>
            <a:ext cx="5000000" cy="150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tss = TimeSeriesSplit(n_splits=4)</a:t>
            </a:r>
            <a:endParaRPr lang="en-US" sz="850" dirty="0"/>
          </a:p>
        </p:txBody>
      </p:sp>
      <p:sp>
        <p:nvSpPr>
          <p:cNvPr id="97" name="Text 95"/>
          <p:cNvSpPr/>
          <p:nvPr/>
        </p:nvSpPr>
        <p:spPr>
          <a:xfrm>
            <a:off x="5967770" y="2260000"/>
            <a:ext cx="5000000" cy="150000"/>
          </a:xfrm>
          <a:prstGeom prst="rect">
            <a:avLst/>
          </a:prstGeom>
          <a:noFill/>
          <a:ln/>
        </p:spPr>
        <p:txBody>
          <a:bodyPr wrap="none" lIns="0" tIns="0" rIns="0" bIns="0" rtlCol="0" anchor="t">
            <a:normAutofit/>
          </a:bodyPr>
          <a:lstStyle/>
          <a:p>
            <a:pPr marL="0" indent="0" algn="l">
              <a:lnSpc>
                <a:spcPts val="936"/>
              </a:lnSpc>
              <a:buNone/>
            </a:pPr>
            <a:r>
              <a:rPr lang="en-US" sz="850" b="1" dirty="0">
                <a:solidFill>
                  <a:srgbClr val="9A3D0A"/>
                </a:solidFill>
                <a:latin typeface="JetBrains Mono" pitchFamily="49" charset="0"/>
                <a:ea typeface="JetBrains Mono" pitchFamily="49" charset="-122"/>
                <a:cs typeface="JetBrains Mono" pitchFamily="49" charset="-120"/>
              </a:rPr>
              <a:t>for</a:t>
            </a:r>
            <a:r>
              <a:rPr lang="en-US" sz="850" dirty="0">
                <a:solidFill>
                  <a:srgbClr val="2B211B"/>
                </a:solidFill>
                <a:latin typeface="JetBrains Mono" pitchFamily="49" charset="0"/>
                <a:ea typeface="JetBrains Mono" pitchFamily="49" charset="-122"/>
                <a:cs typeface="JetBrains Mono" pitchFamily="49" charset="-120"/>
              </a:rPr>
              <a:t> i, (tr, va) </a:t>
            </a:r>
            <a:r>
              <a:rPr lang="en-US" sz="850" b="1" dirty="0">
                <a:solidFill>
                  <a:srgbClr val="9A3D0A"/>
                </a:solidFill>
                <a:latin typeface="JetBrains Mono" pitchFamily="49" charset="0"/>
                <a:ea typeface="JetBrains Mono" pitchFamily="49" charset="-122"/>
                <a:cs typeface="JetBrains Mono" pitchFamily="49" charset="-120"/>
              </a:rPr>
              <a:t>in</a:t>
            </a:r>
            <a:r>
              <a:rPr lang="en-US" sz="850" dirty="0">
                <a:solidFill>
                  <a:srgbClr val="2B211B"/>
                </a:solidFill>
                <a:latin typeface="JetBrains Mono" pitchFamily="49" charset="0"/>
                <a:ea typeface="JetBrains Mono" pitchFamily="49" charset="-122"/>
                <a:cs typeface="JetBrains Mono" pitchFamily="49" charset="-120"/>
              </a:rPr>
              <a:t> enumerate(tss.split(np.arange(20))):</a:t>
            </a:r>
            <a:endParaRPr lang="en-US" sz="850" dirty="0"/>
          </a:p>
        </p:txBody>
      </p:sp>
      <p:sp>
        <p:nvSpPr>
          <p:cNvPr id="98" name="Text 96"/>
          <p:cNvSpPr/>
          <p:nvPr/>
        </p:nvSpPr>
        <p:spPr>
          <a:xfrm>
            <a:off x="5967770" y="2440000"/>
            <a:ext cx="5000000" cy="150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    print(</a:t>
            </a:r>
            <a:r>
              <a:rPr lang="en-US" sz="850" dirty="0">
                <a:solidFill>
                  <a:srgbClr val="2C6E3F"/>
                </a:solidFill>
                <a:latin typeface="JetBrains Mono" pitchFamily="49" charset="0"/>
                <a:ea typeface="JetBrains Mono" pitchFamily="49" charset="-122"/>
                <a:cs typeface="JetBrains Mono" pitchFamily="49" charset="-120"/>
              </a:rPr>
              <a:t>f"pli {i} : train {tr.min()}–{tr.max():&gt;2}   "</a:t>
            </a:r>
            <a:endParaRPr lang="en-US" sz="850" dirty="0"/>
          </a:p>
        </p:txBody>
      </p:sp>
      <p:sp>
        <p:nvSpPr>
          <p:cNvPr id="99" name="Text 97"/>
          <p:cNvSpPr/>
          <p:nvPr/>
        </p:nvSpPr>
        <p:spPr>
          <a:xfrm>
            <a:off x="5967770" y="2620000"/>
            <a:ext cx="5000000" cy="150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          </a:t>
            </a:r>
            <a:r>
              <a:rPr lang="en-US" sz="850" dirty="0">
                <a:solidFill>
                  <a:srgbClr val="2C6E3F"/>
                </a:solidFill>
                <a:latin typeface="JetBrains Mono" pitchFamily="49" charset="0"/>
                <a:ea typeface="JetBrains Mono" pitchFamily="49" charset="-122"/>
                <a:cs typeface="JetBrains Mono" pitchFamily="49" charset="-120"/>
              </a:rPr>
              <a:t>f"validation {va.min():&gt;2}–{va.max()}"</a:t>
            </a:r>
            <a:r>
              <a:rPr lang="en-US" sz="850" dirty="0">
                <a:solidFill>
                  <a:srgbClr val="2B211B"/>
                </a:solidFill>
                <a:latin typeface="JetBrains Mono" pitchFamily="49" charset="0"/>
                <a:ea typeface="JetBrains Mono" pitchFamily="49" charset="-122"/>
                <a:cs typeface="JetBrains Mono" pitchFamily="49" charset="-120"/>
              </a:rPr>
              <a:t>)</a:t>
            </a:r>
            <a:endParaRPr lang="en-US" sz="850" dirty="0"/>
          </a:p>
        </p:txBody>
      </p:sp>
      <p:sp>
        <p:nvSpPr>
          <p:cNvPr id="100" name="Shape 98"/>
          <p:cNvSpPr/>
          <p:nvPr/>
        </p:nvSpPr>
        <p:spPr>
          <a:xfrm>
            <a:off x="5753160" y="3010000"/>
            <a:ext cx="5626060" cy="780000"/>
          </a:xfrm>
          <a:prstGeom prst="roundRect">
            <a:avLst>
              <a:gd name="adj" fmla="val 29167"/>
            </a:avLst>
          </a:prstGeom>
          <a:solidFill>
            <a:srgbClr val="ECE6D8"/>
          </a:solidFill>
          <a:ln/>
        </p:spPr>
      </p:sp>
      <p:sp>
        <p:nvSpPr>
          <p:cNvPr id="101" name="Shape 99"/>
          <p:cNvSpPr/>
          <p:nvPr/>
        </p:nvSpPr>
        <p:spPr>
          <a:xfrm>
            <a:off x="5753160" y="3010000"/>
            <a:ext cx="5626060" cy="780000"/>
          </a:xfrm>
          <a:custGeom>
            <a:avLst/>
            <a:gdLst/>
            <a:ahLst/>
            <a:cxnLst/>
            <a:rect l="l" t="t" r="r" b="b"/>
            <a:pathLst>
              <a:path w="562606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02" name="Text 100"/>
          <p:cNvSpPr/>
          <p:nvPr/>
        </p:nvSpPr>
        <p:spPr>
          <a:xfrm>
            <a:off x="6005870" y="3070000"/>
            <a:ext cx="5325275" cy="145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pli 0 : train 0– 3   validation  4–7</a:t>
            </a:r>
            <a:endParaRPr lang="en-US" sz="850" dirty="0"/>
          </a:p>
        </p:txBody>
      </p:sp>
      <p:sp>
        <p:nvSpPr>
          <p:cNvPr id="103" name="Text 101"/>
          <p:cNvSpPr/>
          <p:nvPr/>
        </p:nvSpPr>
        <p:spPr>
          <a:xfrm>
            <a:off x="6005870" y="3240000"/>
            <a:ext cx="5325275" cy="145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pli 1 : train 0– 7   validation  8–11</a:t>
            </a:r>
            <a:endParaRPr lang="en-US" sz="850" dirty="0"/>
          </a:p>
        </p:txBody>
      </p:sp>
      <p:sp>
        <p:nvSpPr>
          <p:cNvPr id="104" name="Text 102"/>
          <p:cNvSpPr/>
          <p:nvPr/>
        </p:nvSpPr>
        <p:spPr>
          <a:xfrm>
            <a:off x="6005870" y="3410000"/>
            <a:ext cx="5325275" cy="145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pli 2 : train 0–11   validation 12–15</a:t>
            </a:r>
            <a:endParaRPr lang="en-US" sz="850" dirty="0"/>
          </a:p>
        </p:txBody>
      </p:sp>
      <p:sp>
        <p:nvSpPr>
          <p:cNvPr id="105" name="Text 103"/>
          <p:cNvSpPr/>
          <p:nvPr/>
        </p:nvSpPr>
        <p:spPr>
          <a:xfrm>
            <a:off x="6005870" y="3580000"/>
            <a:ext cx="5325275" cy="145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pli 3 : train 0–15   validation 16–19</a:t>
            </a:r>
            <a:endParaRPr lang="en-US" sz="850" dirty="0"/>
          </a:p>
        </p:txBody>
      </p:sp>
      <p:sp>
        <p:nvSpPr>
          <p:cNvPr id="106" name="Text 104"/>
          <p:cNvSpPr/>
          <p:nvPr/>
        </p:nvSpPr>
        <p:spPr>
          <a:xfrm>
            <a:off x="5753160" y="3900000"/>
            <a:ext cx="5794842" cy="42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Les matchs du TP4 sont datés : </a:t>
            </a:r>
            <a:r>
              <a:rPr lang="en-US" sz="1400" b="1" dirty="0">
                <a:solidFill>
                  <a:srgbClr val="9A5414"/>
                </a:solidFill>
                <a:latin typeface="Space Grotesk" pitchFamily="34" charset="0"/>
                <a:ea typeface="Space Grotesk" pitchFamily="34" charset="-122"/>
                <a:cs typeface="Space Grotesk" pitchFamily="34" charset="-120"/>
              </a:rPr>
              <a:t>jamais de futur</a:t>
            </a:r>
            <a:r>
              <a:rPr lang="en-US" sz="1400" dirty="0">
                <a:solidFill>
                  <a:srgbClr val="2B211B"/>
                </a:solidFill>
                <a:latin typeface="Space Grotesk" pitchFamily="34" charset="0"/>
                <a:ea typeface="Space Grotesk" pitchFamily="34" charset="-122"/>
                <a:cs typeface="Space Grotesk" pitchFamily="34" charset="-120"/>
              </a:rPr>
              <a:t> dans l'entraînement.</a:t>
            </a:r>
            <a:endParaRPr lang="en-US" sz="1400" dirty="0"/>
          </a:p>
        </p:txBody>
      </p:sp>
      <p:pic>
        <p:nvPicPr>
          <p:cNvPr id="107"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EFE5D3"/>
        </a:solidFill>
        <a:effectLst/>
      </p:bgPr>
    </p:bg>
    <p:spTree>
      <p:nvGrpSpPr>
        <p:cNvPr id="1" name=""/>
        <p:cNvGrpSpPr/>
        <p:nvPr/>
      </p:nvGrpSpPr>
      <p:grpSpPr>
        <a:xfrm>
          <a:off x="0" y="0"/>
          <a:ext cx="0" cy="0"/>
          <a:chOff x="0" y="0"/>
          <a:chExt cx="0" cy="0"/>
        </a:xfrm>
      </p:grpSpPr>
      <p:sp>
        <p:nvSpPr>
          <p:cNvPr id="2" name="Shape 0"/>
          <p:cNvSpPr/>
          <p:nvPr/>
        </p:nvSpPr>
        <p:spPr>
          <a:xfrm>
            <a:off x="812780" y="1993875"/>
            <a:ext cx="101560" cy="2667000"/>
          </a:xfrm>
          <a:prstGeom prst="roundRect">
            <a:avLst>
              <a:gd name="adj" fmla="val 50000"/>
            </a:avLst>
          </a:prstGeom>
          <a:solidFill>
            <a:srgbClr val="E3A23B"/>
          </a:solidFill>
          <a:ln/>
        </p:spPr>
      </p:sp>
      <p:sp>
        <p:nvSpPr>
          <p:cNvPr id="3" name="Text 1"/>
          <p:cNvSpPr/>
          <p:nvPr/>
        </p:nvSpPr>
        <p:spPr>
          <a:xfrm>
            <a:off x="1320701" y="2298675"/>
            <a:ext cx="1036027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9A5414"/>
                </a:solidFill>
                <a:latin typeface="JetBrains Mono" pitchFamily="49" charset="0"/>
                <a:ea typeface="JetBrains Mono" pitchFamily="49" charset="-122"/>
                <a:cs typeface="JetBrains Mono" pitchFamily="49" charset="-120"/>
              </a:rPr>
              <a:t>04</a:t>
            </a:r>
            <a:endParaRPr lang="en-US" sz="6000" dirty="0"/>
          </a:p>
        </p:txBody>
      </p:sp>
      <p:sp>
        <p:nvSpPr>
          <p:cNvPr id="4" name="Text 2"/>
          <p:cNvSpPr>
            <a:spLocks noGrp="1"/>
          </p:cNvSpPr>
          <p:nvPr>
            <p:ph type="title"/>
          </p:nvPr>
        </p:nvSpPr>
        <p:spPr>
          <a:xfrm>
            <a:off x="1320701" y="3213075"/>
            <a:ext cx="10360275"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4A2F20"/>
                </a:solidFill>
                <a:latin typeface="Space Grotesk" pitchFamily="34" charset="0"/>
                <a:ea typeface="Space Grotesk" pitchFamily="34" charset="-122"/>
                <a:cs typeface="Space Grotesk" pitchFamily="34" charset="-120"/>
              </a:rPr>
              <a:t>Modèles et optimisation</a:t>
            </a:r>
            <a:endParaRPr lang="en-US" sz="4800" dirty="0"/>
          </a:p>
        </p:txBody>
      </p:sp>
      <p:sp>
        <p:nvSpPr>
          <p:cNvPr id="5" name="Text 3"/>
          <p:cNvSpPr/>
          <p:nvPr/>
        </p:nvSpPr>
        <p:spPr>
          <a:xfrm>
            <a:off x="1320701" y="4036033"/>
            <a:ext cx="10360275"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6B6158"/>
                </a:solidFill>
                <a:latin typeface="Space Grotesk" pitchFamily="34" charset="0"/>
                <a:ea typeface="Space Grotesk" pitchFamily="34" charset="-122"/>
                <a:cs typeface="Space Grotesk" pitchFamily="34" charset="-120"/>
              </a:rPr>
              <a:t>Biais, variance, hyperparamètres et interprétation.</a:t>
            </a:r>
            <a:endParaRPr lang="en-US" sz="1800" dirty="0"/>
          </a:p>
        </p:txBody>
      </p:sp>
      <p:pic>
        <p:nvPicPr>
          <p:cNvPr id="6"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7" name="Text 4"/>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8" name="Text 5"/>
          <p:cNvSpPr/>
          <p:nvPr/>
        </p:nvSpPr>
        <p:spPr>
          <a:xfrm>
            <a:off x="10807089" y="6256015"/>
            <a:ext cx="572072"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28 / 41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MODÈLES</a:t>
            </a:r>
            <a:endParaRPr lang="en-US" sz="1200" dirty="0"/>
          </a:p>
        </p:txBody>
      </p:sp>
      <p:sp>
        <p:nvSpPr>
          <p:cNvPr id="3" name="Text 1"/>
          <p:cNvSpPr>
            <a:spLocks noGrp="1"/>
          </p:cNvSpPr>
          <p:nvPr>
            <p:ph type="title"/>
          </p:nvPr>
        </p:nvSpPr>
        <p:spPr>
          <a:xfrm>
            <a:off x="812780" y="1102333"/>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Biais et variance : la courbe de validation</a:t>
            </a:r>
            <a:endParaRPr lang="en-US" sz="3200" dirty="0"/>
          </a:p>
        </p:txBody>
      </p:sp>
      <p:sp>
        <p:nvSpPr>
          <p:cNvPr id="4" name="Shape 2"/>
          <p:cNvSpPr/>
          <p:nvPr/>
        </p:nvSpPr>
        <p:spPr>
          <a:xfrm>
            <a:off x="812780" y="1803313"/>
            <a:ext cx="6680181" cy="3746480"/>
          </a:xfrm>
          <a:prstGeom prst="roundRect">
            <a:avLst>
              <a:gd name="adj" fmla="val 2034"/>
            </a:avLst>
          </a:prstGeom>
          <a:solidFill>
            <a:srgbClr val="FFFFFF"/>
          </a:solidFill>
          <a:ln/>
        </p:spPr>
      </p:sp>
      <p:pic>
        <p:nvPicPr>
          <p:cNvPr id="5" name="Image 0" descr="Courbe de validation : R² entraînement et validation selon min_samples_leaf, optimum à 8"/>
          <p:cNvPicPr>
            <a:picLocks noChangeAspect="1"/>
          </p:cNvPicPr>
          <p:nvPr/>
        </p:nvPicPr>
        <p:blipFill>
          <a:blip r:embed="rId3"/>
          <a:srcRect l="-40" r="-40"/>
          <a:stretch/>
        </p:blipFill>
        <p:spPr>
          <a:xfrm>
            <a:off x="819130" y="1809663"/>
            <a:ext cx="6667481" cy="3733780"/>
          </a:xfrm>
          <a:prstGeom prst="roundRect">
            <a:avLst>
              <a:gd name="adj" fmla="val 1871"/>
            </a:avLst>
          </a:prstGeom>
        </p:spPr>
      </p:pic>
      <p:sp>
        <p:nvSpPr>
          <p:cNvPr id="6" name="Shape 3"/>
          <p:cNvSpPr/>
          <p:nvPr/>
        </p:nvSpPr>
        <p:spPr>
          <a:xfrm>
            <a:off x="815955" y="1806488"/>
            <a:ext cx="6673831" cy="3740130"/>
          </a:xfrm>
          <a:prstGeom prst="roundRect">
            <a:avLst>
              <a:gd name="adj" fmla="val 1952"/>
            </a:avLst>
          </a:prstGeom>
          <a:noFill/>
          <a:ln w="6350">
            <a:solidFill>
              <a:srgbClr val="DCD7CA"/>
            </a:solidFill>
            <a:prstDash val="solid"/>
          </a:ln>
        </p:spPr>
      </p:sp>
      <p:sp>
        <p:nvSpPr>
          <p:cNvPr id="7" name="Text 4"/>
          <p:cNvSpPr/>
          <p:nvPr/>
        </p:nvSpPr>
        <p:spPr>
          <a:xfrm>
            <a:off x="7700000" y="1850000"/>
            <a:ext cx="4200000" cy="850000"/>
          </a:xfrm>
          <a:prstGeom prst="roundRect">
            <a:avLst>
              <a:gd name="adj" fmla="val 18349"/>
            </a:avLst>
          </a:prstGeom>
          <a:solidFill>
            <a:srgbClr val="FFFFFF"/>
          </a:solidFill>
          <a:ln/>
        </p:spPr>
        <p:txBody>
          <a:bodyPr wrap="square" lIns="222953" tIns="122642" rIns="0" bIns="97242" rtlCol="0" anchor="t">
            <a:normAutofit/>
          </a:bodyPr>
          <a:lstStyle/>
          <a:p>
            <a:pPr marL="0" indent="0" algn="l">
              <a:lnSpc>
                <a:spcPts val="1960"/>
              </a:lnSpc>
              <a:buNone/>
            </a:pPr>
            <a:r>
              <a:rPr lang="en-US" sz="1400" b="1" dirty="0">
                <a:solidFill>
                  <a:srgbClr val="2B211B"/>
                </a:solidFill>
                <a:latin typeface="Space Grotesk" pitchFamily="34" charset="0"/>
                <a:ea typeface="Space Grotesk" pitchFamily="34" charset="-122"/>
                <a:cs typeface="Space Grotesk" pitchFamily="34" charset="-120"/>
              </a:rPr>
              <a:t>Trop complexe</a:t>
            </a:r>
            <a:r>
              <a:rPr lang="en-US" sz="1400" dirty="0">
                <a:solidFill>
                  <a:srgbClr val="2B211B"/>
                </a:solidFill>
                <a:latin typeface="Space Grotesk" pitchFamily="34" charset="0"/>
                <a:ea typeface="Space Grotesk" pitchFamily="34" charset="-122"/>
                <a:cs typeface="Space Grotesk" pitchFamily="34" charset="-120"/>
              </a:rPr>
              <a:t> (1 exemple par feuille) : R² entraînement 1.00, validation 0.55.</a:t>
            </a:r>
            <a:endParaRPr lang="en-US" sz="1400" dirty="0"/>
          </a:p>
        </p:txBody>
      </p:sp>
      <p:sp>
        <p:nvSpPr>
          <p:cNvPr id="8" name="Shape 5"/>
          <p:cNvSpPr/>
          <p:nvPr/>
        </p:nvSpPr>
        <p:spPr>
          <a:xfrm>
            <a:off x="7700000" y="1850000"/>
            <a:ext cx="4200000" cy="850000"/>
          </a:xfrm>
          <a:custGeom>
            <a:avLst/>
            <a:gdLst/>
            <a:ahLst/>
            <a:cxnLst/>
            <a:rect l="l" t="t" r="r" b="b"/>
            <a:pathLst>
              <a:path w="10312480" h="553700">
                <a:moveTo>
                  <a:pt x="101600" y="553700"/>
                </a:moveTo>
                <a:lnTo>
                  <a:pt x="101600" y="553700"/>
                </a:lnTo>
                <a:arcTo wR="101600" hR="101600" stAng="5400000" swAng="5400000"/>
                <a:lnTo>
                  <a:pt x="0" y="101600"/>
                </a:lnTo>
                <a:arcTo wR="101600" hR="101600" stAng="10800000" swAng="5400000"/>
                <a:lnTo>
                  <a:pt x="101600" y="0"/>
                </a:lnTo>
                <a:arcTo wR="50800" hR="101600" stAng="16200000" swAng="-5400000"/>
                <a:lnTo>
                  <a:pt x="50800" y="452100"/>
                </a:lnTo>
                <a:arcTo wR="50800" hR="101600" stAng="10800000" swAng="-5400000"/>
                <a:close/>
              </a:path>
            </a:pathLst>
          </a:custGeom>
          <a:solidFill>
            <a:srgbClr val="C0392B"/>
          </a:solidFill>
          <a:ln/>
        </p:spPr>
      </p:sp>
      <p:sp>
        <p:nvSpPr>
          <p:cNvPr id="9" name="Text 6"/>
          <p:cNvSpPr/>
          <p:nvPr/>
        </p:nvSpPr>
        <p:spPr>
          <a:xfrm>
            <a:off x="7700000" y="2930000"/>
            <a:ext cx="4200000" cy="850000"/>
          </a:xfrm>
          <a:prstGeom prst="roundRect">
            <a:avLst>
              <a:gd name="adj" fmla="val 18349"/>
            </a:avLst>
          </a:prstGeom>
          <a:solidFill>
            <a:srgbClr val="FFFFFF"/>
          </a:solidFill>
          <a:ln/>
        </p:spPr>
        <p:txBody>
          <a:bodyPr wrap="square" lIns="222953" tIns="122642" rIns="0" bIns="97242" rtlCol="0" anchor="t">
            <a:normAutofit/>
          </a:bodyPr>
          <a:lstStyle/>
          <a:p>
            <a:pPr marL="0" indent="0" algn="l">
              <a:lnSpc>
                <a:spcPts val="1960"/>
              </a:lnSpc>
              <a:buNone/>
            </a:pPr>
            <a:r>
              <a:rPr lang="en-US" sz="1400" b="1" dirty="0">
                <a:solidFill>
                  <a:srgbClr val="2B211B"/>
                </a:solidFill>
                <a:latin typeface="Space Grotesk" pitchFamily="34" charset="0"/>
                <a:ea typeface="Space Grotesk" pitchFamily="34" charset="-122"/>
                <a:cs typeface="Space Grotesk" pitchFamily="34" charset="-120"/>
              </a:rPr>
              <a:t>Trop simple</a:t>
            </a:r>
            <a:r>
              <a:rPr lang="en-US" sz="1400" dirty="0">
                <a:solidFill>
                  <a:srgbClr val="2B211B"/>
                </a:solidFill>
                <a:latin typeface="Space Grotesk" pitchFamily="34" charset="0"/>
                <a:ea typeface="Space Grotesk" pitchFamily="34" charset="-122"/>
                <a:cs typeface="Space Grotesk" pitchFamily="34" charset="-120"/>
              </a:rPr>
              <a:t> (300 par feuille) : validation 0.13.</a:t>
            </a:r>
            <a:endParaRPr lang="en-US" sz="1400" dirty="0"/>
          </a:p>
        </p:txBody>
      </p:sp>
      <p:sp>
        <p:nvSpPr>
          <p:cNvPr id="10" name="Shape 7"/>
          <p:cNvSpPr/>
          <p:nvPr/>
        </p:nvSpPr>
        <p:spPr>
          <a:xfrm>
            <a:off x="7700000" y="2930000"/>
            <a:ext cx="4200000" cy="850000"/>
          </a:xfrm>
          <a:custGeom>
            <a:avLst/>
            <a:gdLst/>
            <a:ahLst/>
            <a:cxnLst/>
            <a:rect l="l" t="t" r="r" b="b"/>
            <a:pathLst>
              <a:path w="10312480" h="553700">
                <a:moveTo>
                  <a:pt x="101600" y="553700"/>
                </a:moveTo>
                <a:lnTo>
                  <a:pt x="101600" y="553700"/>
                </a:lnTo>
                <a:arcTo wR="101600" hR="101600" stAng="5400000" swAng="5400000"/>
                <a:lnTo>
                  <a:pt x="0" y="101600"/>
                </a:lnTo>
                <a:arcTo wR="101600" hR="101600" stAng="10800000" swAng="5400000"/>
                <a:lnTo>
                  <a:pt x="101600" y="0"/>
                </a:lnTo>
                <a:arcTo wR="50800" hR="101600" stAng="16200000" swAng="-5400000"/>
                <a:lnTo>
                  <a:pt x="50800" y="452100"/>
                </a:lnTo>
                <a:arcTo wR="50800" hR="101600" stAng="10800000" swAng="-5400000"/>
                <a:close/>
              </a:path>
            </a:pathLst>
          </a:custGeom>
          <a:solidFill>
            <a:srgbClr val="6B6158"/>
          </a:solidFill>
          <a:ln/>
        </p:spPr>
      </p:sp>
      <p:sp>
        <p:nvSpPr>
          <p:cNvPr id="11" name="Text 8"/>
          <p:cNvSpPr/>
          <p:nvPr/>
        </p:nvSpPr>
        <p:spPr>
          <a:xfrm>
            <a:off x="7700000" y="4010000"/>
            <a:ext cx="4200000" cy="850000"/>
          </a:xfrm>
          <a:prstGeom prst="roundRect">
            <a:avLst>
              <a:gd name="adj" fmla="val 18349"/>
            </a:avLst>
          </a:prstGeom>
          <a:solidFill>
            <a:srgbClr val="FFFFFF"/>
          </a:solidFill>
          <a:ln/>
        </p:spPr>
        <p:txBody>
          <a:bodyPr wrap="square" lIns="222953" tIns="122642" rIns="0" bIns="97242" rtlCol="0" anchor="t">
            <a:normAutofit/>
          </a:bodyPr>
          <a:lstStyle/>
          <a:p>
            <a:pPr marL="0" indent="0" algn="l">
              <a:lnSpc>
                <a:spcPts val="1960"/>
              </a:lnSpc>
              <a:buNone/>
            </a:pPr>
            <a:r>
              <a:rPr lang="en-US" sz="1400" b="1" dirty="0">
                <a:solidFill>
                  <a:srgbClr val="2B211B"/>
                </a:solidFill>
                <a:latin typeface="Space Grotesk" pitchFamily="34" charset="0"/>
                <a:ea typeface="Space Grotesk" pitchFamily="34" charset="-122"/>
                <a:cs typeface="Space Grotesk" pitchFamily="34" charset="-120"/>
              </a:rPr>
              <a:t>Optimum</a:t>
            </a:r>
            <a:r>
              <a:rPr lang="en-US" sz="1400" dirty="0">
                <a:solidFill>
                  <a:srgbClr val="2B211B"/>
                </a:solidFill>
                <a:latin typeface="Space Grotesk" pitchFamily="34" charset="0"/>
                <a:ea typeface="Space Grotesk" pitchFamily="34" charset="-122"/>
                <a:cs typeface="Space Grotesk" pitchFamily="34" charset="-120"/>
              </a:rPr>
              <a:t> à 8 exemples par feuille : validation 0.65.</a:t>
            </a:r>
            <a:endParaRPr lang="en-US" sz="1400" dirty="0"/>
          </a:p>
        </p:txBody>
      </p:sp>
      <p:sp>
        <p:nvSpPr>
          <p:cNvPr id="12" name="Shape 9"/>
          <p:cNvSpPr/>
          <p:nvPr/>
        </p:nvSpPr>
        <p:spPr>
          <a:xfrm>
            <a:off x="7700000" y="4010000"/>
            <a:ext cx="4200000" cy="850000"/>
          </a:xfrm>
          <a:custGeom>
            <a:avLst/>
            <a:gdLst/>
            <a:ahLst/>
            <a:cxnLst/>
            <a:rect l="l" t="t" r="r" b="b"/>
            <a:pathLst>
              <a:path w="10312480" h="553700">
                <a:moveTo>
                  <a:pt x="101600" y="553700"/>
                </a:moveTo>
                <a:lnTo>
                  <a:pt x="101600" y="553700"/>
                </a:lnTo>
                <a:arcTo wR="101600" hR="101600" stAng="5400000" swAng="5400000"/>
                <a:lnTo>
                  <a:pt x="0" y="101600"/>
                </a:lnTo>
                <a:arcTo wR="101600" hR="101600" stAng="10800000" swAng="5400000"/>
                <a:lnTo>
                  <a:pt x="101600" y="0"/>
                </a:lnTo>
                <a:arcTo wR="50800" hR="101600" stAng="16200000" swAng="-5400000"/>
                <a:lnTo>
                  <a:pt x="50800" y="452100"/>
                </a:lnTo>
                <a:arcTo wR="50800" hR="101600" stAng="10800000" swAng="-5400000"/>
                <a:close/>
              </a:path>
            </a:pathLst>
          </a:custGeom>
          <a:solidFill>
            <a:srgbClr val="1E8449"/>
          </a:solidFill>
          <a:ln/>
        </p:spPr>
      </p:sp>
      <p:pic>
        <p:nvPicPr>
          <p:cNvPr id="13" name="Image 1" descr="Logo ISM"/>
          <p:cNvPicPr>
            <a:picLocks noChangeAspect="1"/>
          </p:cNvPicPr>
          <p:nvPr/>
        </p:nvPicPr>
        <p:blipFill>
          <a:blip r:embed="rId4"/>
          <a:srcRect l="431" r="431"/>
          <a:stretch/>
        </p:blipFill>
        <p:spPr>
          <a:xfrm>
            <a:off x="812780" y="6223037"/>
            <a:ext cx="279380" cy="279380"/>
          </a:xfrm>
          <a:prstGeom prst="roundRect">
            <a:avLst>
              <a:gd name="adj" fmla="val 13637"/>
            </a:avLst>
          </a:prstGeom>
        </p:spPr>
      </p:pic>
      <p:sp>
        <p:nvSpPr>
          <p:cNvPr id="14" name="Text 10"/>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5" name="Text 11"/>
          <p:cNvSpPr/>
          <p:nvPr/>
        </p:nvSpPr>
        <p:spPr>
          <a:xfrm>
            <a:off x="10809661" y="6256015"/>
            <a:ext cx="5695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29 / 41</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20782"/>
          </a:xfrm>
          <a:prstGeom prst="rect">
            <a:avLst/>
          </a:prstGeom>
          <a:noFill/>
          <a:ln/>
        </p:spPr>
        <p:txBody>
          <a:bodyPr wrap="square" lIns="0" tIns="0" rIns="0" bIns="0" rtlCol="0" anchor="t">
            <a:normAutofit/>
          </a:bodyPr>
          <a:lstStyle/>
          <a:p>
            <a:pPr marL="0" indent="0" algn="l">
              <a:lnSpc>
                <a:spcPts val="1570"/>
              </a:lnSpc>
              <a:buNone/>
            </a:pPr>
            <a:r>
              <a:rPr lang="en-US" sz="1121" b="1" kern="0" spc="150" dirty="0">
                <a:solidFill>
                  <a:srgbClr val="9A5414"/>
                </a:solidFill>
                <a:latin typeface="Space Grotesk" pitchFamily="34" charset="0"/>
                <a:ea typeface="Space Grotesk" pitchFamily="34" charset="-122"/>
                <a:cs typeface="Space Grotesk" pitchFamily="34" charset="-120"/>
              </a:rPr>
              <a:t>MODÈLES</a:t>
            </a:r>
            <a:endParaRPr lang="en-US" sz="1121" dirty="0"/>
          </a:p>
        </p:txBody>
      </p:sp>
      <p:sp>
        <p:nvSpPr>
          <p:cNvPr id="3" name="Text 1"/>
          <p:cNvSpPr>
            <a:spLocks noGrp="1"/>
          </p:cNvSpPr>
          <p:nvPr>
            <p:ph type="title"/>
          </p:nvPr>
        </p:nvSpPr>
        <p:spPr>
          <a:xfrm>
            <a:off x="812780" y="1084362"/>
            <a:ext cx="10883434" cy="434796"/>
          </a:xfrm>
          <a:prstGeom prst="rect">
            <a:avLst/>
          </a:prstGeom>
          <a:noFill/>
          <a:ln/>
        </p:spPr>
        <p:txBody>
          <a:bodyPr wrap="square" lIns="0" tIns="0" rIns="0" bIns="0" rtlCol="0" anchor="t">
            <a:normAutofit/>
          </a:bodyPr>
          <a:lstStyle/>
          <a:p>
            <a:pPr marL="0" indent="0" algn="l">
              <a:lnSpc>
                <a:spcPts val="3223"/>
              </a:lnSpc>
              <a:buNone/>
            </a:pPr>
            <a:r>
              <a:rPr lang="en-US" sz="2930" b="1" i="0" dirty="0">
                <a:solidFill>
                  <a:srgbClr val="2B211B"/>
                </a:solidFill>
                <a:latin typeface="Space Grotesk" pitchFamily="34" charset="0"/>
                <a:ea typeface="Space Grotesk" pitchFamily="34" charset="-122"/>
                <a:cs typeface="Space Grotesk" pitchFamily="34" charset="-120"/>
              </a:rPr>
              <a:t>Panorama des modèles utiles</a:t>
            </a:r>
            <a:endParaRPr lang="en-US" sz="293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759143"/>
          <a:ext cx="10554950" cy="4082890"/>
        </p:xfrm>
        <a:graphic>
          <a:graphicData uri="http://schemas.openxmlformats.org/drawingml/2006/table">
            <a:tbl>
              <a:tblPr/>
              <a:tblGrid>
                <a:gridCol w="3377584">
                  <a:extLst>
                    <a:ext uri="{9D8B030D-6E8A-4147-A177-3AD203B41FA5}">
                      <a16:colId xmlns:a16="http://schemas.microsoft.com/office/drawing/2014/main" val="20000"/>
                    </a:ext>
                  </a:extLst>
                </a:gridCol>
                <a:gridCol w="3799782">
                  <a:extLst>
                    <a:ext uri="{9D8B030D-6E8A-4147-A177-3AD203B41FA5}">
                      <a16:colId xmlns:a16="http://schemas.microsoft.com/office/drawing/2014/main" val="20001"/>
                    </a:ext>
                  </a:extLst>
                </a:gridCol>
                <a:gridCol w="3377584">
                  <a:extLst>
                    <a:ext uri="{9D8B030D-6E8A-4147-A177-3AD203B41FA5}">
                      <a16:colId xmlns:a16="http://schemas.microsoft.com/office/drawing/2014/main" val="20002"/>
                    </a:ext>
                  </a:extLst>
                </a:gridCol>
              </a:tblGrid>
              <a:tr h="496729">
                <a:tc>
                  <a:txBody>
                    <a:bodyPr/>
                    <a:lstStyle/>
                    <a:p>
                      <a:pPr marL="0" indent="0">
                        <a:lnSpc>
                          <a:spcPts val="2170"/>
                        </a:lnSpc>
                        <a:buNone/>
                      </a:pPr>
                      <a:r>
                        <a:rPr lang="en-US" sz="1550" b="1" dirty="0">
                          <a:solidFill>
                            <a:srgbClr val="4A2F20"/>
                          </a:solidFill>
                          <a:latin typeface="Space Grotesk" pitchFamily="34" charset="0"/>
                          <a:ea typeface="Space Grotesk" pitchFamily="34" charset="-122"/>
                          <a:cs typeface="Space Grotesk" pitchFamily="34" charset="-120"/>
                        </a:rPr>
                        <a:t>Modèle</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170"/>
                        </a:lnSpc>
                        <a:buNone/>
                      </a:pPr>
                      <a:r>
                        <a:rPr lang="en-US" sz="1550" b="1" dirty="0">
                          <a:solidFill>
                            <a:srgbClr val="4A2F20"/>
                          </a:solidFill>
                          <a:latin typeface="Space Grotesk" pitchFamily="34" charset="0"/>
                          <a:ea typeface="Space Grotesk" pitchFamily="34" charset="-122"/>
                          <a:cs typeface="Space Grotesk" pitchFamily="34" charset="-120"/>
                        </a:rPr>
                        <a:t>Points forts</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170"/>
                        </a:lnSpc>
                        <a:buNone/>
                      </a:pPr>
                      <a:r>
                        <a:rPr lang="en-US" sz="1550" b="1" dirty="0">
                          <a:solidFill>
                            <a:srgbClr val="4A2F20"/>
                          </a:solidFill>
                          <a:latin typeface="Space Grotesk" pitchFamily="34" charset="0"/>
                          <a:ea typeface="Space Grotesk" pitchFamily="34" charset="-122"/>
                          <a:cs typeface="Space Grotesk" pitchFamily="34" charset="-120"/>
                        </a:rPr>
                        <a:t>Attention à</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extLst>
                  <a:ext uri="{0D108BD9-81ED-4DB2-BD59-A6C34878D82A}">
                    <a16:rowId xmlns:a16="http://schemas.microsoft.com/office/drawing/2014/main" val="10000"/>
                  </a:ext>
                </a:extLst>
              </a:tr>
              <a:tr h="496729">
                <a:tc>
                  <a:txBody>
                    <a:bodyPr/>
                    <a:lstStyle/>
                    <a:p>
                      <a:pPr marL="0" indent="0">
                        <a:lnSpc>
                          <a:spcPts val="2170"/>
                        </a:lnSpc>
                        <a:buNone/>
                      </a:pPr>
                      <a:r>
                        <a:rPr lang="en-US" sz="1550" dirty="0">
                          <a:solidFill>
                            <a:srgbClr val="9A5414"/>
                          </a:solidFill>
                          <a:latin typeface="Space Grotesk" pitchFamily="34" charset="0"/>
                          <a:ea typeface="Space Grotesk" pitchFamily="34" charset="-122"/>
                          <a:cs typeface="Space Grotesk" pitchFamily="34" charset="-120"/>
                        </a:rPr>
                        <a:t>LogisticRegression · Ridge</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2B211B"/>
                          </a:solidFill>
                          <a:latin typeface="Space Grotesk" pitchFamily="34" charset="0"/>
                          <a:ea typeface="Space Grotesk" pitchFamily="34" charset="-122"/>
                          <a:cs typeface="Space Grotesk" pitchFamily="34" charset="-120"/>
                        </a:rPr>
                        <a:t>Rapides, interprétables, bien calibrés</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6B6158"/>
                          </a:solidFill>
                          <a:latin typeface="Space Grotesk" pitchFamily="34" charset="0"/>
                          <a:ea typeface="Space Grotesk" pitchFamily="34" charset="-122"/>
                          <a:cs typeface="Space Grotesk" pitchFamily="34" charset="-120"/>
                        </a:rPr>
                        <a:t>Relations non linéaires</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772358">
                <a:tc>
                  <a:txBody>
                    <a:bodyPr/>
                    <a:lstStyle/>
                    <a:p>
                      <a:pPr marL="0" indent="0">
                        <a:lnSpc>
                          <a:spcPts val="2170"/>
                        </a:lnSpc>
                        <a:buNone/>
                      </a:pPr>
                      <a:r>
                        <a:rPr lang="en-US" sz="1550" dirty="0">
                          <a:solidFill>
                            <a:srgbClr val="9A5414"/>
                          </a:solidFill>
                          <a:latin typeface="Space Grotesk" pitchFamily="34" charset="0"/>
                          <a:ea typeface="Space Grotesk" pitchFamily="34" charset="-122"/>
                          <a:cs typeface="Space Grotesk" pitchFamily="34" charset="-120"/>
                        </a:rPr>
                        <a:t>RandomForest</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2B211B"/>
                          </a:solidFill>
                          <a:latin typeface="Space Grotesk" pitchFamily="34" charset="0"/>
                          <a:ea typeface="Space Grotesk" pitchFamily="34" charset="-122"/>
                          <a:cs typeface="Space Grotesk" pitchFamily="34" charset="-120"/>
                        </a:rPr>
                        <a:t>Robuste, peu de réglages</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6B6158"/>
                          </a:solidFill>
                          <a:latin typeface="Space Grotesk" pitchFamily="34" charset="0"/>
                          <a:ea typeface="Space Grotesk" pitchFamily="34" charset="-122"/>
                          <a:cs typeface="Space Grotesk" pitchFamily="34" charset="-120"/>
                        </a:rPr>
                        <a:t>Lourd en mémoire, probabilités peu calibrées</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772358">
                <a:tc>
                  <a:txBody>
                    <a:bodyPr/>
                    <a:lstStyle/>
                    <a:p>
                      <a:pPr marL="0" indent="0">
                        <a:lnSpc>
                          <a:spcPts val="2170"/>
                        </a:lnSpc>
                        <a:buNone/>
                      </a:pPr>
                      <a:r>
                        <a:rPr lang="en-US" sz="1550" dirty="0">
                          <a:solidFill>
                            <a:srgbClr val="9A5414"/>
                          </a:solidFill>
                          <a:latin typeface="Space Grotesk" pitchFamily="34" charset="0"/>
                          <a:ea typeface="Space Grotesk" pitchFamily="34" charset="-122"/>
                          <a:cs typeface="Space Grotesk" pitchFamily="34" charset="-120"/>
                        </a:rPr>
                        <a:t>HistGradientBoosting</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2B211B"/>
                          </a:solidFill>
                          <a:latin typeface="Space Grotesk" pitchFamily="34" charset="0"/>
                          <a:ea typeface="Space Grotesk" pitchFamily="34" charset="-122"/>
                          <a:cs typeface="Space Grotesk" pitchFamily="34" charset="-120"/>
                        </a:rPr>
                        <a:t>Souvent le meilleur sur tableaux, gère les NaN</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6B6158"/>
                          </a:solidFill>
                          <a:latin typeface="Space Grotesk" pitchFamily="34" charset="0"/>
                          <a:ea typeface="Space Grotesk" pitchFamily="34" charset="-122"/>
                          <a:cs typeface="Space Grotesk" pitchFamily="34" charset="-120"/>
                        </a:rPr>
                        <a:t>Surapprend sans réglage</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772358">
                <a:tc>
                  <a:txBody>
                    <a:bodyPr/>
                    <a:lstStyle/>
                    <a:p>
                      <a:pPr marL="0" indent="0">
                        <a:lnSpc>
                          <a:spcPts val="2170"/>
                        </a:lnSpc>
                        <a:buNone/>
                      </a:pPr>
                      <a:r>
                        <a:rPr lang="en-US" sz="1550" dirty="0">
                          <a:solidFill>
                            <a:srgbClr val="9A5414"/>
                          </a:solidFill>
                          <a:latin typeface="Space Grotesk" pitchFamily="34" charset="0"/>
                          <a:ea typeface="Space Grotesk" pitchFamily="34" charset="-122"/>
                          <a:cs typeface="Space Grotesk" pitchFamily="34" charset="-120"/>
                        </a:rPr>
                        <a:t>SVC · KNN</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2B211B"/>
                          </a:solidFill>
                          <a:latin typeface="Space Grotesk" pitchFamily="34" charset="0"/>
                          <a:ea typeface="Space Grotesk" pitchFamily="34" charset="-122"/>
                          <a:cs typeface="Space Grotesk" pitchFamily="34" charset="-120"/>
                        </a:rPr>
                        <a:t>Frontières complexes, petits jeux</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6B6158"/>
                          </a:solidFill>
                          <a:latin typeface="Space Grotesk" pitchFamily="34" charset="0"/>
                          <a:ea typeface="Space Grotesk" pitchFamily="34" charset="-122"/>
                          <a:cs typeface="Space Grotesk" pitchFamily="34" charset="-120"/>
                        </a:rPr>
                        <a:t>Lents sur gros volumes, mise à l'échelle</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772358">
                <a:tc>
                  <a:txBody>
                    <a:bodyPr/>
                    <a:lstStyle/>
                    <a:p>
                      <a:pPr marL="0" indent="0">
                        <a:lnSpc>
                          <a:spcPts val="2170"/>
                        </a:lnSpc>
                        <a:buNone/>
                      </a:pPr>
                      <a:r>
                        <a:rPr lang="en-US" sz="1550" dirty="0">
                          <a:solidFill>
                            <a:srgbClr val="9A5414"/>
                          </a:solidFill>
                          <a:latin typeface="Space Grotesk" pitchFamily="34" charset="0"/>
                          <a:ea typeface="Space Grotesk" pitchFamily="34" charset="-122"/>
                          <a:cs typeface="Space Grotesk" pitchFamily="34" charset="-120"/>
                        </a:rPr>
                        <a:t>PoissonRegressor</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2B211B"/>
                          </a:solidFill>
                          <a:latin typeface="Space Grotesk" pitchFamily="34" charset="0"/>
                          <a:ea typeface="Space Grotesk" pitchFamily="34" charset="-122"/>
                          <a:cs typeface="Space Grotesk" pitchFamily="34" charset="-120"/>
                        </a:rPr>
                        <a:t>Comptages : buts, accidents, ventes</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170"/>
                        </a:lnSpc>
                        <a:buNone/>
                      </a:pPr>
                      <a:r>
                        <a:rPr lang="en-US" sz="1550" dirty="0">
                          <a:solidFill>
                            <a:srgbClr val="6B6158"/>
                          </a:solidFill>
                          <a:latin typeface="Space Grotesk" pitchFamily="34" charset="0"/>
                          <a:ea typeface="Space Grotesk" pitchFamily="34" charset="-122"/>
                          <a:cs typeface="Space Grotesk" pitchFamily="34" charset="-120"/>
                        </a:rPr>
                        <a:t>Cible entière positive uniquement</a:t>
                      </a:r>
                      <a:endParaRPr lang="en-US" sz="155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5"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6" name="Text 2"/>
          <p:cNvSpPr/>
          <p:nvPr/>
        </p:nvSpPr>
        <p:spPr>
          <a:xfrm>
            <a:off x="1193721" y="6256015"/>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7" name="Text 3"/>
          <p:cNvSpPr/>
          <p:nvPr/>
        </p:nvSpPr>
        <p:spPr>
          <a:xfrm>
            <a:off x="10803589" y="6256015"/>
            <a:ext cx="575572"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30 / 41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MODÈLES</a:t>
            </a:r>
            <a:endParaRPr lang="en-US" sz="1200" dirty="0"/>
          </a:p>
        </p:txBody>
      </p:sp>
      <p:sp>
        <p:nvSpPr>
          <p:cNvPr id="3" name="Text 1"/>
          <p:cNvSpPr>
            <a:spLocks noGrp="1"/>
          </p:cNvSpPr>
          <p:nvPr>
            <p:ph type="title"/>
          </p:nvPr>
        </p:nvSpPr>
        <p:spPr>
          <a:xfrm>
            <a:off x="812780" y="1102333"/>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Recherche aléatoire d'hyperparamètres</a:t>
            </a:r>
            <a:endParaRPr lang="en-US" sz="3200" dirty="0"/>
          </a:p>
        </p:txBody>
      </p:sp>
      <p:sp>
        <p:nvSpPr>
          <p:cNvPr id="4" name="Shape 2"/>
          <p:cNvSpPr/>
          <p:nvPr/>
        </p:nvSpPr>
        <p:spPr>
          <a:xfrm>
            <a:off x="819130" y="1809663"/>
            <a:ext cx="10553740" cy="243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00"/>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sklearn.model_selection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RandomizedSearchCV</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00"/>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scipy.stats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loguniform, randint</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hgb = make_pipeline(prep, HistGradientBoostingRegressor(random_state=42))</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e = </a:t>
            </a:r>
            <a:r>
              <a:rPr lang="en-US" sz="900" dirty="0">
                <a:solidFill>
                  <a:srgbClr val="2C6E3F"/>
                </a:solidFill>
                <a:latin typeface="JetBrains Mono" pitchFamily="49" charset="0"/>
                <a:ea typeface="JetBrains Mono" pitchFamily="49" charset="-122"/>
                <a:cs typeface="JetBrains Mono" pitchFamily="49" charset="-120"/>
              </a:rPr>
              <a:t>"histgradientboostingregressor__"</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7D7466"/>
                </a:solidFill>
                <a:latin typeface="JetBrains Mono" pitchFamily="49" charset="0"/>
                <a:ea typeface="JetBrains Mono" pitchFamily="49" charset="-122"/>
                <a:cs typeface="JetBrains Mono" pitchFamily="49" charset="-120"/>
              </a:rPr>
              <a:t># préfixe = nom de l'étape</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grille = {e + </a:t>
            </a:r>
            <a:r>
              <a:rPr lang="en-US" sz="900" dirty="0">
                <a:solidFill>
                  <a:srgbClr val="2C6E3F"/>
                </a:solidFill>
                <a:latin typeface="JetBrains Mono" pitchFamily="49" charset="0"/>
                <a:ea typeface="JetBrains Mono" pitchFamily="49" charset="-122"/>
                <a:cs typeface="JetBrains Mono" pitchFamily="49" charset="-120"/>
              </a:rPr>
              <a:t>"learning_rate"</a:t>
            </a:r>
            <a:r>
              <a:rPr lang="en-US" sz="900" dirty="0">
                <a:solidFill>
                  <a:srgbClr val="2B211B"/>
                </a:solidFill>
                <a:latin typeface="JetBrains Mono" pitchFamily="49" charset="0"/>
                <a:ea typeface="JetBrains Mono" pitchFamily="49" charset="-122"/>
                <a:cs typeface="JetBrains Mono" pitchFamily="49" charset="-120"/>
              </a:rPr>
              <a:t>: loguniform(0.01, 0.3),</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e + </a:t>
            </a:r>
            <a:r>
              <a:rPr lang="en-US" sz="900" dirty="0">
                <a:solidFill>
                  <a:srgbClr val="2C6E3F"/>
                </a:solidFill>
                <a:latin typeface="JetBrains Mono" pitchFamily="49" charset="0"/>
                <a:ea typeface="JetBrains Mono" pitchFamily="49" charset="-122"/>
                <a:cs typeface="JetBrains Mono" pitchFamily="49" charset="-120"/>
              </a:rPr>
              <a:t>"max_depth"</a:t>
            </a:r>
            <a:r>
              <a:rPr lang="en-US" sz="900" dirty="0">
                <a:solidFill>
                  <a:srgbClr val="2B211B"/>
                </a:solidFill>
                <a:latin typeface="JetBrains Mono" pitchFamily="49" charset="0"/>
                <a:ea typeface="JetBrains Mono" pitchFamily="49" charset="-122"/>
                <a:cs typeface="JetBrains Mono" pitchFamily="49" charset="-120"/>
              </a:rPr>
              <a:t>: randint(2, 8), e + </a:t>
            </a:r>
            <a:r>
              <a:rPr lang="en-US" sz="900" dirty="0">
                <a:solidFill>
                  <a:srgbClr val="2C6E3F"/>
                </a:solidFill>
                <a:latin typeface="JetBrains Mono" pitchFamily="49" charset="0"/>
                <a:ea typeface="JetBrains Mono" pitchFamily="49" charset="-122"/>
                <a:cs typeface="JetBrains Mono" pitchFamily="49" charset="-120"/>
              </a:rPr>
              <a:t>"min_samples_leaf"</a:t>
            </a:r>
            <a:r>
              <a:rPr lang="en-US" sz="900" dirty="0">
                <a:solidFill>
                  <a:srgbClr val="2B211B"/>
                </a:solidFill>
                <a:latin typeface="JetBrains Mono" pitchFamily="49" charset="0"/>
                <a:ea typeface="JetBrains Mono" pitchFamily="49" charset="-122"/>
                <a:cs typeface="JetBrains Mono" pitchFamily="49" charset="-120"/>
              </a:rPr>
              <a:t>: randint(10, 80)}</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rech = RandomizedSearchCV(hgb, grille, n_iter=30, cv=cv, random_state=42,</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scoring=</a:t>
            </a:r>
            <a:r>
              <a:rPr lang="en-US" sz="900" dirty="0">
                <a:solidFill>
                  <a:srgbClr val="2C6E3F"/>
                </a:solidFill>
                <a:latin typeface="JetBrains Mono" pitchFamily="49" charset="0"/>
                <a:ea typeface="JetBrains Mono" pitchFamily="49" charset="-122"/>
                <a:cs typeface="JetBrains Mono" pitchFamily="49" charset="-120"/>
              </a:rPr>
              <a:t>"neg_mean_absolute_error"</a:t>
            </a:r>
            <a:r>
              <a:rPr lang="en-US" sz="900" dirty="0">
                <a:solidFill>
                  <a:srgbClr val="2B211B"/>
                </a:solidFill>
                <a:latin typeface="JetBrains Mono" pitchFamily="49" charset="0"/>
                <a:ea typeface="JetBrains Mono" pitchFamily="49" charset="-122"/>
                <a:cs typeface="JetBrains Mono" pitchFamily="49" charset="-120"/>
              </a:rPr>
              <a:t>, n_jobs=-1)</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rech.fit(X_train, y_train)</a:t>
            </a:r>
            <a:endParaRPr lang="en-US" sz="900" dirty="0"/>
          </a:p>
        </p:txBody>
      </p:sp>
      <p:sp>
        <p:nvSpPr>
          <p:cNvPr id="14" name="Text 12"/>
          <p:cNvSpPr/>
          <p:nvPr/>
        </p:nvSpPr>
        <p:spPr>
          <a:xfrm>
            <a:off x="1027390" y="362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print(</a:t>
            </a:r>
            <a:r>
              <a:rPr lang="en-US" sz="900" dirty="0">
                <a:solidFill>
                  <a:srgbClr val="2C6E3F"/>
                </a:solidFill>
                <a:latin typeface="JetBrains Mono" pitchFamily="49" charset="0"/>
                <a:ea typeface="JetBrains Mono" pitchFamily="49" charset="-122"/>
                <a:cs typeface="JetBrains Mono" pitchFamily="49" charset="-120"/>
              </a:rPr>
              <a:t>f"MAE CV : {-rech.best_score_:,.0f} FCFA"</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5" name="Text 13"/>
          <p:cNvSpPr/>
          <p:nvPr/>
        </p:nvSpPr>
        <p:spPr>
          <a:xfrm>
            <a:off x="1027390" y="3810000"/>
            <a:ext cx="10441337" cy="155000"/>
          </a:xfrm>
          <a:prstGeom prst="rect">
            <a:avLst/>
          </a:prstGeom>
          <a:noFill/>
          <a:ln/>
        </p:spPr>
        <p:txBody>
          <a:bodyPr wrap="none" lIns="0" tIns="0" rIns="0" bIns="0" rtlCol="0" anchor="t">
            <a:normAutofit/>
          </a:bodyPr>
          <a:lstStyle/>
          <a:p>
            <a:pPr marL="0" indent="0" algn="l">
              <a:lnSpc>
                <a:spcPts val="900"/>
              </a:lnSpc>
              <a:buNone/>
            </a:pPr>
            <a:r>
              <a:rPr lang="en-US" sz="900" b="1" dirty="0">
                <a:solidFill>
                  <a:srgbClr val="9A3D0A"/>
                </a:solidFill>
                <a:latin typeface="JetBrains Mono" pitchFamily="49" charset="0"/>
                <a:ea typeface="JetBrains Mono" pitchFamily="49" charset="-122"/>
                <a:cs typeface="JetBrains Mono" pitchFamily="49" charset="-120"/>
              </a:rPr>
              <a:t>for</a:t>
            </a:r>
            <a:r>
              <a:rPr lang="en-US" sz="900" dirty="0">
                <a:solidFill>
                  <a:srgbClr val="2B211B"/>
                </a:solidFill>
                <a:latin typeface="JetBrains Mono" pitchFamily="49" charset="0"/>
                <a:ea typeface="JetBrains Mono" pitchFamily="49" charset="-122"/>
                <a:cs typeface="JetBrains Mono" pitchFamily="49" charset="-120"/>
              </a:rPr>
              <a:t> k, v </a:t>
            </a:r>
            <a:r>
              <a:rPr lang="en-US" sz="900" b="1" dirty="0">
                <a:solidFill>
                  <a:srgbClr val="9A3D0A"/>
                </a:solidFill>
                <a:latin typeface="JetBrains Mono" pitchFamily="49" charset="0"/>
                <a:ea typeface="JetBrains Mono" pitchFamily="49" charset="-122"/>
                <a:cs typeface="JetBrains Mono" pitchFamily="49" charset="-120"/>
              </a:rPr>
              <a:t>in</a:t>
            </a:r>
            <a:r>
              <a:rPr lang="en-US" sz="900" dirty="0">
                <a:solidFill>
                  <a:srgbClr val="2B211B"/>
                </a:solidFill>
                <a:latin typeface="JetBrains Mono" pitchFamily="49" charset="0"/>
                <a:ea typeface="JetBrains Mono" pitchFamily="49" charset="-122"/>
                <a:cs typeface="JetBrains Mono" pitchFamily="49" charset="-120"/>
              </a:rPr>
              <a:t> rech.best_params_.items():</a:t>
            </a:r>
            <a:endParaRPr lang="en-US" sz="900" dirty="0"/>
          </a:p>
        </p:txBody>
      </p:sp>
      <p:sp>
        <p:nvSpPr>
          <p:cNvPr id="16" name="Text 14"/>
          <p:cNvSpPr/>
          <p:nvPr/>
        </p:nvSpPr>
        <p:spPr>
          <a:xfrm>
            <a:off x="1027390" y="4000000"/>
            <a:ext cx="10441337" cy="155000"/>
          </a:xfrm>
          <a:prstGeom prst="rect">
            <a:avLst/>
          </a:prstGeom>
          <a:noFill/>
          <a:ln/>
        </p:spPr>
        <p:txBody>
          <a:bodyPr wrap="none" lIns="0" tIns="0" rIns="0" bIns="0" rtlCol="0" anchor="t">
            <a:normAutofit/>
          </a:bodyPr>
          <a:lstStyle/>
          <a:p>
            <a:pPr marL="0" indent="0" algn="l">
              <a:lnSpc>
                <a:spcPts val="900"/>
              </a:lnSpc>
              <a:buNone/>
            </a:pPr>
            <a:r>
              <a:rPr lang="en-US" sz="900" dirty="0">
                <a:solidFill>
                  <a:srgbClr val="2B211B"/>
                </a:solidFill>
                <a:latin typeface="JetBrains Mono" pitchFamily="49" charset="0"/>
                <a:ea typeface="JetBrains Mono" pitchFamily="49" charset="-122"/>
                <a:cs typeface="JetBrains Mono" pitchFamily="49" charset="-120"/>
              </a:rPr>
              <a:t>    print(k.split(</a:t>
            </a:r>
            <a:r>
              <a:rPr lang="en-US" sz="900" dirty="0">
                <a:solidFill>
                  <a:srgbClr val="2C6E3F"/>
                </a:solidFill>
                <a:latin typeface="JetBrains Mono" pitchFamily="49" charset="0"/>
                <a:ea typeface="JetBrains Mono" pitchFamily="49" charset="-122"/>
                <a:cs typeface="JetBrains Mono" pitchFamily="49" charset="-120"/>
              </a:rPr>
              <a:t>"__"</a:t>
            </a:r>
            <a:r>
              <a:rPr lang="en-US" sz="900" dirty="0">
                <a:solidFill>
                  <a:srgbClr val="2B211B"/>
                </a:solidFill>
                <a:latin typeface="JetBrains Mono" pitchFamily="49" charset="0"/>
                <a:ea typeface="JetBrains Mono" pitchFamily="49" charset="-122"/>
                <a:cs typeface="JetBrains Mono" pitchFamily="49" charset="-120"/>
              </a:rPr>
              <a:t>)[1], </a:t>
            </a:r>
            <a:r>
              <a:rPr lang="en-US" sz="900" dirty="0">
                <a:solidFill>
                  <a:srgbClr val="2C6E3F"/>
                </a:solidFill>
                <a:latin typeface="JetBrains Mono" pitchFamily="49" charset="0"/>
                <a:ea typeface="JetBrains Mono" pitchFamily="49" charset="-122"/>
                <a:cs typeface="JetBrains Mono" pitchFamily="49" charset="-120"/>
              </a:rPr>
              <a:t>"="</a:t>
            </a:r>
            <a:r>
              <a:rPr lang="en-US" sz="900" dirty="0">
                <a:solidFill>
                  <a:srgbClr val="2B211B"/>
                </a:solidFill>
                <a:latin typeface="JetBrains Mono" pitchFamily="49" charset="0"/>
                <a:ea typeface="JetBrains Mono" pitchFamily="49" charset="-122"/>
                <a:cs typeface="JetBrains Mono" pitchFamily="49" charset="-120"/>
              </a:rPr>
              <a:t>, round(v, 3))</a:t>
            </a:r>
            <a:endParaRPr lang="en-US" sz="900" dirty="0"/>
          </a:p>
        </p:txBody>
      </p:sp>
      <p:sp>
        <p:nvSpPr>
          <p:cNvPr id="17" name="Shape 15"/>
          <p:cNvSpPr/>
          <p:nvPr/>
        </p:nvSpPr>
        <p:spPr>
          <a:xfrm>
            <a:off x="812780" y="4295000"/>
            <a:ext cx="2425660" cy="940000"/>
          </a:xfrm>
          <a:prstGeom prst="roundRect">
            <a:avLst>
              <a:gd name="adj" fmla="val 29167"/>
            </a:avLst>
          </a:prstGeom>
          <a:solidFill>
            <a:srgbClr val="ECE6D8"/>
          </a:solidFill>
          <a:ln/>
        </p:spPr>
      </p:sp>
      <p:sp>
        <p:nvSpPr>
          <p:cNvPr id="18" name="Shape 16"/>
          <p:cNvSpPr/>
          <p:nvPr/>
        </p:nvSpPr>
        <p:spPr>
          <a:xfrm>
            <a:off x="812780" y="4295000"/>
            <a:ext cx="2425660" cy="940000"/>
          </a:xfrm>
          <a:custGeom>
            <a:avLst/>
            <a:gdLst/>
            <a:ahLst/>
            <a:cxnLst/>
            <a:rect l="l" t="t" r="r" b="b"/>
            <a:pathLst>
              <a:path w="242566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9" name="Text 17"/>
          <p:cNvSpPr/>
          <p:nvPr/>
        </p:nvSpPr>
        <p:spPr>
          <a:xfrm>
            <a:off x="1065490" y="4335000"/>
            <a:ext cx="2028863"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MAE CV : 49,301 FCFA</a:t>
            </a:r>
            <a:endParaRPr lang="en-US" sz="950" dirty="0"/>
          </a:p>
        </p:txBody>
      </p:sp>
      <p:sp>
        <p:nvSpPr>
          <p:cNvPr id="20" name="Text 18"/>
          <p:cNvSpPr/>
          <p:nvPr/>
        </p:nvSpPr>
        <p:spPr>
          <a:xfrm>
            <a:off x="1065490" y="4505000"/>
            <a:ext cx="2028863"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learning_rate = 0.283</a:t>
            </a:r>
            <a:endParaRPr lang="en-US" sz="950" dirty="0"/>
          </a:p>
        </p:txBody>
      </p:sp>
      <p:sp>
        <p:nvSpPr>
          <p:cNvPr id="21" name="Text 19"/>
          <p:cNvSpPr/>
          <p:nvPr/>
        </p:nvSpPr>
        <p:spPr>
          <a:xfrm>
            <a:off x="1065490" y="4675000"/>
            <a:ext cx="2028863"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max_depth = 2</a:t>
            </a:r>
            <a:endParaRPr lang="en-US" sz="950" dirty="0"/>
          </a:p>
        </p:txBody>
      </p:sp>
      <p:sp>
        <p:nvSpPr>
          <p:cNvPr id="22" name="Text 20"/>
          <p:cNvSpPr/>
          <p:nvPr/>
        </p:nvSpPr>
        <p:spPr>
          <a:xfrm>
            <a:off x="1065490" y="4845000"/>
            <a:ext cx="2028863" cy="145000"/>
          </a:xfrm>
          <a:prstGeom prst="rect">
            <a:avLst/>
          </a:prstGeom>
          <a:noFill/>
          <a:ln/>
        </p:spPr>
        <p:txBody>
          <a:bodyPr wrap="none" lIns="0" tIns="0" rIns="0" bIns="0" rtlCol="0" anchor="t">
            <a:normAutofit/>
          </a:bodyPr>
          <a:lstStyle/>
          <a:p>
            <a:pPr marL="0" indent="0" algn="l">
              <a:lnSpc>
                <a:spcPts val="900"/>
              </a:lnSpc>
              <a:buNone/>
            </a:pPr>
            <a:r>
              <a:rPr lang="en-US" sz="950" dirty="0">
                <a:solidFill>
                  <a:srgbClr val="2B211B"/>
                </a:solidFill>
                <a:latin typeface="JetBrains Mono" pitchFamily="49" charset="0"/>
                <a:ea typeface="JetBrains Mono" pitchFamily="49" charset="-122"/>
                <a:cs typeface="JetBrains Mono" pitchFamily="49" charset="-120"/>
              </a:rPr>
              <a:t>min_samples_leaf = 12</a:t>
            </a:r>
            <a:endParaRPr lang="en-US" sz="950" dirty="0"/>
          </a:p>
        </p:txBody>
      </p:sp>
      <p:sp>
        <p:nvSpPr>
          <p:cNvPr id="23" name="Text 21"/>
          <p:cNvSpPr/>
          <p:nvPr/>
        </p:nvSpPr>
        <p:spPr>
          <a:xfrm>
            <a:off x="3492401" y="5015000"/>
            <a:ext cx="8123424"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De 53 400 à </a:t>
            </a:r>
            <a:r>
              <a:rPr lang="en-US" sz="950" b="1" dirty="0">
                <a:solidFill>
                  <a:srgbClr val="9A5414"/>
                </a:solidFill>
                <a:latin typeface="Space Grotesk" pitchFamily="34" charset="0"/>
                <a:ea typeface="Space Grotesk" pitchFamily="34" charset="-122"/>
                <a:cs typeface="Space Grotesk" pitchFamily="34" charset="-120"/>
              </a:rPr>
              <a:t>49 300 FCFA</a:t>
            </a:r>
            <a:r>
              <a:rPr lang="en-US" sz="950" dirty="0">
                <a:solidFill>
                  <a:srgbClr val="2B211B"/>
                </a:solidFill>
                <a:latin typeface="Space Grotesk" pitchFamily="34" charset="0"/>
                <a:ea typeface="Space Grotesk" pitchFamily="34" charset="-122"/>
                <a:cs typeface="Space Grotesk" pitchFamily="34" charset="-120"/>
              </a:rPr>
              <a:t>, mais toujours derrière Ridge : régler n'est pas changer de famille.</a:t>
            </a:r>
            <a:endParaRPr lang="en-US" sz="950" dirty="0"/>
          </a:p>
        </p:txBody>
      </p:sp>
      <p:pic>
        <p:nvPicPr>
          <p:cNvPr id="24" name="Image 0" descr="Logo ISM"/>
          <p:cNvPicPr>
            <a:picLocks noChangeAspect="1"/>
          </p:cNvPicPr>
          <p:nvPr/>
        </p:nvPicPr>
        <p:blipFill>
          <a:blip r:embed="rId3"/>
          <a:srcRect l="431" r="431"/>
          <a:stretch/>
        </p:blipFill>
        <p:spPr>
          <a:xfrm>
            <a:off x="812780" y="6223037"/>
            <a:ext cx="279380" cy="279380"/>
          </a:xfrm>
          <a:prstGeom prst="roundRect">
            <a:avLst>
              <a:gd name="adj" fmla="val 13637"/>
            </a:avLst>
          </a:prstGeom>
        </p:spPr>
      </p:pic>
      <p:sp>
        <p:nvSpPr>
          <p:cNvPr id="25" name="Text 22"/>
          <p:cNvSpPr/>
          <p:nvPr/>
        </p:nvSpPr>
        <p:spPr>
          <a:xfrm>
            <a:off x="1193721" y="6256027"/>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6" name="Text 23"/>
          <p:cNvSpPr/>
          <p:nvPr/>
        </p:nvSpPr>
        <p:spPr>
          <a:xfrm>
            <a:off x="10846951" y="6256027"/>
            <a:ext cx="53220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31 / 41</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MODÈLES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Faut-il plus de données ?</a:t>
            </a:r>
            <a:endParaRPr lang="en-US" sz="3200" dirty="0"/>
          </a:p>
        </p:txBody>
      </p:sp>
      <p:sp>
        <p:nvSpPr>
          <p:cNvPr id="4" name="Shape 2"/>
          <p:cNvSpPr/>
          <p:nvPr/>
        </p:nvSpPr>
        <p:spPr>
          <a:xfrm>
            <a:off x="812780" y="1803326"/>
            <a:ext cx="6381750" cy="3746480"/>
          </a:xfrm>
          <a:prstGeom prst="roundRect">
            <a:avLst>
              <a:gd name="adj" fmla="val 2034"/>
            </a:avLst>
          </a:prstGeom>
          <a:solidFill>
            <a:srgbClr val="FFFFFF"/>
          </a:solidFill>
          <a:ln/>
        </p:spPr>
      </p:sp>
      <p:pic>
        <p:nvPicPr>
          <p:cNvPr id="5" name="Image 0" descr="Courbe d'apprentissage : l'erreur de validation baisse de 102 k à 50 k FCFA avec plus de données"/>
          <p:cNvPicPr>
            <a:picLocks noChangeAspect="1"/>
          </p:cNvPicPr>
          <p:nvPr/>
        </p:nvPicPr>
        <p:blipFill>
          <a:blip r:embed="rId3"/>
          <a:srcRect l="-29" r="-29"/>
          <a:stretch/>
        </p:blipFill>
        <p:spPr>
          <a:xfrm>
            <a:off x="819130" y="1809676"/>
            <a:ext cx="6369050" cy="3733780"/>
          </a:xfrm>
          <a:prstGeom prst="roundRect">
            <a:avLst>
              <a:gd name="adj" fmla="val 1871"/>
            </a:avLst>
          </a:prstGeom>
        </p:spPr>
      </p:pic>
      <p:sp>
        <p:nvSpPr>
          <p:cNvPr id="6" name="Shape 3"/>
          <p:cNvSpPr/>
          <p:nvPr/>
        </p:nvSpPr>
        <p:spPr>
          <a:xfrm>
            <a:off x="815955" y="1806501"/>
            <a:ext cx="6375400" cy="3740130"/>
          </a:xfrm>
          <a:prstGeom prst="roundRect">
            <a:avLst>
              <a:gd name="adj" fmla="val 1952"/>
            </a:avLst>
          </a:prstGeom>
          <a:noFill/>
          <a:ln w="6350">
            <a:solidFill>
              <a:srgbClr val="DCD7CA"/>
            </a:solidFill>
            <a:prstDash val="solid"/>
          </a:ln>
        </p:spPr>
      </p:sp>
      <p:sp>
        <p:nvSpPr>
          <p:cNvPr id="7" name="Text 4"/>
          <p:cNvSpPr/>
          <p:nvPr/>
        </p:nvSpPr>
        <p:spPr>
          <a:xfrm>
            <a:off x="7400000" y="1850000"/>
            <a:ext cx="4400000" cy="850000"/>
          </a:xfrm>
          <a:prstGeom prst="roundRect">
            <a:avLst>
              <a:gd name="adj" fmla="val 18349"/>
            </a:avLst>
          </a:prstGeom>
          <a:solidFill>
            <a:srgbClr val="FFFFFF"/>
          </a:solidFill>
          <a:ln/>
        </p:spPr>
        <p:txBody>
          <a:bodyPr wrap="square" lIns="222953" tIns="122642" rIns="0"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Avec 10 % des données : MAE de validation 102 k FCFA.</a:t>
            </a:r>
            <a:endParaRPr lang="en-US" sz="1400" dirty="0"/>
          </a:p>
        </p:txBody>
      </p:sp>
      <p:sp>
        <p:nvSpPr>
          <p:cNvPr id="8" name="Shape 5"/>
          <p:cNvSpPr/>
          <p:nvPr/>
        </p:nvSpPr>
        <p:spPr>
          <a:xfrm>
            <a:off x="7400000" y="1850000"/>
            <a:ext cx="4400000" cy="850000"/>
          </a:xfrm>
          <a:custGeom>
            <a:avLst/>
            <a:gdLst/>
            <a:ahLst/>
            <a:cxnLst/>
            <a:rect l="l" t="t" r="r" b="b"/>
            <a:pathLst>
              <a:path w="10312480" h="553700">
                <a:moveTo>
                  <a:pt x="101600" y="553700"/>
                </a:moveTo>
                <a:lnTo>
                  <a:pt x="101600" y="553700"/>
                </a:lnTo>
                <a:arcTo wR="101600" hR="101600" stAng="5400000" swAng="5400000"/>
                <a:lnTo>
                  <a:pt x="0" y="101600"/>
                </a:lnTo>
                <a:arcTo wR="101600" hR="101600" stAng="10800000" swAng="5400000"/>
                <a:lnTo>
                  <a:pt x="101600" y="0"/>
                </a:lnTo>
                <a:arcTo wR="50800" hR="101600" stAng="16200000" swAng="-5400000"/>
                <a:lnTo>
                  <a:pt x="50800" y="452100"/>
                </a:lnTo>
                <a:arcTo wR="50800" hR="101600" stAng="10800000" swAng="-5400000"/>
                <a:close/>
              </a:path>
            </a:pathLst>
          </a:custGeom>
          <a:solidFill>
            <a:srgbClr val="9A5414"/>
          </a:solidFill>
          <a:ln/>
        </p:spPr>
      </p:sp>
      <p:sp>
        <p:nvSpPr>
          <p:cNvPr id="9" name="Text 6"/>
          <p:cNvSpPr/>
          <p:nvPr/>
        </p:nvSpPr>
        <p:spPr>
          <a:xfrm>
            <a:off x="7400000" y="2950000"/>
            <a:ext cx="4400000" cy="850000"/>
          </a:xfrm>
          <a:prstGeom prst="roundRect">
            <a:avLst>
              <a:gd name="adj" fmla="val 18349"/>
            </a:avLst>
          </a:prstGeom>
          <a:solidFill>
            <a:srgbClr val="FFFFFF"/>
          </a:solidFill>
          <a:ln/>
        </p:spPr>
        <p:txBody>
          <a:bodyPr wrap="square" lIns="222953" tIns="122642" rIns="0"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Avec 100 % : 50 k FCFA, et la courbe descend encore.</a:t>
            </a:r>
            <a:endParaRPr lang="en-US" sz="1400" dirty="0"/>
          </a:p>
        </p:txBody>
      </p:sp>
      <p:sp>
        <p:nvSpPr>
          <p:cNvPr id="10" name="Shape 7"/>
          <p:cNvSpPr/>
          <p:nvPr/>
        </p:nvSpPr>
        <p:spPr>
          <a:xfrm>
            <a:off x="7400000" y="2950000"/>
            <a:ext cx="4400000" cy="850000"/>
          </a:xfrm>
          <a:custGeom>
            <a:avLst/>
            <a:gdLst/>
            <a:ahLst/>
            <a:cxnLst/>
            <a:rect l="l" t="t" r="r" b="b"/>
            <a:pathLst>
              <a:path w="10312480" h="553700">
                <a:moveTo>
                  <a:pt x="101600" y="553700"/>
                </a:moveTo>
                <a:lnTo>
                  <a:pt x="101600" y="553700"/>
                </a:lnTo>
                <a:arcTo wR="101600" hR="101600" stAng="5400000" swAng="5400000"/>
                <a:lnTo>
                  <a:pt x="0" y="101600"/>
                </a:lnTo>
                <a:arcTo wR="101600" hR="101600" stAng="10800000" swAng="5400000"/>
                <a:lnTo>
                  <a:pt x="101600" y="0"/>
                </a:lnTo>
                <a:arcTo wR="50800" hR="101600" stAng="16200000" swAng="-5400000"/>
                <a:lnTo>
                  <a:pt x="50800" y="452100"/>
                </a:lnTo>
                <a:arcTo wR="50800" hR="101600" stAng="10800000" swAng="-5400000"/>
                <a:close/>
              </a:path>
            </a:pathLst>
          </a:custGeom>
          <a:solidFill>
            <a:srgbClr val="E3A23B"/>
          </a:solidFill>
          <a:ln/>
        </p:spPr>
      </p:sp>
      <p:sp>
        <p:nvSpPr>
          <p:cNvPr id="11" name="Text 8"/>
          <p:cNvSpPr/>
          <p:nvPr/>
        </p:nvSpPr>
        <p:spPr>
          <a:xfrm>
            <a:off x="7400000" y="4050000"/>
            <a:ext cx="4400000" cy="75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Diagnostic : collecter plus de saisons améliorerait encore le modèle.</a:t>
            </a:r>
            <a:endParaRPr lang="en-US" sz="1400" dirty="0"/>
          </a:p>
        </p:txBody>
      </p:sp>
      <p:pic>
        <p:nvPicPr>
          <p:cNvPr id="12" name="Image 1" descr="Logo ISM"/>
          <p:cNvPicPr>
            <a:picLocks noChangeAspect="1"/>
          </p:cNvPicPr>
          <p:nvPr/>
        </p:nvPicPr>
        <p:blipFill>
          <a:blip r:embed="rId4"/>
          <a:srcRect l="431" r="431"/>
          <a:stretch/>
        </p:blipFill>
        <p:spPr>
          <a:xfrm>
            <a:off x="812780" y="6223050"/>
            <a:ext cx="279380" cy="279380"/>
          </a:xfrm>
          <a:prstGeom prst="roundRect">
            <a:avLst>
              <a:gd name="adj" fmla="val 13637"/>
            </a:avLst>
          </a:prstGeom>
        </p:spPr>
      </p:pic>
      <p:sp>
        <p:nvSpPr>
          <p:cNvPr id="13" name="Text 9"/>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4" name="Text 10"/>
          <p:cNvSpPr/>
          <p:nvPr/>
        </p:nvSpPr>
        <p:spPr>
          <a:xfrm>
            <a:off x="10810518" y="6256040"/>
            <a:ext cx="56864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32 / 41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MODÈLES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Qu'a appris le modèle ?</a:t>
            </a:r>
            <a:endParaRPr lang="en-US" sz="3200" dirty="0"/>
          </a:p>
        </p:txBody>
      </p:sp>
      <p:sp>
        <p:nvSpPr>
          <p:cNvPr id="4" name="Shape 2"/>
          <p:cNvSpPr/>
          <p:nvPr/>
        </p:nvSpPr>
        <p:spPr>
          <a:xfrm>
            <a:off x="819130" y="1809676"/>
            <a:ext cx="10553740" cy="101000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00000"/>
            <a:ext cx="10441337" cy="150000"/>
          </a:xfrm>
          <a:prstGeom prst="rect">
            <a:avLst/>
          </a:prstGeom>
          <a:noFill/>
          <a:ln/>
        </p:spPr>
        <p:txBody>
          <a:bodyPr wrap="none" lIns="0" tIns="0" rIns="0" bIns="0" rtlCol="0" anchor="t">
            <a:normAutofit/>
          </a:bodyPr>
          <a:lstStyle/>
          <a:p>
            <a:pPr marL="0" indent="0" algn="l">
              <a:lnSpc>
                <a:spcPts val="936"/>
              </a:lnSpc>
              <a:buNone/>
            </a:pPr>
            <a:r>
              <a:rPr lang="en-US" sz="850" b="1" dirty="0">
                <a:solidFill>
                  <a:srgbClr val="9A3D0A"/>
                </a:solidFill>
                <a:latin typeface="JetBrains Mono" pitchFamily="49" charset="0"/>
                <a:ea typeface="JetBrains Mono" pitchFamily="49" charset="-122"/>
                <a:cs typeface="JetBrains Mono" pitchFamily="49" charset="-120"/>
              </a:rPr>
              <a:t>from</a:t>
            </a:r>
            <a:r>
              <a:rPr lang="en-US" sz="850" dirty="0">
                <a:solidFill>
                  <a:srgbClr val="2B211B"/>
                </a:solidFill>
                <a:latin typeface="JetBrains Mono" pitchFamily="49" charset="0"/>
                <a:ea typeface="JetBrains Mono" pitchFamily="49" charset="-122"/>
                <a:cs typeface="JetBrains Mono" pitchFamily="49" charset="-120"/>
              </a:rPr>
              <a:t> sklearn.inspection </a:t>
            </a:r>
            <a:r>
              <a:rPr lang="en-US" sz="850" b="1" dirty="0">
                <a:solidFill>
                  <a:srgbClr val="9A3D0A"/>
                </a:solidFill>
                <a:latin typeface="JetBrains Mono" pitchFamily="49" charset="0"/>
                <a:ea typeface="JetBrains Mono" pitchFamily="49" charset="-122"/>
                <a:cs typeface="JetBrains Mono" pitchFamily="49" charset="-120"/>
              </a:rPr>
              <a:t>import</a:t>
            </a:r>
            <a:r>
              <a:rPr lang="en-US" sz="850" dirty="0">
                <a:solidFill>
                  <a:srgbClr val="2B211B"/>
                </a:solidFill>
                <a:latin typeface="JetBrains Mono" pitchFamily="49" charset="0"/>
                <a:ea typeface="JetBrains Mono" pitchFamily="49" charset="-122"/>
                <a:cs typeface="JetBrains Mono" pitchFamily="49" charset="-120"/>
              </a:rPr>
              <a:t> permutation_importance</a:t>
            </a:r>
            <a:endParaRPr lang="en-US" sz="850" dirty="0"/>
          </a:p>
        </p:txBody>
      </p:sp>
      <p:sp>
        <p:nvSpPr>
          <p:cNvPr id="6" name="Text 4"/>
          <p:cNvSpPr/>
          <p:nvPr/>
        </p:nvSpPr>
        <p:spPr>
          <a:xfrm>
            <a:off x="1027390" y="2080000"/>
            <a:ext cx="10441337" cy="150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imp = permutation_importance(rech.best_estimator_, X_val, y_val, n_repeats=20,</a:t>
            </a:r>
            <a:endParaRPr lang="en-US" sz="850" dirty="0"/>
          </a:p>
        </p:txBody>
      </p:sp>
      <p:sp>
        <p:nvSpPr>
          <p:cNvPr id="7" name="Text 5"/>
          <p:cNvSpPr/>
          <p:nvPr/>
        </p:nvSpPr>
        <p:spPr>
          <a:xfrm>
            <a:off x="1027390" y="2260000"/>
            <a:ext cx="10441337" cy="150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                             random_state=42, scoring=</a:t>
            </a:r>
            <a:r>
              <a:rPr lang="en-US" sz="850" dirty="0">
                <a:solidFill>
                  <a:srgbClr val="2C6E3F"/>
                </a:solidFill>
                <a:latin typeface="JetBrains Mono" pitchFamily="49" charset="0"/>
                <a:ea typeface="JetBrains Mono" pitchFamily="49" charset="-122"/>
                <a:cs typeface="JetBrains Mono" pitchFamily="49" charset="-120"/>
              </a:rPr>
              <a:t>"neg_mean_absolute_error"</a:t>
            </a:r>
            <a:r>
              <a:rPr lang="en-US" sz="850" dirty="0">
                <a:solidFill>
                  <a:srgbClr val="2B211B"/>
                </a:solidFill>
                <a:latin typeface="JetBrains Mono" pitchFamily="49" charset="0"/>
                <a:ea typeface="JetBrains Mono" pitchFamily="49" charset="-122"/>
                <a:cs typeface="JetBrains Mono" pitchFamily="49" charset="-120"/>
              </a:rPr>
              <a:t>)</a:t>
            </a:r>
            <a:endParaRPr lang="en-US" sz="850" dirty="0"/>
          </a:p>
        </p:txBody>
      </p:sp>
      <p:sp>
        <p:nvSpPr>
          <p:cNvPr id="8" name="Text 6"/>
          <p:cNvSpPr/>
          <p:nvPr/>
        </p:nvSpPr>
        <p:spPr>
          <a:xfrm>
            <a:off x="1027390" y="2440000"/>
            <a:ext cx="10441337" cy="150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res = pd.Series(imp.importances_mean, index=X_val.columns)</a:t>
            </a:r>
            <a:endParaRPr lang="en-US" sz="850" dirty="0"/>
          </a:p>
        </p:txBody>
      </p:sp>
      <p:sp>
        <p:nvSpPr>
          <p:cNvPr id="9" name="Text 7"/>
          <p:cNvSpPr/>
          <p:nvPr/>
        </p:nvSpPr>
        <p:spPr>
          <a:xfrm>
            <a:off x="1027390" y="2620000"/>
            <a:ext cx="10441337" cy="150000"/>
          </a:xfrm>
          <a:prstGeom prst="rect">
            <a:avLst/>
          </a:prstGeom>
          <a:noFill/>
          <a:ln/>
        </p:spPr>
        <p:txBody>
          <a:bodyPr wrap="none" lIns="0" tIns="0" rIns="0" bIns="0" rtlCol="0" anchor="t">
            <a:normAutofit/>
          </a:bodyPr>
          <a:lstStyle/>
          <a:p>
            <a:pPr marL="0" indent="0" algn="l">
              <a:lnSpc>
                <a:spcPts val="936"/>
              </a:lnSpc>
              <a:buNone/>
            </a:pPr>
            <a:r>
              <a:rPr lang="en-US" sz="850" dirty="0">
                <a:solidFill>
                  <a:srgbClr val="2B211B"/>
                </a:solidFill>
                <a:latin typeface="JetBrains Mono" pitchFamily="49" charset="0"/>
                <a:ea typeface="JetBrains Mono" pitchFamily="49" charset="-122"/>
                <a:cs typeface="JetBrains Mono" pitchFamily="49" charset="-120"/>
              </a:rPr>
              <a:t>print((res / 1000).round(1).sort_values(ascending=</a:t>
            </a:r>
            <a:r>
              <a:rPr lang="en-US" sz="850" b="1" dirty="0">
                <a:solidFill>
                  <a:srgbClr val="9A3D0A"/>
                </a:solidFill>
                <a:latin typeface="JetBrains Mono" pitchFamily="49" charset="0"/>
                <a:ea typeface="JetBrains Mono" pitchFamily="49" charset="-122"/>
                <a:cs typeface="JetBrains Mono" pitchFamily="49" charset="-120"/>
              </a:rPr>
              <a:t>False</a:t>
            </a:r>
            <a:r>
              <a:rPr lang="en-US" sz="850" dirty="0">
                <a:solidFill>
                  <a:srgbClr val="2B211B"/>
                </a:solidFill>
                <a:latin typeface="JetBrains Mono" pitchFamily="49" charset="0"/>
                <a:ea typeface="JetBrains Mono" pitchFamily="49" charset="-122"/>
                <a:cs typeface="JetBrains Mono" pitchFamily="49" charset="-120"/>
              </a:rPr>
              <a:t>).head(4))</a:t>
            </a:r>
            <a:endParaRPr lang="en-US" sz="850" dirty="0"/>
          </a:p>
        </p:txBody>
      </p:sp>
      <p:sp>
        <p:nvSpPr>
          <p:cNvPr id="10" name="Shape 8"/>
          <p:cNvSpPr/>
          <p:nvPr/>
        </p:nvSpPr>
        <p:spPr>
          <a:xfrm>
            <a:off x="812780" y="3200000"/>
            <a:ext cx="2336780" cy="1000000"/>
          </a:xfrm>
          <a:prstGeom prst="roundRect">
            <a:avLst>
              <a:gd name="adj" fmla="val 6863"/>
            </a:avLst>
          </a:prstGeom>
          <a:solidFill>
            <a:srgbClr val="ECE6D8"/>
          </a:solidFill>
          <a:ln/>
        </p:spPr>
      </p:sp>
      <p:sp>
        <p:nvSpPr>
          <p:cNvPr id="11" name="Shape 9"/>
          <p:cNvSpPr/>
          <p:nvPr/>
        </p:nvSpPr>
        <p:spPr>
          <a:xfrm>
            <a:off x="812780" y="3200000"/>
            <a:ext cx="2336780" cy="1000000"/>
          </a:xfrm>
          <a:custGeom>
            <a:avLst/>
            <a:gdLst/>
            <a:ahLst/>
            <a:cxnLst/>
            <a:rect l="l" t="t" r="r" b="b"/>
            <a:pathLst>
              <a:path w="2336780" h="1295400">
                <a:moveTo>
                  <a:pt x="88900" y="1295400"/>
                </a:moveTo>
                <a:lnTo>
                  <a:pt x="88900" y="1295400"/>
                </a:lnTo>
                <a:arcTo wR="88900" hR="88900" stAng="5400000" swAng="5400000"/>
                <a:lnTo>
                  <a:pt x="0" y="88900"/>
                </a:lnTo>
                <a:arcTo wR="88900" hR="88900" stAng="10800000" swAng="5400000"/>
                <a:lnTo>
                  <a:pt x="88900" y="0"/>
                </a:lnTo>
                <a:arcTo wR="38100" hR="88900" stAng="16200000" swAng="-5400000"/>
                <a:lnTo>
                  <a:pt x="50800" y="1206500"/>
                </a:lnTo>
                <a:arcTo wR="38100" hR="88900" stAng="10800000" swAng="-5400000"/>
                <a:close/>
              </a:path>
            </a:pathLst>
          </a:custGeom>
          <a:solidFill>
            <a:srgbClr val="B3A892"/>
          </a:solidFill>
          <a:ln/>
        </p:spPr>
      </p:sp>
      <p:sp>
        <p:nvSpPr>
          <p:cNvPr id="12" name="Text 10"/>
          <p:cNvSpPr/>
          <p:nvPr/>
        </p:nvSpPr>
        <p:spPr>
          <a:xfrm>
            <a:off x="1065490" y="3760000"/>
            <a:ext cx="1937317" cy="185000"/>
          </a:xfrm>
          <a:prstGeom prst="rect">
            <a:avLst/>
          </a:prstGeom>
          <a:noFill/>
          <a:ln/>
        </p:spPr>
        <p:txBody>
          <a:bodyPr wrap="none" lIns="0" tIns="0" rIns="0" bIns="0" rtlCol="0" anchor="t">
            <a:normAutofit/>
          </a:bodyPr>
          <a:lstStyle/>
          <a:p>
            <a:pPr marL="0" indent="0" algn="l">
              <a:lnSpc>
                <a:spcPts val="1560"/>
              </a:lnSpc>
              <a:buNone/>
            </a:pPr>
            <a:r>
              <a:rPr lang="en-US" sz="900" dirty="0">
                <a:solidFill>
                  <a:srgbClr val="2B211B"/>
                </a:solidFill>
                <a:latin typeface="JetBrains Mono" pitchFamily="49" charset="0"/>
                <a:ea typeface="JetBrains Mono" pitchFamily="49" charset="-122"/>
                <a:cs typeface="JetBrains Mono" pitchFamily="49" charset="-120"/>
              </a:rPr>
              <a:t>equipe_id       65.3</a:t>
            </a:r>
            <a:endParaRPr lang="en-US" sz="900" dirty="0"/>
          </a:p>
        </p:txBody>
      </p:sp>
      <p:sp>
        <p:nvSpPr>
          <p:cNvPr id="13" name="Text 11"/>
          <p:cNvSpPr/>
          <p:nvPr/>
        </p:nvSpPr>
        <p:spPr>
          <a:xfrm>
            <a:off x="1065490" y="3910000"/>
            <a:ext cx="1937317" cy="185000"/>
          </a:xfrm>
          <a:prstGeom prst="rect">
            <a:avLst/>
          </a:prstGeom>
          <a:noFill/>
          <a:ln/>
        </p:spPr>
        <p:txBody>
          <a:bodyPr wrap="none" lIns="0" tIns="0" rIns="0" bIns="0" rtlCol="0" anchor="t">
            <a:normAutofit/>
          </a:bodyPr>
          <a:lstStyle/>
          <a:p>
            <a:pPr marL="0" indent="0" algn="l">
              <a:lnSpc>
                <a:spcPts val="1560"/>
              </a:lnSpc>
              <a:buNone/>
            </a:pPr>
            <a:r>
              <a:rPr lang="en-US" sz="900" dirty="0">
                <a:solidFill>
                  <a:srgbClr val="2B211B"/>
                </a:solidFill>
                <a:latin typeface="JetBrains Mono" pitchFamily="49" charset="0"/>
                <a:ea typeface="JetBrains Mono" pitchFamily="49" charset="-122"/>
                <a:cs typeface="JetBrains Mono" pitchFamily="49" charset="-120"/>
              </a:rPr>
              <a:t>poste           17.9</a:t>
            </a:r>
            <a:endParaRPr lang="en-US" sz="900" dirty="0"/>
          </a:p>
        </p:txBody>
      </p:sp>
      <p:sp>
        <p:nvSpPr>
          <p:cNvPr id="14" name="Text 12"/>
          <p:cNvSpPr/>
          <p:nvPr/>
        </p:nvSpPr>
        <p:spPr>
          <a:xfrm>
            <a:off x="1065490" y="4060000"/>
            <a:ext cx="1937317" cy="185000"/>
          </a:xfrm>
          <a:prstGeom prst="rect">
            <a:avLst/>
          </a:prstGeom>
          <a:noFill/>
          <a:ln/>
        </p:spPr>
        <p:txBody>
          <a:bodyPr wrap="none" lIns="0" tIns="0" rIns="0" bIns="0" rtlCol="0" anchor="t">
            <a:normAutofit/>
          </a:bodyPr>
          <a:lstStyle/>
          <a:p>
            <a:pPr marL="0" indent="0" algn="l">
              <a:lnSpc>
                <a:spcPts val="1560"/>
              </a:lnSpc>
              <a:buNone/>
            </a:pPr>
            <a:r>
              <a:rPr lang="en-US" sz="900" dirty="0">
                <a:solidFill>
                  <a:srgbClr val="2B211B"/>
                </a:solidFill>
                <a:latin typeface="JetBrains Mono" pitchFamily="49" charset="0"/>
                <a:ea typeface="JetBrains Mono" pitchFamily="49" charset="-122"/>
                <a:cs typeface="JetBrains Mono" pitchFamily="49" charset="-120"/>
              </a:rPr>
              <a:t>matchs_joues     7.2</a:t>
            </a:r>
            <a:endParaRPr lang="en-US" sz="900" dirty="0"/>
          </a:p>
        </p:txBody>
      </p:sp>
      <p:sp>
        <p:nvSpPr>
          <p:cNvPr id="15" name="Text 13"/>
          <p:cNvSpPr/>
          <p:nvPr/>
        </p:nvSpPr>
        <p:spPr>
          <a:xfrm>
            <a:off x="1065490" y="4210000"/>
            <a:ext cx="1937317" cy="185000"/>
          </a:xfrm>
          <a:prstGeom prst="rect">
            <a:avLst/>
          </a:prstGeom>
          <a:noFill/>
          <a:ln/>
        </p:spPr>
        <p:txBody>
          <a:bodyPr wrap="none" lIns="0" tIns="0" rIns="0" bIns="0" rtlCol="0" anchor="t">
            <a:normAutofit/>
          </a:bodyPr>
          <a:lstStyle/>
          <a:p>
            <a:pPr marL="0" indent="0" algn="l">
              <a:lnSpc>
                <a:spcPts val="1560"/>
              </a:lnSpc>
              <a:buNone/>
            </a:pPr>
            <a:r>
              <a:rPr lang="en-US" sz="900" dirty="0">
                <a:solidFill>
                  <a:srgbClr val="2B211B"/>
                </a:solidFill>
                <a:latin typeface="JetBrains Mono" pitchFamily="49" charset="0"/>
                <a:ea typeface="JetBrains Mono" pitchFamily="49" charset="-122"/>
                <a:cs typeface="JetBrains Mono" pitchFamily="49" charset="-120"/>
              </a:rPr>
              <a:t>buts             5.5</a:t>
            </a:r>
            <a:endParaRPr lang="en-US" sz="900" dirty="0"/>
          </a:p>
        </p:txBody>
      </p:sp>
      <p:sp>
        <p:nvSpPr>
          <p:cNvPr id="16" name="Text 14"/>
          <p:cNvSpPr/>
          <p:nvPr/>
        </p:nvSpPr>
        <p:spPr>
          <a:xfrm>
            <a:off x="1065490" y="4360000"/>
            <a:ext cx="1937317" cy="185000"/>
          </a:xfrm>
          <a:prstGeom prst="rect">
            <a:avLst/>
          </a:prstGeom>
          <a:noFill/>
          <a:ln/>
        </p:spPr>
        <p:txBody>
          <a:bodyPr wrap="none" lIns="0" tIns="0" rIns="0" bIns="0" rtlCol="0" anchor="t">
            <a:normAutofit/>
          </a:bodyPr>
          <a:lstStyle/>
          <a:p>
            <a:pPr marL="0" indent="0" algn="l">
              <a:lnSpc>
                <a:spcPts val="1560"/>
              </a:lnSpc>
              <a:buNone/>
            </a:pPr>
            <a:r>
              <a:rPr lang="en-US" sz="900" dirty="0">
                <a:solidFill>
                  <a:srgbClr val="2B211B"/>
                </a:solidFill>
                <a:latin typeface="JetBrains Mono" pitchFamily="49" charset="0"/>
                <a:ea typeface="JetBrains Mono" pitchFamily="49" charset="-122"/>
                <a:cs typeface="JetBrains Mono" pitchFamily="49" charset="-120"/>
              </a:rPr>
              <a:t>dtype: float64</a:t>
            </a:r>
            <a:endParaRPr lang="en-US" sz="900" dirty="0"/>
          </a:p>
        </p:txBody>
      </p:sp>
      <p:sp>
        <p:nvSpPr>
          <p:cNvPr id="17" name="Shape 15"/>
          <p:cNvSpPr/>
          <p:nvPr/>
        </p:nvSpPr>
        <p:spPr>
          <a:xfrm>
            <a:off x="3352741" y="3760000"/>
            <a:ext cx="3555980" cy="1866900"/>
          </a:xfrm>
          <a:prstGeom prst="roundRect">
            <a:avLst>
              <a:gd name="adj" fmla="val 4082"/>
            </a:avLst>
          </a:prstGeom>
          <a:solidFill>
            <a:srgbClr val="FFFFFF"/>
          </a:solidFill>
          <a:ln/>
        </p:spPr>
      </p:sp>
      <p:pic>
        <p:nvPicPr>
          <p:cNvPr id="18" name="Image 0" descr="Importance par permutation : equipe_id domine, puis poste et matchs joués"/>
          <p:cNvPicPr>
            <a:picLocks noChangeAspect="1"/>
          </p:cNvPicPr>
          <p:nvPr/>
        </p:nvPicPr>
        <p:blipFill>
          <a:blip r:embed="rId3"/>
          <a:srcRect l="-250" r="-250"/>
          <a:stretch/>
        </p:blipFill>
        <p:spPr>
          <a:xfrm>
            <a:off x="3359091" y="3760000"/>
            <a:ext cx="3543280" cy="1854200"/>
          </a:xfrm>
          <a:prstGeom prst="roundRect">
            <a:avLst>
              <a:gd name="adj" fmla="val 3767"/>
            </a:avLst>
          </a:prstGeom>
        </p:spPr>
      </p:pic>
      <p:sp>
        <p:nvSpPr>
          <p:cNvPr id="19" name="Shape 16"/>
          <p:cNvSpPr/>
          <p:nvPr/>
        </p:nvSpPr>
        <p:spPr>
          <a:xfrm>
            <a:off x="3355916" y="3760000"/>
            <a:ext cx="3549630" cy="1860550"/>
          </a:xfrm>
          <a:prstGeom prst="roundRect">
            <a:avLst>
              <a:gd name="adj" fmla="val 3925"/>
            </a:avLst>
          </a:prstGeom>
          <a:noFill/>
          <a:ln w="6350">
            <a:solidFill>
              <a:srgbClr val="DCD7CA"/>
            </a:solidFill>
            <a:prstDash val="solid"/>
          </a:ln>
        </p:spPr>
      </p:sp>
      <p:sp>
        <p:nvSpPr>
          <p:cNvPr id="20" name="Text 17"/>
          <p:cNvSpPr/>
          <p:nvPr/>
        </p:nvSpPr>
        <p:spPr>
          <a:xfrm>
            <a:off x="7111901" y="3760000"/>
            <a:ext cx="4395339" cy="50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Hausse de l'erreur en milliers de FCFA quand une colonne est mélangée.</a:t>
            </a:r>
            <a:endParaRPr lang="en-US" sz="1400" dirty="0"/>
          </a:p>
        </p:txBody>
      </p:sp>
      <p:sp>
        <p:nvSpPr>
          <p:cNvPr id="21" name="Text 18"/>
          <p:cNvSpPr/>
          <p:nvPr/>
        </p:nvSpPr>
        <p:spPr>
          <a:xfrm>
            <a:off x="7111901" y="4280000"/>
            <a:ext cx="4395339" cy="35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Le </a:t>
            </a:r>
            <a:r>
              <a:rPr lang="en-US" sz="1400" b="1" dirty="0">
                <a:solidFill>
                  <a:srgbClr val="9A5414"/>
                </a:solidFill>
                <a:latin typeface="Space Grotesk" pitchFamily="34" charset="0"/>
                <a:ea typeface="Space Grotesk" pitchFamily="34" charset="-122"/>
                <a:cs typeface="Space Grotesk" pitchFamily="34" charset="-120"/>
              </a:rPr>
              <a:t>club</a:t>
            </a:r>
            <a:r>
              <a:rPr lang="en-US" sz="1400" dirty="0">
                <a:solidFill>
                  <a:srgbClr val="2B211B"/>
                </a:solidFill>
                <a:latin typeface="Space Grotesk" pitchFamily="34" charset="0"/>
                <a:ea typeface="Space Grotesk" pitchFamily="34" charset="-122"/>
                <a:cs typeface="Space Grotesk" pitchFamily="34" charset="-120"/>
              </a:rPr>
              <a:t> domine ici. Cette importance ne prouve pas un effet causal.</a:t>
            </a:r>
            <a:endParaRPr lang="en-US" sz="1400" dirty="0"/>
          </a:p>
        </p:txBody>
      </p:sp>
      <p:pic>
        <p:nvPicPr>
          <p:cNvPr id="22" name="Image 1" descr="Logo ISM"/>
          <p:cNvPicPr>
            <a:picLocks noChangeAspect="1"/>
          </p:cNvPicPr>
          <p:nvPr/>
        </p:nvPicPr>
        <p:blipFill>
          <a:blip r:embed="rId4"/>
          <a:srcRect l="431" r="431"/>
          <a:stretch/>
        </p:blipFill>
        <p:spPr>
          <a:xfrm>
            <a:off x="812780" y="6223050"/>
            <a:ext cx="279380" cy="279380"/>
          </a:xfrm>
          <a:prstGeom prst="roundRect">
            <a:avLst>
              <a:gd name="adj" fmla="val 13637"/>
            </a:avLst>
          </a:prstGeom>
        </p:spPr>
      </p:pic>
      <p:sp>
        <p:nvSpPr>
          <p:cNvPr id="23" name="Text 19"/>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4" name="Text 20"/>
          <p:cNvSpPr/>
          <p:nvPr/>
        </p:nvSpPr>
        <p:spPr>
          <a:xfrm>
            <a:off x="10810376" y="6256040"/>
            <a:ext cx="56878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33 / 41</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MODÈLES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Classes déséquilibrées</a:t>
            </a:r>
            <a:endParaRPr lang="en-US" sz="3200" dirty="0"/>
          </a:p>
        </p:txBody>
      </p:sp>
      <p:sp>
        <p:nvSpPr>
          <p:cNvPr id="4" name="Shape 2"/>
          <p:cNvSpPr/>
          <p:nvPr/>
        </p:nvSpPr>
        <p:spPr>
          <a:xfrm>
            <a:off x="819130" y="1809676"/>
            <a:ext cx="10553740" cy="205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sklearn.datasets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make_classification</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from</a:t>
            </a:r>
            <a:r>
              <a:rPr lang="en-US" sz="900" dirty="0">
                <a:solidFill>
                  <a:srgbClr val="2B211B"/>
                </a:solidFill>
                <a:latin typeface="JetBrains Mono" pitchFamily="49" charset="0"/>
                <a:ea typeface="JetBrains Mono" pitchFamily="49" charset="-122"/>
                <a:cs typeface="JetBrains Mono" pitchFamily="49" charset="-120"/>
              </a:rPr>
              <a:t> sklearn.metrics </a:t>
            </a: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accuracy_score, balanced_accuracy_score, recall_score</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Xd, yd = make_classification(n_samples=4000, weights=[0.95], flip_y=0.01,</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n_informative=4, random_state=0)</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Xd_tr, Xd_te, yd_tr, yd_te = train_test_split(Xd, yd, stratify=yd, random_state=0)</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for</a:t>
            </a:r>
            <a:r>
              <a:rPr lang="en-US" sz="900" dirty="0">
                <a:solidFill>
                  <a:srgbClr val="2B211B"/>
                </a:solidFill>
                <a:latin typeface="JetBrains Mono" pitchFamily="49" charset="0"/>
                <a:ea typeface="JetBrains Mono" pitchFamily="49" charset="-122"/>
                <a:cs typeface="JetBrains Mono" pitchFamily="49" charset="-120"/>
              </a:rPr>
              <a:t> cw </a:t>
            </a:r>
            <a:r>
              <a:rPr lang="en-US" sz="900" b="1" dirty="0">
                <a:solidFill>
                  <a:srgbClr val="9A3D0A"/>
                </a:solidFill>
                <a:latin typeface="JetBrains Mono" pitchFamily="49" charset="0"/>
                <a:ea typeface="JetBrains Mono" pitchFamily="49" charset="-122"/>
                <a:cs typeface="JetBrains Mono" pitchFamily="49" charset="-120"/>
              </a:rPr>
              <a:t>in</a:t>
            </a:r>
            <a:r>
              <a:rPr lang="en-US" sz="900" dirty="0">
                <a:solidFill>
                  <a:srgbClr val="2B211B"/>
                </a:solidFill>
                <a:latin typeface="JetBrains Mono" pitchFamily="49" charset="0"/>
                <a:ea typeface="JetBrains Mono" pitchFamily="49" charset="-122"/>
                <a:cs typeface="JetBrains Mono" pitchFamily="49" charset="-120"/>
              </a:rPr>
              <a:t> [</a:t>
            </a:r>
            <a:r>
              <a:rPr lang="en-US" sz="900" b="1" dirty="0">
                <a:solidFill>
                  <a:srgbClr val="9A3D0A"/>
                </a:solidFill>
                <a:latin typeface="JetBrains Mono" pitchFamily="49" charset="0"/>
                <a:ea typeface="JetBrains Mono" pitchFamily="49" charset="-122"/>
                <a:cs typeface="JetBrains Mono" pitchFamily="49" charset="-120"/>
              </a:rPr>
              <a:t>None</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"balanced"</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p = LogisticRegression(class_weight=cw).fit(Xd_tr, yd_tr).predict(Xd_te)</a:t>
            </a:r>
            <a:endParaRPr lang="en-US" sz="900" dirty="0"/>
          </a:p>
        </p:txBody>
      </p:sp>
      <p:sp>
        <p:nvSpPr>
          <p:cNvPr id="12" name="Text 10"/>
          <p:cNvSpPr/>
          <p:nvPr/>
        </p:nvSpPr>
        <p:spPr>
          <a:xfrm>
            <a:off x="1027390" y="324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print(</a:t>
            </a:r>
            <a:r>
              <a:rPr lang="en-US" sz="900" dirty="0">
                <a:solidFill>
                  <a:srgbClr val="2C6E3F"/>
                </a:solidFill>
                <a:latin typeface="JetBrains Mono" pitchFamily="49" charset="0"/>
                <a:ea typeface="JetBrains Mono" pitchFamily="49" charset="-122"/>
                <a:cs typeface="JetBrains Mono" pitchFamily="49" charset="-120"/>
              </a:rPr>
              <a:t>f"class_weight={str(cw):9} exactitude={accuracy_score(yd_te, p):.3f} "</a:t>
            </a:r>
            <a:endParaRPr lang="en-US" sz="900" dirty="0"/>
          </a:p>
        </p:txBody>
      </p:sp>
      <p:sp>
        <p:nvSpPr>
          <p:cNvPr id="13" name="Text 11"/>
          <p:cNvSpPr/>
          <p:nvPr/>
        </p:nvSpPr>
        <p:spPr>
          <a:xfrm>
            <a:off x="1027390" y="343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f"équilibrée={balanced_accuracy_score(yd_te, p):.3f} "</a:t>
            </a:r>
            <a:endParaRPr lang="en-US" sz="900" dirty="0"/>
          </a:p>
        </p:txBody>
      </p:sp>
      <p:sp>
        <p:nvSpPr>
          <p:cNvPr id="14" name="Text 12"/>
          <p:cNvSpPr/>
          <p:nvPr/>
        </p:nvSpPr>
        <p:spPr>
          <a:xfrm>
            <a:off x="1027390" y="362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f"rappel minorité={recall_score(yd_te, p):.3f}"</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5" name="Shape 13"/>
          <p:cNvSpPr/>
          <p:nvPr/>
        </p:nvSpPr>
        <p:spPr>
          <a:xfrm>
            <a:off x="812780" y="3915000"/>
            <a:ext cx="7639050" cy="600000"/>
          </a:xfrm>
          <a:prstGeom prst="roundRect">
            <a:avLst>
              <a:gd name="adj" fmla="val 29167"/>
            </a:avLst>
          </a:prstGeom>
          <a:solidFill>
            <a:srgbClr val="ECE6D8"/>
          </a:solidFill>
          <a:ln/>
        </p:spPr>
      </p:sp>
      <p:sp>
        <p:nvSpPr>
          <p:cNvPr id="16" name="Shape 14"/>
          <p:cNvSpPr/>
          <p:nvPr/>
        </p:nvSpPr>
        <p:spPr>
          <a:xfrm>
            <a:off x="812780" y="3915000"/>
            <a:ext cx="7639050" cy="600000"/>
          </a:xfrm>
          <a:custGeom>
            <a:avLst/>
            <a:gdLst/>
            <a:ahLst/>
            <a:cxnLst/>
            <a:rect l="l" t="t" r="r" b="b"/>
            <a:pathLst>
              <a:path w="763905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7" name="Text 15"/>
          <p:cNvSpPr/>
          <p:nvPr/>
        </p:nvSpPr>
        <p:spPr>
          <a:xfrm>
            <a:off x="1065490" y="3955000"/>
            <a:ext cx="739865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class_weight=None      exactitude=0.954 équilibrée=0.590 rappel minorité=0.182</a:t>
            </a:r>
            <a:endParaRPr lang="en-US" sz="950" dirty="0"/>
          </a:p>
        </p:txBody>
      </p:sp>
      <p:sp>
        <p:nvSpPr>
          <p:cNvPr id="18" name="Text 16"/>
          <p:cNvSpPr/>
          <p:nvPr/>
        </p:nvSpPr>
        <p:spPr>
          <a:xfrm>
            <a:off x="1065490" y="4125000"/>
            <a:ext cx="7398655"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class_weight=balanced  exactitude=0.682 équilibrée=0.661 rappel minorité=0.636</a:t>
            </a:r>
            <a:endParaRPr lang="en-US" sz="950" dirty="0"/>
          </a:p>
        </p:txBody>
      </p:sp>
      <p:sp>
        <p:nvSpPr>
          <p:cNvPr id="19" name="Text 17"/>
          <p:cNvSpPr/>
          <p:nvPr/>
        </p:nvSpPr>
        <p:spPr>
          <a:xfrm>
            <a:off x="812780" y="4295000"/>
            <a:ext cx="10883434"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95 % d'exactitude </a:t>
            </a:r>
            <a:r>
              <a:rPr lang="en-US" sz="950" b="1" dirty="0">
                <a:solidFill>
                  <a:srgbClr val="9A5414"/>
                </a:solidFill>
                <a:latin typeface="Space Grotesk" pitchFamily="34" charset="0"/>
                <a:ea typeface="Space Grotesk" pitchFamily="34" charset="-122"/>
                <a:cs typeface="Space Grotesk" pitchFamily="34" charset="-120"/>
              </a:rPr>
              <a:t>sans rien détecter</a:t>
            </a:r>
            <a:r>
              <a:rPr lang="en-US" sz="950" dirty="0">
                <a:solidFill>
                  <a:srgbClr val="2B211B"/>
                </a:solidFill>
                <a:latin typeface="Space Grotesk" pitchFamily="34" charset="0"/>
                <a:ea typeface="Space Grotesk" pitchFamily="34" charset="-122"/>
                <a:cs typeface="Space Grotesk" pitchFamily="34" charset="-120"/>
              </a:rPr>
              <a:t> : toujours regarder l'exactitude équilibrée.</a:t>
            </a:r>
            <a:endParaRPr lang="en-US" sz="950" dirty="0"/>
          </a:p>
        </p:txBody>
      </p:sp>
      <p:pic>
        <p:nvPicPr>
          <p:cNvPr id="20"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21" name="Text 18"/>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2" name="Text 19"/>
          <p:cNvSpPr/>
          <p:nvPr/>
        </p:nvSpPr>
        <p:spPr>
          <a:xfrm>
            <a:off x="10806518" y="6256040"/>
            <a:ext cx="57264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34 / 41</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EFE5D3"/>
        </a:solidFill>
        <a:effectLst/>
      </p:bgPr>
    </p:bg>
    <p:spTree>
      <p:nvGrpSpPr>
        <p:cNvPr id="1" name=""/>
        <p:cNvGrpSpPr/>
        <p:nvPr/>
      </p:nvGrpSpPr>
      <p:grpSpPr>
        <a:xfrm>
          <a:off x="0" y="0"/>
          <a:ext cx="0" cy="0"/>
          <a:chOff x="0" y="0"/>
          <a:chExt cx="0" cy="0"/>
        </a:xfrm>
      </p:grpSpPr>
      <p:sp>
        <p:nvSpPr>
          <p:cNvPr id="2" name="Shape 0"/>
          <p:cNvSpPr/>
          <p:nvPr/>
        </p:nvSpPr>
        <p:spPr>
          <a:xfrm>
            <a:off x="812780" y="1993900"/>
            <a:ext cx="101560" cy="2667000"/>
          </a:xfrm>
          <a:prstGeom prst="roundRect">
            <a:avLst>
              <a:gd name="adj" fmla="val 50000"/>
            </a:avLst>
          </a:prstGeom>
          <a:solidFill>
            <a:srgbClr val="E3A23B"/>
          </a:solidFill>
          <a:ln/>
        </p:spPr>
      </p:sp>
      <p:sp>
        <p:nvSpPr>
          <p:cNvPr id="3" name="Text 1"/>
          <p:cNvSpPr/>
          <p:nvPr/>
        </p:nvSpPr>
        <p:spPr>
          <a:xfrm>
            <a:off x="1320701" y="2298700"/>
            <a:ext cx="1036027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9A5414"/>
                </a:solidFill>
                <a:latin typeface="JetBrains Mono" pitchFamily="49" charset="0"/>
                <a:ea typeface="JetBrains Mono" pitchFamily="49" charset="-122"/>
                <a:cs typeface="JetBrains Mono" pitchFamily="49" charset="-120"/>
              </a:rPr>
              <a:t>05</a:t>
            </a:r>
            <a:endParaRPr lang="en-US" sz="6000" dirty="0"/>
          </a:p>
        </p:txBody>
      </p:sp>
      <p:sp>
        <p:nvSpPr>
          <p:cNvPr id="4" name="Text 2"/>
          <p:cNvSpPr>
            <a:spLocks noGrp="1"/>
          </p:cNvSpPr>
          <p:nvPr>
            <p:ph type="title"/>
          </p:nvPr>
        </p:nvSpPr>
        <p:spPr>
          <a:xfrm>
            <a:off x="1320701" y="3213100"/>
            <a:ext cx="10360275"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4A2F20"/>
                </a:solidFill>
                <a:latin typeface="Space Grotesk" pitchFamily="34" charset="0"/>
                <a:ea typeface="Space Grotesk" pitchFamily="34" charset="-122"/>
                <a:cs typeface="Space Grotesk" pitchFamily="34" charset="-120"/>
              </a:rPr>
              <a:t>Non supervisé et production</a:t>
            </a:r>
            <a:endParaRPr lang="en-US" sz="4800" dirty="0"/>
          </a:p>
        </p:txBody>
      </p:sp>
      <p:sp>
        <p:nvSpPr>
          <p:cNvPr id="5" name="Text 3"/>
          <p:cNvSpPr/>
          <p:nvPr/>
        </p:nvSpPr>
        <p:spPr>
          <a:xfrm>
            <a:off x="1320701" y="4036045"/>
            <a:ext cx="10360275"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6B6158"/>
                </a:solidFill>
                <a:latin typeface="Space Grotesk" pitchFamily="34" charset="0"/>
                <a:ea typeface="Space Grotesk" pitchFamily="34" charset="-122"/>
                <a:cs typeface="Space Grotesk" pitchFamily="34" charset="-120"/>
              </a:rPr>
              <a:t>Trouver des groupes, puis livrer le modèle.</a:t>
            </a:r>
            <a:endParaRPr lang="en-US" sz="1800" dirty="0"/>
          </a:p>
        </p:txBody>
      </p:sp>
      <p:pic>
        <p:nvPicPr>
          <p:cNvPr id="6"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7" name="Text 4"/>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8" name="Text 5"/>
          <p:cNvSpPr/>
          <p:nvPr/>
        </p:nvSpPr>
        <p:spPr>
          <a:xfrm>
            <a:off x="10811304" y="6256040"/>
            <a:ext cx="567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35 / 41</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NON SUPERVISÉ</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K-means et ACP : des profils de joueurs</a:t>
            </a:r>
            <a:endParaRPr lang="en-US" sz="3200" dirty="0"/>
          </a:p>
        </p:txBody>
      </p:sp>
      <p:sp>
        <p:nvSpPr>
          <p:cNvPr id="4" name="Shape 2"/>
          <p:cNvSpPr/>
          <p:nvPr/>
        </p:nvSpPr>
        <p:spPr>
          <a:xfrm>
            <a:off x="812780" y="1803326"/>
            <a:ext cx="5841980" cy="970000"/>
          </a:xfrm>
          <a:prstGeom prst="roundRect">
            <a:avLst>
              <a:gd name="adj" fmla="val 29167"/>
            </a:avLst>
          </a:prstGeom>
          <a:solidFill>
            <a:srgbClr val="ECE6D8"/>
          </a:solidFill>
          <a:ln/>
        </p:spPr>
      </p:sp>
      <p:sp>
        <p:nvSpPr>
          <p:cNvPr id="5" name="Shape 3"/>
          <p:cNvSpPr/>
          <p:nvPr/>
        </p:nvSpPr>
        <p:spPr>
          <a:xfrm>
            <a:off x="812780" y="1803326"/>
            <a:ext cx="5841980" cy="970000"/>
          </a:xfrm>
          <a:custGeom>
            <a:avLst/>
            <a:gdLst/>
            <a:ahLst/>
            <a:cxnLst/>
            <a:rect l="l" t="t" r="r" b="b"/>
            <a:pathLst>
              <a:path w="584198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6" name="Text 4"/>
          <p:cNvSpPr/>
          <p:nvPr/>
        </p:nvSpPr>
        <p:spPr>
          <a:xfrm>
            <a:off x="1065490" y="1900000"/>
            <a:ext cx="5547673" cy="145000"/>
          </a:xfrm>
          <a:prstGeom prst="rect">
            <a:avLst/>
          </a:prstGeom>
          <a:noFill/>
          <a:ln/>
        </p:spPr>
        <p:txBody>
          <a:bodyPr wrap="none" lIns="0" tIns="0" rIns="0" bIns="0" rtlCol="0" anchor="t">
            <a:normAutofit/>
          </a:bodyPr>
          <a:lstStyle/>
          <a:p>
            <a:pPr marL="0" indent="0" algn="l">
              <a:lnSpc>
                <a:spcPts val="900"/>
              </a:lnSpc>
              <a:buNone/>
            </a:pPr>
            <a:r>
              <a:rPr lang="en-US" sz="1100" dirty="0">
                <a:solidFill>
                  <a:srgbClr val="2B211B"/>
                </a:solidFill>
                <a:latin typeface="JetBrains Mono" pitchFamily="49" charset="0"/>
                <a:ea typeface="JetBrains Mono" pitchFamily="49" charset="-122"/>
                <a:cs typeface="JetBrains Mono" pitchFamily="49" charset="-120"/>
              </a:rPr>
              <a:t>k=2  silhouette=0.403</a:t>
            </a:r>
            <a:endParaRPr lang="en-US" sz="1100" dirty="0"/>
          </a:p>
        </p:txBody>
      </p:sp>
      <p:sp>
        <p:nvSpPr>
          <p:cNvPr id="7" name="Text 5"/>
          <p:cNvSpPr/>
          <p:nvPr/>
        </p:nvSpPr>
        <p:spPr>
          <a:xfrm>
            <a:off x="1065490" y="2070000"/>
            <a:ext cx="5547673" cy="145000"/>
          </a:xfrm>
          <a:prstGeom prst="rect">
            <a:avLst/>
          </a:prstGeom>
          <a:noFill/>
          <a:ln/>
        </p:spPr>
        <p:txBody>
          <a:bodyPr wrap="none" lIns="0" tIns="0" rIns="0" bIns="0" rtlCol="0" anchor="t">
            <a:normAutofit/>
          </a:bodyPr>
          <a:lstStyle/>
          <a:p>
            <a:pPr marL="0" indent="0" algn="l">
              <a:lnSpc>
                <a:spcPts val="900"/>
              </a:lnSpc>
              <a:buNone/>
            </a:pPr>
            <a:r>
              <a:rPr lang="en-US" sz="1100" dirty="0">
                <a:solidFill>
                  <a:srgbClr val="2B211B"/>
                </a:solidFill>
                <a:latin typeface="JetBrains Mono" pitchFamily="49" charset="0"/>
                <a:ea typeface="JetBrains Mono" pitchFamily="49" charset="-122"/>
                <a:cs typeface="JetBrains Mono" pitchFamily="49" charset="-120"/>
              </a:rPr>
              <a:t>k=3  silhouette=0.358</a:t>
            </a:r>
            <a:endParaRPr lang="en-US" sz="1100" dirty="0"/>
          </a:p>
        </p:txBody>
      </p:sp>
      <p:sp>
        <p:nvSpPr>
          <p:cNvPr id="8" name="Text 6"/>
          <p:cNvSpPr/>
          <p:nvPr/>
        </p:nvSpPr>
        <p:spPr>
          <a:xfrm>
            <a:off x="1065490" y="2240000"/>
            <a:ext cx="5547673" cy="145000"/>
          </a:xfrm>
          <a:prstGeom prst="rect">
            <a:avLst/>
          </a:prstGeom>
          <a:noFill/>
          <a:ln/>
        </p:spPr>
        <p:txBody>
          <a:bodyPr wrap="none" lIns="0" tIns="0" rIns="0" bIns="0" rtlCol="0" anchor="t">
            <a:normAutofit/>
          </a:bodyPr>
          <a:lstStyle/>
          <a:p>
            <a:pPr marL="0" indent="0" algn="l">
              <a:lnSpc>
                <a:spcPts val="900"/>
              </a:lnSpc>
              <a:buNone/>
            </a:pPr>
            <a:r>
              <a:rPr lang="en-US" sz="1100" dirty="0">
                <a:solidFill>
                  <a:srgbClr val="2B211B"/>
                </a:solidFill>
                <a:latin typeface="JetBrains Mono" pitchFamily="49" charset="0"/>
                <a:ea typeface="JetBrains Mono" pitchFamily="49" charset="-122"/>
                <a:cs typeface="JetBrains Mono" pitchFamily="49" charset="-120"/>
              </a:rPr>
              <a:t>k=4  silhouette=0.368</a:t>
            </a:r>
            <a:endParaRPr lang="en-US" sz="1100" dirty="0"/>
          </a:p>
        </p:txBody>
      </p:sp>
      <p:sp>
        <p:nvSpPr>
          <p:cNvPr id="9" name="Text 7"/>
          <p:cNvSpPr/>
          <p:nvPr/>
        </p:nvSpPr>
        <p:spPr>
          <a:xfrm>
            <a:off x="1065490" y="2410000"/>
            <a:ext cx="5547673" cy="145000"/>
          </a:xfrm>
          <a:prstGeom prst="rect">
            <a:avLst/>
          </a:prstGeom>
          <a:noFill/>
          <a:ln/>
        </p:spPr>
        <p:txBody>
          <a:bodyPr wrap="none" lIns="0" tIns="0" rIns="0" bIns="0" rtlCol="0" anchor="t">
            <a:normAutofit/>
          </a:bodyPr>
          <a:lstStyle/>
          <a:p>
            <a:pPr marL="0" indent="0" algn="l">
              <a:lnSpc>
                <a:spcPts val="900"/>
              </a:lnSpc>
              <a:buNone/>
            </a:pPr>
            <a:r>
              <a:rPr lang="en-US" sz="1100" dirty="0">
                <a:solidFill>
                  <a:srgbClr val="2B211B"/>
                </a:solidFill>
                <a:latin typeface="JetBrains Mono" pitchFamily="49" charset="0"/>
                <a:ea typeface="JetBrains Mono" pitchFamily="49" charset="-122"/>
                <a:cs typeface="JetBrains Mono" pitchFamily="49" charset="-120"/>
              </a:rPr>
              <a:t>k=5  silhouette=0.375</a:t>
            </a:r>
            <a:endParaRPr lang="en-US" sz="1100" dirty="0"/>
          </a:p>
        </p:txBody>
      </p:sp>
      <p:sp>
        <p:nvSpPr>
          <p:cNvPr id="10" name="Text 8"/>
          <p:cNvSpPr/>
          <p:nvPr/>
        </p:nvSpPr>
        <p:spPr>
          <a:xfrm>
            <a:off x="1065490" y="2580000"/>
            <a:ext cx="5547673" cy="145000"/>
          </a:xfrm>
          <a:prstGeom prst="rect">
            <a:avLst/>
          </a:prstGeom>
          <a:noFill/>
          <a:ln/>
        </p:spPr>
        <p:txBody>
          <a:bodyPr wrap="none" lIns="0" tIns="0" rIns="0" bIns="0" rtlCol="0" anchor="t">
            <a:normAutofit/>
          </a:bodyPr>
          <a:lstStyle/>
          <a:p>
            <a:pPr marL="0" indent="0" algn="l">
              <a:lnSpc>
                <a:spcPts val="900"/>
              </a:lnSpc>
              <a:buNone/>
            </a:pPr>
            <a:r>
              <a:rPr lang="en-US" sz="1100" dirty="0">
                <a:solidFill>
                  <a:srgbClr val="2B211B"/>
                </a:solidFill>
                <a:latin typeface="JetBrains Mono" pitchFamily="49" charset="0"/>
                <a:ea typeface="JetBrains Mono" pitchFamily="49" charset="-122"/>
                <a:cs typeface="JetBrains Mono" pitchFamily="49" charset="-120"/>
              </a:rPr>
              <a:t>k=6  silhouette=0.392</a:t>
            </a:r>
            <a:endParaRPr lang="en-US" sz="1100" dirty="0"/>
          </a:p>
        </p:txBody>
      </p:sp>
      <p:sp>
        <p:nvSpPr>
          <p:cNvPr id="11" name="Shape 9"/>
          <p:cNvSpPr/>
          <p:nvPr/>
        </p:nvSpPr>
        <p:spPr>
          <a:xfrm>
            <a:off x="812780" y="2890000"/>
            <a:ext cx="5841980" cy="1120000"/>
          </a:xfrm>
          <a:prstGeom prst="roundRect">
            <a:avLst>
              <a:gd name="adj" fmla="val 29167"/>
            </a:avLst>
          </a:prstGeom>
          <a:solidFill>
            <a:srgbClr val="ECE6D8"/>
          </a:solidFill>
          <a:ln/>
        </p:spPr>
      </p:sp>
      <p:sp>
        <p:nvSpPr>
          <p:cNvPr id="12" name="Shape 10"/>
          <p:cNvSpPr/>
          <p:nvPr/>
        </p:nvSpPr>
        <p:spPr>
          <a:xfrm>
            <a:off x="812780" y="2890000"/>
            <a:ext cx="5841980" cy="1120000"/>
          </a:xfrm>
          <a:custGeom>
            <a:avLst/>
            <a:gdLst/>
            <a:ahLst/>
            <a:cxnLst/>
            <a:rect l="l" t="t" r="r" b="b"/>
            <a:pathLst>
              <a:path w="584198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3" name="Text 11"/>
          <p:cNvSpPr/>
          <p:nvPr/>
        </p:nvSpPr>
        <p:spPr>
          <a:xfrm>
            <a:off x="1065490" y="3000000"/>
            <a:ext cx="5547673" cy="165000"/>
          </a:xfrm>
          <a:prstGeom prst="rect">
            <a:avLst/>
          </a:prstGeom>
          <a:noFill/>
          <a:ln/>
        </p:spPr>
        <p:txBody>
          <a:bodyPr wrap="none" lIns="0" tIns="0" rIns="0" bIns="0" rtlCol="0" anchor="t">
            <a:normAutofit/>
          </a:bodyPr>
          <a:lstStyle/>
          <a:p>
            <a:pPr marL="0" indent="0" algn="l">
              <a:lnSpc>
                <a:spcPts val="900"/>
              </a:lnSpc>
              <a:buNone/>
            </a:pPr>
            <a:r>
              <a:rPr lang="en-US" sz="1000" dirty="0">
                <a:solidFill>
                  <a:srgbClr val="2B211B"/>
                </a:solidFill>
                <a:latin typeface="JetBrains Mono" pitchFamily="49" charset="0"/>
                <a:ea typeface="JetBrains Mono" pitchFamily="49" charset="-122"/>
                <a:cs typeface="JetBrains Mono" pitchFamily="49" charset="-120"/>
              </a:rPr>
              <a:t>   buts_90  passes_90  cartons_90  minutes_match</a:t>
            </a:r>
            <a:endParaRPr lang="en-US" sz="1000" dirty="0"/>
          </a:p>
        </p:txBody>
      </p:sp>
      <p:sp>
        <p:nvSpPr>
          <p:cNvPr id="14" name="Text 12"/>
          <p:cNvSpPr/>
          <p:nvPr/>
        </p:nvSpPr>
        <p:spPr>
          <a:xfrm>
            <a:off x="1065490" y="3190000"/>
            <a:ext cx="5547673" cy="165000"/>
          </a:xfrm>
          <a:prstGeom prst="rect">
            <a:avLst/>
          </a:prstGeom>
          <a:noFill/>
          <a:ln/>
        </p:spPr>
        <p:txBody>
          <a:bodyPr wrap="none" lIns="0" tIns="0" rIns="0" bIns="0" rtlCol="0" anchor="t">
            <a:normAutofit/>
          </a:bodyPr>
          <a:lstStyle/>
          <a:p>
            <a:pPr marL="0" indent="0" algn="l">
              <a:lnSpc>
                <a:spcPts val="900"/>
              </a:lnSpc>
              <a:buNone/>
            </a:pPr>
            <a:r>
              <a:rPr lang="en-US" sz="1000" dirty="0">
                <a:solidFill>
                  <a:srgbClr val="2B211B"/>
                </a:solidFill>
                <a:latin typeface="JetBrains Mono" pitchFamily="49" charset="0"/>
                <a:ea typeface="JetBrains Mono" pitchFamily="49" charset="-122"/>
                <a:cs typeface="JetBrains Mono" pitchFamily="49" charset="-120"/>
              </a:rPr>
              <a:t>0     0.08       0.07        0.17          80.69</a:t>
            </a:r>
            <a:endParaRPr lang="en-US" sz="1000" dirty="0"/>
          </a:p>
        </p:txBody>
      </p:sp>
      <p:sp>
        <p:nvSpPr>
          <p:cNvPr id="15" name="Text 13"/>
          <p:cNvSpPr/>
          <p:nvPr/>
        </p:nvSpPr>
        <p:spPr>
          <a:xfrm>
            <a:off x="1065490" y="3380000"/>
            <a:ext cx="5547673" cy="165000"/>
          </a:xfrm>
          <a:prstGeom prst="rect">
            <a:avLst/>
          </a:prstGeom>
          <a:noFill/>
          <a:ln/>
        </p:spPr>
        <p:txBody>
          <a:bodyPr wrap="none" lIns="0" tIns="0" rIns="0" bIns="0" rtlCol="0" anchor="t">
            <a:normAutofit/>
          </a:bodyPr>
          <a:lstStyle/>
          <a:p>
            <a:pPr marL="0" indent="0" algn="l">
              <a:lnSpc>
                <a:spcPts val="900"/>
              </a:lnSpc>
              <a:buNone/>
            </a:pPr>
            <a:r>
              <a:rPr lang="en-US" sz="1000" dirty="0">
                <a:solidFill>
                  <a:srgbClr val="2B211B"/>
                </a:solidFill>
                <a:latin typeface="JetBrains Mono" pitchFamily="49" charset="0"/>
                <a:ea typeface="JetBrains Mono" pitchFamily="49" charset="-122"/>
                <a:cs typeface="JetBrains Mono" pitchFamily="49" charset="-120"/>
              </a:rPr>
              <a:t>1     0.51       0.12        0.14          63.47</a:t>
            </a:r>
            <a:endParaRPr lang="en-US" sz="1000" dirty="0"/>
          </a:p>
        </p:txBody>
      </p:sp>
      <p:sp>
        <p:nvSpPr>
          <p:cNvPr id="16" name="Text 14"/>
          <p:cNvSpPr/>
          <p:nvPr/>
        </p:nvSpPr>
        <p:spPr>
          <a:xfrm>
            <a:off x="1065490" y="3570000"/>
            <a:ext cx="5547673" cy="165000"/>
          </a:xfrm>
          <a:prstGeom prst="rect">
            <a:avLst/>
          </a:prstGeom>
          <a:noFill/>
          <a:ln/>
        </p:spPr>
        <p:txBody>
          <a:bodyPr wrap="none" lIns="0" tIns="0" rIns="0" bIns="0" rtlCol="0" anchor="t">
            <a:normAutofit/>
          </a:bodyPr>
          <a:lstStyle/>
          <a:p>
            <a:pPr marL="0" indent="0" algn="l">
              <a:lnSpc>
                <a:spcPts val="900"/>
              </a:lnSpc>
              <a:buNone/>
            </a:pPr>
            <a:r>
              <a:rPr lang="en-US" sz="1000" dirty="0">
                <a:solidFill>
                  <a:srgbClr val="2B211B"/>
                </a:solidFill>
                <a:latin typeface="JetBrains Mono" pitchFamily="49" charset="0"/>
                <a:ea typeface="JetBrains Mono" pitchFamily="49" charset="-122"/>
                <a:cs typeface="JetBrains Mono" pitchFamily="49" charset="-120"/>
              </a:rPr>
              <a:t>2     0.08       0.04        0.14          42.72</a:t>
            </a:r>
            <a:endParaRPr lang="en-US" sz="1000" dirty="0"/>
          </a:p>
        </p:txBody>
      </p:sp>
      <p:sp>
        <p:nvSpPr>
          <p:cNvPr id="17" name="Text 15"/>
          <p:cNvSpPr/>
          <p:nvPr/>
        </p:nvSpPr>
        <p:spPr>
          <a:xfrm>
            <a:off x="1065490" y="3760000"/>
            <a:ext cx="5547673" cy="165000"/>
          </a:xfrm>
          <a:prstGeom prst="rect">
            <a:avLst/>
          </a:prstGeom>
          <a:noFill/>
          <a:ln/>
        </p:spPr>
        <p:txBody>
          <a:bodyPr wrap="none" lIns="0" tIns="0" rIns="0" bIns="0" rtlCol="0" anchor="t">
            <a:normAutofit/>
          </a:bodyPr>
          <a:lstStyle/>
          <a:p>
            <a:pPr marL="0" indent="0" algn="l">
              <a:lnSpc>
                <a:spcPts val="900"/>
              </a:lnSpc>
              <a:buNone/>
            </a:pPr>
            <a:r>
              <a:rPr lang="en-US" sz="1000" dirty="0">
                <a:solidFill>
                  <a:srgbClr val="2B211B"/>
                </a:solidFill>
                <a:latin typeface="JetBrains Mono" pitchFamily="49" charset="0"/>
                <a:ea typeface="JetBrains Mono" pitchFamily="49" charset="-122"/>
                <a:cs typeface="JetBrains Mono" pitchFamily="49" charset="-120"/>
              </a:rPr>
              <a:t>3     0.06       0.11        0.63          38.01</a:t>
            </a:r>
            <a:endParaRPr lang="en-US" sz="1000" dirty="0"/>
          </a:p>
        </p:txBody>
      </p:sp>
      <p:sp>
        <p:nvSpPr>
          <p:cNvPr id="18" name="Text 16"/>
          <p:cNvSpPr/>
          <p:nvPr/>
        </p:nvSpPr>
        <p:spPr>
          <a:xfrm>
            <a:off x="812780" y="4110000"/>
            <a:ext cx="6017240" cy="500000"/>
          </a:xfrm>
          <a:prstGeom prst="rect">
            <a:avLst/>
          </a:prstGeom>
          <a:noFill/>
          <a:ln/>
        </p:spPr>
        <p:txBody>
          <a:bodyPr wrap="square" lIns="0" tIns="0" rIns="0" bIns="0" rtlCol="0" anchor="t">
            <a:normAutofit/>
          </a:bodyPr>
          <a:lstStyle/>
          <a:p>
            <a:pPr marL="0" indent="0" algn="l">
              <a:lnSpc>
                <a:spcPts val="1960"/>
              </a:lnSpc>
              <a:buNone/>
            </a:pPr>
            <a:r>
              <a:rPr lang="en-US" sz="1300" dirty="0">
                <a:solidFill>
                  <a:srgbClr val="2B211B"/>
                </a:solidFill>
                <a:latin typeface="Space Grotesk" pitchFamily="34" charset="0"/>
                <a:ea typeface="Space Grotesk" pitchFamily="34" charset="-122"/>
                <a:cs typeface="Space Grotesk" pitchFamily="34" charset="-120"/>
              </a:rPr>
              <a:t>k=4 est illustratif (la silhouette préfère k=2). Profils : </a:t>
            </a:r>
            <a:r>
              <a:rPr lang="en-US" sz="1300" b="1" dirty="0">
                <a:solidFill>
                  <a:srgbClr val="9A5414"/>
                </a:solidFill>
                <a:latin typeface="Space Grotesk" pitchFamily="34" charset="0"/>
                <a:ea typeface="Space Grotesk" pitchFamily="34" charset="-122"/>
                <a:cs typeface="Space Grotesk" pitchFamily="34" charset="-120"/>
              </a:rPr>
              <a:t>titulaires</a:t>
            </a:r>
            <a:r>
              <a:rPr lang="en-US" sz="1300" dirty="0">
                <a:solidFill>
                  <a:srgbClr val="2B211B"/>
                </a:solidFill>
                <a:latin typeface="Space Grotesk" pitchFamily="34" charset="0"/>
                <a:ea typeface="Space Grotesk" pitchFamily="34" charset="-122"/>
                <a:cs typeface="Space Grotesk" pitchFamily="34" charset="-120"/>
              </a:rPr>
              <a:t>, </a:t>
            </a:r>
            <a:r>
              <a:rPr lang="en-US" sz="1300" b="1" dirty="0">
                <a:solidFill>
                  <a:srgbClr val="9A5414"/>
                </a:solidFill>
                <a:latin typeface="Space Grotesk" pitchFamily="34" charset="0"/>
                <a:ea typeface="Space Grotesk" pitchFamily="34" charset="-122"/>
                <a:cs typeface="Space Grotesk" pitchFamily="34" charset="-120"/>
              </a:rPr>
              <a:t>buteurs</a:t>
            </a:r>
            <a:r>
              <a:rPr lang="en-US" sz="1300" dirty="0">
                <a:solidFill>
                  <a:srgbClr val="2B211B"/>
                </a:solidFill>
                <a:latin typeface="Space Grotesk" pitchFamily="34" charset="0"/>
                <a:ea typeface="Space Grotesk" pitchFamily="34" charset="-122"/>
                <a:cs typeface="Space Grotesk" pitchFamily="34" charset="-120"/>
              </a:rPr>
              <a:t>, </a:t>
            </a:r>
            <a:r>
              <a:rPr lang="en-US" sz="1300" b="1" dirty="0">
                <a:solidFill>
                  <a:srgbClr val="9A5414"/>
                </a:solidFill>
                <a:latin typeface="Space Grotesk" pitchFamily="34" charset="0"/>
                <a:ea typeface="Space Grotesk" pitchFamily="34" charset="-122"/>
                <a:cs typeface="Space Grotesk" pitchFamily="34" charset="-120"/>
              </a:rPr>
              <a:t>remplaçants</a:t>
            </a:r>
            <a:r>
              <a:rPr lang="en-US" sz="1300" dirty="0">
                <a:solidFill>
                  <a:srgbClr val="2B211B"/>
                </a:solidFill>
                <a:latin typeface="Space Grotesk" pitchFamily="34" charset="0"/>
                <a:ea typeface="Space Grotesk" pitchFamily="34" charset="-122"/>
                <a:cs typeface="Space Grotesk" pitchFamily="34" charset="-120"/>
              </a:rPr>
              <a:t>, </a:t>
            </a:r>
            <a:r>
              <a:rPr lang="en-US" sz="1300" b="1" dirty="0">
                <a:solidFill>
                  <a:srgbClr val="9A5414"/>
                </a:solidFill>
                <a:latin typeface="Space Grotesk" pitchFamily="34" charset="0"/>
                <a:ea typeface="Space Grotesk" pitchFamily="34" charset="-122"/>
                <a:cs typeface="Space Grotesk" pitchFamily="34" charset="-120"/>
              </a:rPr>
              <a:t>joueurs à cartons</a:t>
            </a:r>
            <a:r>
              <a:rPr lang="en-US" sz="1300" dirty="0">
                <a:solidFill>
                  <a:srgbClr val="2B211B"/>
                </a:solidFill>
                <a:latin typeface="Space Grotesk" pitchFamily="34" charset="0"/>
                <a:ea typeface="Space Grotesk" pitchFamily="34" charset="-122"/>
                <a:cs typeface="Space Grotesk" pitchFamily="34" charset="-120"/>
              </a:rPr>
              <a:t>.</a:t>
            </a:r>
            <a:endParaRPr lang="en-US" sz="1300" dirty="0"/>
          </a:p>
        </p:txBody>
      </p:sp>
      <p:sp>
        <p:nvSpPr>
          <p:cNvPr id="19" name="Shape 17"/>
          <p:cNvSpPr/>
          <p:nvPr/>
        </p:nvSpPr>
        <p:spPr>
          <a:xfrm>
            <a:off x="6908721" y="1803326"/>
            <a:ext cx="4470380" cy="970000"/>
          </a:xfrm>
          <a:prstGeom prst="roundRect">
            <a:avLst>
              <a:gd name="adj" fmla="val 2202"/>
            </a:avLst>
          </a:prstGeom>
          <a:solidFill>
            <a:srgbClr val="FFFFFF"/>
          </a:solidFill>
          <a:ln/>
        </p:spPr>
      </p:sp>
      <p:pic>
        <p:nvPicPr>
          <p:cNvPr id="20" name="Image 0" descr="Quatre groupes de joueurs projetés sur les deux premières composantes de l'ACP"/>
          <p:cNvPicPr>
            <a:picLocks noChangeAspect="1"/>
          </p:cNvPicPr>
          <p:nvPr/>
        </p:nvPicPr>
        <p:blipFill>
          <a:blip r:embed="rId3"/>
          <a:srcRect l="-45" r="-45"/>
          <a:stretch/>
        </p:blipFill>
        <p:spPr>
          <a:xfrm>
            <a:off x="6915071" y="1809676"/>
            <a:ext cx="4457680" cy="3448030"/>
          </a:xfrm>
          <a:prstGeom prst="roundRect">
            <a:avLst>
              <a:gd name="adj" fmla="val 2026"/>
            </a:avLst>
          </a:prstGeom>
        </p:spPr>
      </p:pic>
      <p:sp>
        <p:nvSpPr>
          <p:cNvPr id="21" name="Shape 18"/>
          <p:cNvSpPr/>
          <p:nvPr/>
        </p:nvSpPr>
        <p:spPr>
          <a:xfrm>
            <a:off x="6911896" y="1806501"/>
            <a:ext cx="4464030" cy="3454380"/>
          </a:xfrm>
          <a:prstGeom prst="roundRect">
            <a:avLst>
              <a:gd name="adj" fmla="val 2114"/>
            </a:avLst>
          </a:prstGeom>
          <a:noFill/>
          <a:ln w="6350">
            <a:solidFill>
              <a:srgbClr val="DCD7CA"/>
            </a:solidFill>
            <a:prstDash val="solid"/>
          </a:ln>
        </p:spPr>
      </p:sp>
      <p:pic>
        <p:nvPicPr>
          <p:cNvPr id="22" name="Image 1" descr="Logo ISM"/>
          <p:cNvPicPr>
            <a:picLocks noChangeAspect="1"/>
          </p:cNvPicPr>
          <p:nvPr/>
        </p:nvPicPr>
        <p:blipFill>
          <a:blip r:embed="rId4"/>
          <a:srcRect l="431" r="431"/>
          <a:stretch/>
        </p:blipFill>
        <p:spPr>
          <a:xfrm>
            <a:off x="812780" y="6223050"/>
            <a:ext cx="279380" cy="279380"/>
          </a:xfrm>
          <a:prstGeom prst="roundRect">
            <a:avLst>
              <a:gd name="adj" fmla="val 13637"/>
            </a:avLst>
          </a:prstGeom>
        </p:spPr>
      </p:pic>
      <p:sp>
        <p:nvSpPr>
          <p:cNvPr id="23" name="Text 19"/>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4" name="Text 20"/>
          <p:cNvSpPr/>
          <p:nvPr/>
        </p:nvSpPr>
        <p:spPr>
          <a:xfrm>
            <a:off x="10808875" y="6256040"/>
            <a:ext cx="57028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36 / 41</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PRODUCTION</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Sauvegarder et réutiliser le pipeline</a:t>
            </a:r>
            <a:endParaRPr lang="en-US" sz="3200" dirty="0"/>
          </a:p>
        </p:txBody>
      </p:sp>
      <p:sp>
        <p:nvSpPr>
          <p:cNvPr id="4" name="Shape 2"/>
          <p:cNvSpPr/>
          <p:nvPr/>
        </p:nvSpPr>
        <p:spPr>
          <a:xfrm>
            <a:off x="819130" y="1809676"/>
            <a:ext cx="10553740" cy="1485330"/>
          </a:xfrm>
          <a:prstGeom prst="roundRect">
            <a:avLst>
              <a:gd name="adj" fmla="val 26210"/>
            </a:avLst>
          </a:prstGeom>
          <a:solidFill>
            <a:srgbClr val="FFFDF8"/>
          </a:solidFill>
          <a:ln w="12700">
            <a:solidFill>
              <a:srgbClr val="E2D9C6"/>
            </a:solidFill>
            <a:prstDash val="solid"/>
          </a:ln>
        </p:spPr>
      </p:sp>
      <p:sp>
        <p:nvSpPr>
          <p:cNvPr id="5" name="Text 3"/>
          <p:cNvSpPr/>
          <p:nvPr/>
        </p:nvSpPr>
        <p:spPr>
          <a:xfrm>
            <a:off x="1027390" y="1910000"/>
            <a:ext cx="10441337" cy="155000"/>
          </a:xfrm>
          <a:prstGeom prst="rect">
            <a:avLst/>
          </a:prstGeom>
          <a:noFill/>
          <a:ln/>
        </p:spPr>
        <p:txBody>
          <a:bodyPr wrap="none" lIns="0" tIns="0" rIns="0" bIns="0" rtlCol="0" anchor="t">
            <a:normAutofit/>
          </a:bodyPr>
          <a:lstStyle/>
          <a:p>
            <a:pPr marL="0" indent="0" algn="l">
              <a:lnSpc>
                <a:spcPts val="972"/>
              </a:lnSpc>
              <a:buNone/>
            </a:pPr>
            <a:r>
              <a:rPr lang="en-US" sz="900" b="1" dirty="0">
                <a:solidFill>
                  <a:srgbClr val="9A3D0A"/>
                </a:solidFill>
                <a:latin typeface="JetBrains Mono" pitchFamily="49" charset="0"/>
                <a:ea typeface="JetBrains Mono" pitchFamily="49" charset="-122"/>
                <a:cs typeface="JetBrains Mono" pitchFamily="49" charset="-120"/>
              </a:rPr>
              <a:t>import</a:t>
            </a:r>
            <a:r>
              <a:rPr lang="en-US" sz="900" dirty="0">
                <a:solidFill>
                  <a:srgbClr val="2B211B"/>
                </a:solidFill>
                <a:latin typeface="JetBrains Mono" pitchFamily="49" charset="0"/>
                <a:ea typeface="JetBrains Mono" pitchFamily="49" charset="-122"/>
                <a:cs typeface="JetBrains Mono" pitchFamily="49" charset="-120"/>
              </a:rPr>
              <a:t> joblib</a:t>
            </a:r>
            <a:endParaRPr lang="en-US" sz="900" dirty="0"/>
          </a:p>
        </p:txBody>
      </p:sp>
      <p:sp>
        <p:nvSpPr>
          <p:cNvPr id="6" name="Text 4"/>
          <p:cNvSpPr/>
          <p:nvPr/>
        </p:nvSpPr>
        <p:spPr>
          <a:xfrm>
            <a:off x="1027390" y="210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joblib.dump(rech.best_estimator_, </a:t>
            </a:r>
            <a:r>
              <a:rPr lang="en-US" sz="900" dirty="0">
                <a:solidFill>
                  <a:srgbClr val="2C6E3F"/>
                </a:solidFill>
                <a:latin typeface="JetBrains Mono" pitchFamily="49" charset="0"/>
                <a:ea typeface="JetBrains Mono" pitchFamily="49" charset="-122"/>
                <a:cs typeface="JetBrains Mono" pitchFamily="49" charset="-120"/>
              </a:rPr>
              <a:t>"modele_salaire.joblib"</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7" name="Text 5"/>
          <p:cNvSpPr/>
          <p:nvPr/>
        </p:nvSpPr>
        <p:spPr>
          <a:xfrm>
            <a:off x="1027390" y="229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charge = joblib.load(</a:t>
            </a:r>
            <a:r>
              <a:rPr lang="en-US" sz="900" dirty="0">
                <a:solidFill>
                  <a:srgbClr val="2C6E3F"/>
                </a:solidFill>
                <a:latin typeface="JetBrains Mono" pitchFamily="49" charset="0"/>
                <a:ea typeface="JetBrains Mono" pitchFamily="49" charset="-122"/>
                <a:cs typeface="JetBrains Mono" pitchFamily="49" charset="-120"/>
              </a:rPr>
              <a:t>"modele_salaire.joblib"</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7D7466"/>
                </a:solidFill>
                <a:latin typeface="JetBrains Mono" pitchFamily="49" charset="0"/>
                <a:ea typeface="JetBrains Mono" pitchFamily="49" charset="-122"/>
                <a:cs typeface="JetBrains Mono" pitchFamily="49" charset="-120"/>
              </a:rPr>
              <a:t># ailleurs, plus tard</a:t>
            </a:r>
            <a:endParaRPr lang="en-US" sz="900" dirty="0"/>
          </a:p>
        </p:txBody>
      </p:sp>
      <p:sp>
        <p:nvSpPr>
          <p:cNvPr id="8" name="Text 6"/>
          <p:cNvSpPr/>
          <p:nvPr/>
        </p:nvSpPr>
        <p:spPr>
          <a:xfrm>
            <a:off x="1027390" y="248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nouveau = pd.DataFrame([{</a:t>
            </a:r>
            <a:r>
              <a:rPr lang="en-US" sz="900" dirty="0">
                <a:solidFill>
                  <a:srgbClr val="2C6E3F"/>
                </a:solidFill>
                <a:latin typeface="JetBrains Mono" pitchFamily="49" charset="0"/>
                <a:ea typeface="JetBrains Mono" pitchFamily="49" charset="-122"/>
                <a:cs typeface="JetBrains Mono" pitchFamily="49" charset="-120"/>
              </a:rPr>
              <a:t>"matchs_joues"</a:t>
            </a:r>
            <a:r>
              <a:rPr lang="en-US" sz="900" dirty="0">
                <a:solidFill>
                  <a:srgbClr val="2B211B"/>
                </a:solidFill>
                <a:latin typeface="JetBrains Mono" pitchFamily="49" charset="0"/>
                <a:ea typeface="JetBrains Mono" pitchFamily="49" charset="-122"/>
                <a:cs typeface="JetBrains Mono" pitchFamily="49" charset="-120"/>
              </a:rPr>
              <a:t>: 28, </a:t>
            </a:r>
            <a:r>
              <a:rPr lang="en-US" sz="900" dirty="0">
                <a:solidFill>
                  <a:srgbClr val="2C6E3F"/>
                </a:solidFill>
                <a:latin typeface="JetBrains Mono" pitchFamily="49" charset="0"/>
                <a:ea typeface="JetBrains Mono" pitchFamily="49" charset="-122"/>
                <a:cs typeface="JetBrains Mono" pitchFamily="49" charset="-120"/>
              </a:rPr>
              <a:t>"minutes_jouees"</a:t>
            </a:r>
            <a:r>
              <a:rPr lang="en-US" sz="900" dirty="0">
                <a:solidFill>
                  <a:srgbClr val="2B211B"/>
                </a:solidFill>
                <a:latin typeface="JetBrains Mono" pitchFamily="49" charset="0"/>
                <a:ea typeface="JetBrains Mono" pitchFamily="49" charset="-122"/>
                <a:cs typeface="JetBrains Mono" pitchFamily="49" charset="-120"/>
              </a:rPr>
              <a:t>: 2300, </a:t>
            </a:r>
            <a:r>
              <a:rPr lang="en-US" sz="900" dirty="0">
                <a:solidFill>
                  <a:srgbClr val="2C6E3F"/>
                </a:solidFill>
                <a:latin typeface="JetBrains Mono" pitchFamily="49" charset="0"/>
                <a:ea typeface="JetBrains Mono" pitchFamily="49" charset="-122"/>
                <a:cs typeface="JetBrains Mono" pitchFamily="49" charset="-120"/>
              </a:rPr>
              <a:t>"buts"</a:t>
            </a:r>
            <a:r>
              <a:rPr lang="en-US" sz="900" dirty="0">
                <a:solidFill>
                  <a:srgbClr val="2B211B"/>
                </a:solidFill>
                <a:latin typeface="JetBrains Mono" pitchFamily="49" charset="0"/>
                <a:ea typeface="JetBrains Mono" pitchFamily="49" charset="-122"/>
                <a:cs typeface="JetBrains Mono" pitchFamily="49" charset="-120"/>
              </a:rPr>
              <a:t>: 12,</a:t>
            </a:r>
            <a:endParaRPr lang="en-US" sz="900" dirty="0"/>
          </a:p>
        </p:txBody>
      </p:sp>
      <p:sp>
        <p:nvSpPr>
          <p:cNvPr id="9" name="Text 7"/>
          <p:cNvSpPr/>
          <p:nvPr/>
        </p:nvSpPr>
        <p:spPr>
          <a:xfrm>
            <a:off x="1027390" y="267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"passes_decisives"</a:t>
            </a:r>
            <a:r>
              <a:rPr lang="en-US" sz="900" dirty="0">
                <a:solidFill>
                  <a:srgbClr val="2B211B"/>
                </a:solidFill>
                <a:latin typeface="JetBrains Mono" pitchFamily="49" charset="0"/>
                <a:ea typeface="JetBrains Mono" pitchFamily="49" charset="-122"/>
                <a:cs typeface="JetBrains Mono" pitchFamily="49" charset="-120"/>
              </a:rPr>
              <a:t>: 5, </a:t>
            </a:r>
            <a:r>
              <a:rPr lang="en-US" sz="900" dirty="0">
                <a:solidFill>
                  <a:srgbClr val="2C6E3F"/>
                </a:solidFill>
                <a:latin typeface="JetBrains Mono" pitchFamily="49" charset="0"/>
                <a:ea typeface="JetBrains Mono" pitchFamily="49" charset="-122"/>
                <a:cs typeface="JetBrains Mono" pitchFamily="49" charset="-120"/>
              </a:rPr>
              <a:t>"age"</a:t>
            </a:r>
            <a:r>
              <a:rPr lang="en-US" sz="900" dirty="0">
                <a:solidFill>
                  <a:srgbClr val="2B211B"/>
                </a:solidFill>
                <a:latin typeface="JetBrains Mono" pitchFamily="49" charset="0"/>
                <a:ea typeface="JetBrains Mono" pitchFamily="49" charset="-122"/>
                <a:cs typeface="JetBrains Mono" pitchFamily="49" charset="-120"/>
              </a:rPr>
              <a:t>: 24.5, </a:t>
            </a:r>
            <a:r>
              <a:rPr lang="en-US" sz="900" dirty="0">
                <a:solidFill>
                  <a:srgbClr val="2C6E3F"/>
                </a:solidFill>
                <a:latin typeface="JetBrains Mono" pitchFamily="49" charset="0"/>
                <a:ea typeface="JetBrains Mono" pitchFamily="49" charset="-122"/>
                <a:cs typeface="JetBrains Mono" pitchFamily="49" charset="-120"/>
              </a:rPr>
              <a:t>"poste"</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"Attaquant"</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0" name="Text 8"/>
          <p:cNvSpPr/>
          <p:nvPr/>
        </p:nvSpPr>
        <p:spPr>
          <a:xfrm>
            <a:off x="1027390" y="286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"equipe_id"</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"E01"</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"saison"</a:t>
            </a:r>
            <a:r>
              <a:rPr lang="en-US" sz="900" dirty="0">
                <a:solidFill>
                  <a:srgbClr val="2B211B"/>
                </a:solidFill>
                <a:latin typeface="JetBrains Mono" pitchFamily="49" charset="0"/>
                <a:ea typeface="JetBrains Mono" pitchFamily="49" charset="-122"/>
                <a:cs typeface="JetBrains Mono" pitchFamily="49" charset="-120"/>
              </a:rPr>
              <a:t>: </a:t>
            </a:r>
            <a:r>
              <a:rPr lang="en-US" sz="900" dirty="0">
                <a:solidFill>
                  <a:srgbClr val="2C6E3F"/>
                </a:solidFill>
                <a:latin typeface="JetBrains Mono" pitchFamily="49" charset="0"/>
                <a:ea typeface="JetBrains Mono" pitchFamily="49" charset="-122"/>
                <a:cs typeface="JetBrains Mono" pitchFamily="49" charset="-120"/>
              </a:rPr>
              <a:t>"2025-2026"</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1" name="Text 9"/>
          <p:cNvSpPr/>
          <p:nvPr/>
        </p:nvSpPr>
        <p:spPr>
          <a:xfrm>
            <a:off x="1027390" y="3050000"/>
            <a:ext cx="10441337" cy="155000"/>
          </a:xfrm>
          <a:prstGeom prst="rect">
            <a:avLst/>
          </a:prstGeom>
          <a:noFill/>
          <a:ln/>
        </p:spPr>
        <p:txBody>
          <a:bodyPr wrap="none" lIns="0" tIns="0" rIns="0" bIns="0" rtlCol="0" anchor="t">
            <a:normAutofit/>
          </a:bodyPr>
          <a:lstStyle/>
          <a:p>
            <a:pPr marL="0" indent="0" algn="l">
              <a:lnSpc>
                <a:spcPts val="972"/>
              </a:lnSpc>
              <a:buNone/>
            </a:pPr>
            <a:r>
              <a:rPr lang="en-US" sz="900" dirty="0">
                <a:solidFill>
                  <a:srgbClr val="2B211B"/>
                </a:solidFill>
                <a:latin typeface="JetBrains Mono" pitchFamily="49" charset="0"/>
                <a:ea typeface="JetBrains Mono" pitchFamily="49" charset="-122"/>
                <a:cs typeface="JetBrains Mono" pitchFamily="49" charset="-120"/>
              </a:rPr>
              <a:t>print(</a:t>
            </a:r>
            <a:r>
              <a:rPr lang="en-US" sz="900" dirty="0">
                <a:solidFill>
                  <a:srgbClr val="2C6E3F"/>
                </a:solidFill>
                <a:latin typeface="JetBrains Mono" pitchFamily="49" charset="0"/>
                <a:ea typeface="JetBrains Mono" pitchFamily="49" charset="-122"/>
                <a:cs typeface="JetBrains Mono" pitchFamily="49" charset="-120"/>
              </a:rPr>
              <a:t>f"Salaire prédit : {charge.predict(nouveau)[0]:,.0f} FCFA"</a:t>
            </a:r>
            <a:r>
              <a:rPr lang="en-US" sz="900" dirty="0">
                <a:solidFill>
                  <a:srgbClr val="2B211B"/>
                </a:solidFill>
                <a:latin typeface="JetBrains Mono" pitchFamily="49" charset="0"/>
                <a:ea typeface="JetBrains Mono" pitchFamily="49" charset="-122"/>
                <a:cs typeface="JetBrains Mono" pitchFamily="49" charset="-120"/>
              </a:rPr>
              <a:t>)</a:t>
            </a:r>
            <a:endParaRPr lang="en-US" sz="900" dirty="0"/>
          </a:p>
        </p:txBody>
      </p:sp>
      <p:sp>
        <p:nvSpPr>
          <p:cNvPr id="12" name="Shape 10"/>
          <p:cNvSpPr/>
          <p:nvPr/>
        </p:nvSpPr>
        <p:spPr>
          <a:xfrm>
            <a:off x="812780" y="3345000"/>
            <a:ext cx="3155930" cy="430000"/>
          </a:xfrm>
          <a:prstGeom prst="roundRect">
            <a:avLst>
              <a:gd name="adj" fmla="val 29167"/>
            </a:avLst>
          </a:prstGeom>
          <a:solidFill>
            <a:srgbClr val="ECE6D8"/>
          </a:solidFill>
          <a:ln/>
        </p:spPr>
      </p:sp>
      <p:sp>
        <p:nvSpPr>
          <p:cNvPr id="13" name="Shape 11"/>
          <p:cNvSpPr/>
          <p:nvPr/>
        </p:nvSpPr>
        <p:spPr>
          <a:xfrm>
            <a:off x="812780" y="3345000"/>
            <a:ext cx="3155930" cy="430000"/>
          </a:xfrm>
          <a:custGeom>
            <a:avLst/>
            <a:gdLst/>
            <a:ahLst/>
            <a:cxnLst/>
            <a:rect l="l" t="t" r="r" b="b"/>
            <a:pathLst>
              <a:path w="3155930" h="304800">
                <a:moveTo>
                  <a:pt x="88900" y="304800"/>
                </a:moveTo>
                <a:lnTo>
                  <a:pt x="88900" y="304800"/>
                </a:lnTo>
                <a:arcTo wR="88900" hR="88900" stAng="5400000" swAng="5400000"/>
                <a:lnTo>
                  <a:pt x="0" y="88900"/>
                </a:lnTo>
                <a:arcTo wR="88900" hR="88900" stAng="10800000" swAng="5400000"/>
                <a:lnTo>
                  <a:pt x="88900" y="0"/>
                </a:lnTo>
                <a:arcTo wR="38100" hR="88900" stAng="16200000" swAng="-5400000"/>
                <a:lnTo>
                  <a:pt x="50800" y="215900"/>
                </a:lnTo>
                <a:arcTo wR="38100" hR="88900" stAng="10800000" swAng="-5400000"/>
                <a:close/>
              </a:path>
            </a:pathLst>
          </a:custGeom>
          <a:solidFill>
            <a:srgbClr val="B3A892"/>
          </a:solidFill>
          <a:ln/>
        </p:spPr>
      </p:sp>
      <p:sp>
        <p:nvSpPr>
          <p:cNvPr id="14" name="Text 12"/>
          <p:cNvSpPr/>
          <p:nvPr/>
        </p:nvSpPr>
        <p:spPr>
          <a:xfrm>
            <a:off x="1065490" y="3385000"/>
            <a:ext cx="2781041" cy="145000"/>
          </a:xfrm>
          <a:prstGeom prst="rect">
            <a:avLst/>
          </a:prstGeom>
          <a:noFill/>
          <a:ln/>
        </p:spPr>
        <p:txBody>
          <a:bodyPr wrap="none" lIns="0" tIns="0" rIns="0" bIns="0" rtlCol="0" anchor="t">
            <a:normAutofit/>
          </a:bodyPr>
          <a:lstStyle/>
          <a:p>
            <a:pPr marL="0" indent="0" algn="l">
              <a:lnSpc>
                <a:spcPts val="972"/>
              </a:lnSpc>
              <a:buNone/>
            </a:pPr>
            <a:r>
              <a:rPr lang="en-US" sz="950" dirty="0">
                <a:solidFill>
                  <a:srgbClr val="2B211B"/>
                </a:solidFill>
                <a:latin typeface="JetBrains Mono" pitchFamily="49" charset="0"/>
                <a:ea typeface="JetBrains Mono" pitchFamily="49" charset="-122"/>
                <a:cs typeface="JetBrains Mono" pitchFamily="49" charset="-120"/>
              </a:rPr>
              <a:t>Salaire prédit : 860,119 FCFA</a:t>
            </a:r>
            <a:endParaRPr lang="en-US" sz="950" dirty="0"/>
          </a:p>
        </p:txBody>
      </p:sp>
      <p:sp>
        <p:nvSpPr>
          <p:cNvPr id="15" name="Text 13"/>
          <p:cNvSpPr/>
          <p:nvPr/>
        </p:nvSpPr>
        <p:spPr>
          <a:xfrm>
            <a:off x="4222671" y="3555000"/>
            <a:ext cx="7371246" cy="145000"/>
          </a:xfrm>
          <a:prstGeom prst="rect">
            <a:avLst/>
          </a:prstGeom>
          <a:noFill/>
          <a:ln/>
        </p:spPr>
        <p:txBody>
          <a:bodyPr wrap="square" lIns="0" tIns="0" rIns="0" bIns="0" rtlCol="0" anchor="t">
            <a:normAutofit/>
          </a:bodyPr>
          <a:lstStyle/>
          <a:p>
            <a:pPr marL="0" indent="0" algn="l">
              <a:lnSpc>
                <a:spcPts val="1176"/>
              </a:lnSpc>
              <a:buNone/>
            </a:pPr>
            <a:r>
              <a:rPr lang="en-US" sz="950" dirty="0">
                <a:solidFill>
                  <a:srgbClr val="2B211B"/>
                </a:solidFill>
                <a:latin typeface="Space Grotesk" pitchFamily="34" charset="0"/>
                <a:ea typeface="Space Grotesk" pitchFamily="34" charset="-122"/>
                <a:cs typeface="Space Grotesk" pitchFamily="34" charset="-120"/>
              </a:rPr>
              <a:t>Le pipeline entier voyage : </a:t>
            </a:r>
            <a:r>
              <a:rPr lang="en-US" sz="950" b="1" dirty="0">
                <a:solidFill>
                  <a:srgbClr val="9A5414"/>
                </a:solidFill>
                <a:latin typeface="Space Grotesk" pitchFamily="34" charset="0"/>
                <a:ea typeface="Space Grotesk" pitchFamily="34" charset="-122"/>
                <a:cs typeface="Space Grotesk" pitchFamily="34" charset="-120"/>
              </a:rPr>
              <a:t>prétraitement + modèle</a:t>
            </a:r>
            <a:r>
              <a:rPr lang="en-US" sz="950" dirty="0">
                <a:solidFill>
                  <a:srgbClr val="2B211B"/>
                </a:solidFill>
                <a:latin typeface="Space Grotesk" pitchFamily="34" charset="0"/>
                <a:ea typeface="Space Grotesk" pitchFamily="34" charset="-122"/>
                <a:cs typeface="Space Grotesk" pitchFamily="34" charset="-120"/>
              </a:rPr>
              <a:t>. Même version de scikit-learn au chargement.</a:t>
            </a:r>
            <a:endParaRPr lang="en-US" sz="950" dirty="0"/>
          </a:p>
        </p:txBody>
      </p:sp>
      <p:pic>
        <p:nvPicPr>
          <p:cNvPr id="16"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17" name="Text 14"/>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8" name="Text 15"/>
          <p:cNvSpPr/>
          <p:nvPr/>
        </p:nvSpPr>
        <p:spPr>
          <a:xfrm>
            <a:off x="10817662" y="6256040"/>
            <a:ext cx="56149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37 / 41</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BONNES PRATIQUES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Check-list de l'expert</a:t>
            </a:r>
            <a:endParaRPr lang="en-US" sz="3200" dirty="0"/>
          </a:p>
        </p:txBody>
      </p:sp>
      <p:sp>
        <p:nvSpPr>
          <p:cNvPr id="4" name="Shape 2"/>
          <p:cNvSpPr/>
          <p:nvPr/>
        </p:nvSpPr>
        <p:spPr>
          <a:xfrm>
            <a:off x="812780" y="1803326"/>
            <a:ext cx="3403640" cy="1432381"/>
          </a:xfrm>
          <a:prstGeom prst="roundRect">
            <a:avLst>
              <a:gd name="adj" fmla="val 8866"/>
            </a:avLst>
          </a:prstGeom>
          <a:solidFill>
            <a:srgbClr val="FFFFFF"/>
          </a:solidFill>
          <a:ln/>
        </p:spPr>
      </p:sp>
      <p:sp>
        <p:nvSpPr>
          <p:cNvPr id="5" name="Shape 3"/>
          <p:cNvSpPr/>
          <p:nvPr/>
        </p:nvSpPr>
        <p:spPr>
          <a:xfrm>
            <a:off x="812780" y="1803326"/>
            <a:ext cx="3403640" cy="1432381"/>
          </a:xfrm>
          <a:custGeom>
            <a:avLst/>
            <a:gdLst/>
            <a:ahLst/>
            <a:cxnLst/>
            <a:rect l="l" t="t" r="r" b="b"/>
            <a:pathLst>
              <a:path w="3403640" h="143238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C0392B"/>
          </a:solidFill>
          <a:ln/>
        </p:spPr>
      </p:sp>
      <p:sp>
        <p:nvSpPr>
          <p:cNvPr id="6" name="Text 4"/>
          <p:cNvSpPr/>
          <p:nvPr/>
        </p:nvSpPr>
        <p:spPr>
          <a:xfrm>
            <a:off x="1041380" y="2081461"/>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Fuite</a:t>
            </a:r>
            <a:endParaRPr lang="en-US" sz="1700" dirty="0"/>
          </a:p>
        </p:txBody>
      </p:sp>
      <p:sp>
        <p:nvSpPr>
          <p:cNvPr id="7" name="Text 5"/>
          <p:cNvSpPr/>
          <p:nvPr/>
        </p:nvSpPr>
        <p:spPr>
          <a:xfrm>
            <a:off x="1041380" y="2429421"/>
            <a:ext cx="3034833"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Tout prétraitement appris dans le Pipeline, jamais avant le découpage.</a:t>
            </a:r>
            <a:endParaRPr lang="en-US" sz="1300" dirty="0"/>
          </a:p>
        </p:txBody>
      </p:sp>
      <p:sp>
        <p:nvSpPr>
          <p:cNvPr id="8" name="Shape 6"/>
          <p:cNvSpPr/>
          <p:nvPr/>
        </p:nvSpPr>
        <p:spPr>
          <a:xfrm>
            <a:off x="812780" y="3388122"/>
            <a:ext cx="3403640" cy="1432441"/>
          </a:xfrm>
          <a:prstGeom prst="roundRect">
            <a:avLst>
              <a:gd name="adj" fmla="val 8866"/>
            </a:avLst>
          </a:prstGeom>
          <a:solidFill>
            <a:srgbClr val="FFFFFF"/>
          </a:solidFill>
          <a:ln/>
        </p:spPr>
      </p:sp>
      <p:sp>
        <p:nvSpPr>
          <p:cNvPr id="9" name="Shape 7"/>
          <p:cNvSpPr/>
          <p:nvPr/>
        </p:nvSpPr>
        <p:spPr>
          <a:xfrm>
            <a:off x="812780" y="3388122"/>
            <a:ext cx="3403640" cy="1432441"/>
          </a:xfrm>
          <a:custGeom>
            <a:avLst/>
            <a:gdLst/>
            <a:ahLst/>
            <a:cxnLst/>
            <a:rect l="l" t="t" r="r" b="b"/>
            <a:pathLst>
              <a:path w="3403640" h="143244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C0392B"/>
          </a:solidFill>
          <a:ln/>
        </p:spPr>
      </p:sp>
      <p:sp>
        <p:nvSpPr>
          <p:cNvPr id="10" name="Text 8"/>
          <p:cNvSpPr/>
          <p:nvPr/>
        </p:nvSpPr>
        <p:spPr>
          <a:xfrm>
            <a:off x="1041380" y="3666232"/>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Temps</a:t>
            </a:r>
            <a:endParaRPr lang="en-US" sz="1700" dirty="0"/>
          </a:p>
        </p:txBody>
      </p:sp>
      <p:sp>
        <p:nvSpPr>
          <p:cNvPr id="11" name="Text 9"/>
          <p:cNvSpPr/>
          <p:nvPr/>
        </p:nvSpPr>
        <p:spPr>
          <a:xfrm>
            <a:off x="1041380" y="4014192"/>
            <a:ext cx="3034833"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Données datées : TimeSeriesSplit, et le test est la période la plus récente.</a:t>
            </a:r>
            <a:endParaRPr lang="en-US" sz="1300" dirty="0"/>
          </a:p>
        </p:txBody>
      </p:sp>
      <p:sp>
        <p:nvSpPr>
          <p:cNvPr id="12" name="Shape 10"/>
          <p:cNvSpPr/>
          <p:nvPr/>
        </p:nvSpPr>
        <p:spPr>
          <a:xfrm>
            <a:off x="4394180" y="1803326"/>
            <a:ext cx="3403640" cy="1432381"/>
          </a:xfrm>
          <a:prstGeom prst="roundRect">
            <a:avLst>
              <a:gd name="adj" fmla="val 8866"/>
            </a:avLst>
          </a:prstGeom>
          <a:solidFill>
            <a:srgbClr val="FFFFFF"/>
          </a:solidFill>
          <a:ln/>
        </p:spPr>
      </p:sp>
      <p:sp>
        <p:nvSpPr>
          <p:cNvPr id="13" name="Shape 11"/>
          <p:cNvSpPr/>
          <p:nvPr/>
        </p:nvSpPr>
        <p:spPr>
          <a:xfrm>
            <a:off x="4394180" y="1803326"/>
            <a:ext cx="3403640" cy="1432381"/>
          </a:xfrm>
          <a:custGeom>
            <a:avLst/>
            <a:gdLst/>
            <a:ahLst/>
            <a:cxnLst/>
            <a:rect l="l" t="t" r="r" b="b"/>
            <a:pathLst>
              <a:path w="3403640" h="143238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E3A23B"/>
          </a:solidFill>
          <a:ln/>
        </p:spPr>
      </p:sp>
      <p:sp>
        <p:nvSpPr>
          <p:cNvPr id="14" name="Text 12"/>
          <p:cNvSpPr/>
          <p:nvPr/>
        </p:nvSpPr>
        <p:spPr>
          <a:xfrm>
            <a:off x="4622780" y="2081461"/>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Test unique</a:t>
            </a:r>
            <a:endParaRPr lang="en-US" sz="1700" dirty="0"/>
          </a:p>
        </p:txBody>
      </p:sp>
      <p:sp>
        <p:nvSpPr>
          <p:cNvPr id="15" name="Text 13"/>
          <p:cNvSpPr/>
          <p:nvPr/>
        </p:nvSpPr>
        <p:spPr>
          <a:xfrm>
            <a:off x="4622780" y="2429421"/>
            <a:ext cx="3034833"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Évaluer une fois le modèle figé. Toute décision fondée sur le test crée une fuite.</a:t>
            </a:r>
            <a:endParaRPr lang="en-US" sz="1300" dirty="0"/>
          </a:p>
        </p:txBody>
      </p:sp>
      <p:sp>
        <p:nvSpPr>
          <p:cNvPr id="16" name="Shape 14"/>
          <p:cNvSpPr/>
          <p:nvPr/>
        </p:nvSpPr>
        <p:spPr>
          <a:xfrm>
            <a:off x="4394180" y="3388122"/>
            <a:ext cx="3403640" cy="1432441"/>
          </a:xfrm>
          <a:prstGeom prst="roundRect">
            <a:avLst>
              <a:gd name="adj" fmla="val 8866"/>
            </a:avLst>
          </a:prstGeom>
          <a:solidFill>
            <a:srgbClr val="FFFFFF"/>
          </a:solidFill>
          <a:ln/>
        </p:spPr>
      </p:sp>
      <p:sp>
        <p:nvSpPr>
          <p:cNvPr id="17" name="Shape 15"/>
          <p:cNvSpPr/>
          <p:nvPr/>
        </p:nvSpPr>
        <p:spPr>
          <a:xfrm>
            <a:off x="4394180" y="3388122"/>
            <a:ext cx="3403640" cy="1432441"/>
          </a:xfrm>
          <a:custGeom>
            <a:avLst/>
            <a:gdLst/>
            <a:ahLst/>
            <a:cxnLst/>
            <a:rect l="l" t="t" r="r" b="b"/>
            <a:pathLst>
              <a:path w="3403640" h="143244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E3A23B"/>
          </a:solidFill>
          <a:ln/>
        </p:spPr>
      </p:sp>
      <p:sp>
        <p:nvSpPr>
          <p:cNvPr id="18" name="Text 16"/>
          <p:cNvSpPr/>
          <p:nvPr/>
        </p:nvSpPr>
        <p:spPr>
          <a:xfrm>
            <a:off x="4622780" y="3666232"/>
            <a:ext cx="3034833" cy="253048"/>
          </a:xfrm>
          <a:prstGeom prst="rect">
            <a:avLst/>
          </a:prstGeom>
          <a:noFill/>
          <a:ln/>
        </p:spPr>
        <p:txBody>
          <a:bodyPr wrap="square" lIns="0" tIns="0" rIns="0" bIns="0" rtlCol="0" anchor="t">
            <a:normAutofit/>
          </a:bodyPr>
          <a:lstStyle/>
          <a:p>
            <a:pPr marL="0" indent="0" algn="l">
              <a:lnSpc>
                <a:spcPts val="1823"/>
              </a:lnSpc>
              <a:buNone/>
            </a:pPr>
            <a:r>
              <a:rPr lang="en-US" sz="1519" b="1" dirty="0">
                <a:solidFill>
                  <a:srgbClr val="2B211B"/>
                </a:solidFill>
                <a:latin typeface="Space Grotesk" pitchFamily="34" charset="0"/>
                <a:ea typeface="Space Grotesk" pitchFamily="34" charset="-122"/>
                <a:cs typeface="Space Grotesk" pitchFamily="34" charset="-120"/>
              </a:rPr>
              <a:t>Métrique</a:t>
            </a:r>
            <a:endParaRPr lang="en-US" sz="1519" dirty="0"/>
          </a:p>
        </p:txBody>
      </p:sp>
      <p:sp>
        <p:nvSpPr>
          <p:cNvPr id="19" name="Text 17"/>
          <p:cNvSpPr/>
          <p:nvPr/>
        </p:nvSpPr>
        <p:spPr>
          <a:xfrm>
            <a:off x="4622780" y="3982765"/>
            <a:ext cx="3034833" cy="634583"/>
          </a:xfrm>
          <a:prstGeom prst="rect">
            <a:avLst/>
          </a:prstGeom>
          <a:noFill/>
          <a:ln/>
        </p:spPr>
        <p:txBody>
          <a:bodyPr wrap="square" lIns="0" tIns="0" rIns="0" bIns="0" rtlCol="0" anchor="t">
            <a:normAutofit/>
          </a:bodyPr>
          <a:lstStyle/>
          <a:p>
            <a:pPr marL="0" indent="0" algn="l">
              <a:lnSpc>
                <a:spcPts val="1604"/>
              </a:lnSpc>
              <a:buNone/>
            </a:pPr>
            <a:r>
              <a:rPr lang="en-US" sz="1146" dirty="0">
                <a:solidFill>
                  <a:srgbClr val="6B6158"/>
                </a:solidFill>
                <a:latin typeface="Space Grotesk" pitchFamily="34" charset="0"/>
                <a:ea typeface="Space Grotesk" pitchFamily="34" charset="-122"/>
                <a:cs typeface="Space Grotesk" pitchFamily="34" charset="-120"/>
              </a:rPr>
              <a:t>Choisie selon le coût métier. L'exactitude trompe dès que les classes sont déséquilibrées.</a:t>
            </a:r>
            <a:endParaRPr lang="en-US" sz="1146" dirty="0"/>
          </a:p>
        </p:txBody>
      </p:sp>
      <p:sp>
        <p:nvSpPr>
          <p:cNvPr id="20" name="Shape 18"/>
          <p:cNvSpPr/>
          <p:nvPr/>
        </p:nvSpPr>
        <p:spPr>
          <a:xfrm>
            <a:off x="7975581" y="1803326"/>
            <a:ext cx="3403640" cy="1432381"/>
          </a:xfrm>
          <a:prstGeom prst="roundRect">
            <a:avLst>
              <a:gd name="adj" fmla="val 8866"/>
            </a:avLst>
          </a:prstGeom>
          <a:solidFill>
            <a:srgbClr val="FFFFFF"/>
          </a:solidFill>
          <a:ln/>
        </p:spPr>
      </p:sp>
      <p:sp>
        <p:nvSpPr>
          <p:cNvPr id="21" name="Shape 19"/>
          <p:cNvSpPr/>
          <p:nvPr/>
        </p:nvSpPr>
        <p:spPr>
          <a:xfrm>
            <a:off x="7975581" y="1803326"/>
            <a:ext cx="3403640" cy="1432381"/>
          </a:xfrm>
          <a:custGeom>
            <a:avLst/>
            <a:gdLst/>
            <a:ahLst/>
            <a:cxnLst/>
            <a:rect l="l" t="t" r="r" b="b"/>
            <a:pathLst>
              <a:path w="3403640" h="143238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9A5414"/>
          </a:solidFill>
          <a:ln/>
        </p:spPr>
      </p:sp>
      <p:sp>
        <p:nvSpPr>
          <p:cNvPr id="22" name="Text 20"/>
          <p:cNvSpPr/>
          <p:nvPr/>
        </p:nvSpPr>
        <p:spPr>
          <a:xfrm>
            <a:off x="8204181" y="2081461"/>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Référence</a:t>
            </a:r>
            <a:endParaRPr lang="en-US" sz="1700" dirty="0"/>
          </a:p>
        </p:txBody>
      </p:sp>
      <p:sp>
        <p:nvSpPr>
          <p:cNvPr id="23" name="Text 21"/>
          <p:cNvSpPr/>
          <p:nvPr/>
        </p:nvSpPr>
        <p:spPr>
          <a:xfrm>
            <a:off x="8204181" y="2429421"/>
            <a:ext cx="3034833"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Toujours comparer à un modèle naïf : la classe majoritaire, la moyenne.</a:t>
            </a:r>
            <a:endParaRPr lang="en-US" sz="1300" dirty="0"/>
          </a:p>
        </p:txBody>
      </p:sp>
      <p:sp>
        <p:nvSpPr>
          <p:cNvPr id="24" name="Shape 22"/>
          <p:cNvSpPr/>
          <p:nvPr/>
        </p:nvSpPr>
        <p:spPr>
          <a:xfrm>
            <a:off x="7975581" y="3388122"/>
            <a:ext cx="3403640" cy="1432441"/>
          </a:xfrm>
          <a:prstGeom prst="roundRect">
            <a:avLst>
              <a:gd name="adj" fmla="val 8866"/>
            </a:avLst>
          </a:prstGeom>
          <a:solidFill>
            <a:srgbClr val="FFFFFF"/>
          </a:solidFill>
          <a:ln/>
        </p:spPr>
      </p:sp>
      <p:sp>
        <p:nvSpPr>
          <p:cNvPr id="25" name="Shape 23"/>
          <p:cNvSpPr/>
          <p:nvPr/>
        </p:nvSpPr>
        <p:spPr>
          <a:xfrm>
            <a:off x="7975581" y="3388122"/>
            <a:ext cx="3403640" cy="1432441"/>
          </a:xfrm>
          <a:custGeom>
            <a:avLst/>
            <a:gdLst/>
            <a:ahLst/>
            <a:cxnLst/>
            <a:rect l="l" t="t" r="r" b="b"/>
            <a:pathLst>
              <a:path w="3403640" h="1432441">
                <a:moveTo>
                  <a:pt x="0" y="127000"/>
                </a:moveTo>
                <a:lnTo>
                  <a:pt x="0" y="127000"/>
                </a:lnTo>
                <a:arcTo wR="127000" hR="127000" stAng="10800000" swAng="5400000"/>
                <a:lnTo>
                  <a:pt x="3276640" y="0"/>
                </a:lnTo>
                <a:arcTo wR="127000" hR="127000" stAng="16200000" swAng="5400000"/>
                <a:lnTo>
                  <a:pt x="3403640" y="127000"/>
                </a:lnTo>
                <a:arcTo wR="127000" hR="76200" stAng="0" swAng="-5400000"/>
                <a:lnTo>
                  <a:pt x="127000" y="50800"/>
                </a:lnTo>
                <a:arcTo wR="127000" hR="76200" stAng="16200000" swAng="-5400000"/>
                <a:close/>
              </a:path>
            </a:pathLst>
          </a:custGeom>
          <a:solidFill>
            <a:srgbClr val="9A5414"/>
          </a:solidFill>
          <a:ln/>
        </p:spPr>
      </p:sp>
      <p:sp>
        <p:nvSpPr>
          <p:cNvPr id="26" name="Text 24"/>
          <p:cNvSpPr/>
          <p:nvPr/>
        </p:nvSpPr>
        <p:spPr>
          <a:xfrm>
            <a:off x="8204181" y="3666232"/>
            <a:ext cx="303483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211B"/>
                </a:solidFill>
                <a:latin typeface="Space Grotesk" pitchFamily="34" charset="0"/>
                <a:ea typeface="Space Grotesk" pitchFamily="34" charset="-122"/>
                <a:cs typeface="Space Grotesk" pitchFamily="34" charset="-120"/>
              </a:rPr>
              <a:t>Pièges techniques</a:t>
            </a:r>
            <a:endParaRPr lang="en-US" sz="1700" dirty="0"/>
          </a:p>
        </p:txBody>
      </p:sp>
      <p:sp>
        <p:nvSpPr>
          <p:cNvPr id="27" name="Text 25"/>
          <p:cNvSpPr/>
          <p:nvPr/>
        </p:nvSpPr>
        <p:spPr>
          <a:xfrm>
            <a:off x="8204181" y="4014192"/>
            <a:ext cx="3034833"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158"/>
                </a:solidFill>
                <a:latin typeface="Space Grotesk" pitchFamily="34" charset="0"/>
                <a:ea typeface="Space Grotesk" pitchFamily="34" charset="-122"/>
                <a:cs typeface="Space Grotesk" pitchFamily="34" charset="-120"/>
              </a:rPr>
              <a:t>OneHotEncoder dense avant HGB, random_state fixé, versions notées.</a:t>
            </a:r>
            <a:endParaRPr lang="en-US" sz="1300" dirty="0"/>
          </a:p>
        </p:txBody>
      </p:sp>
      <p:pic>
        <p:nvPicPr>
          <p:cNvPr id="28"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29" name="Text 26"/>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30" name="Text 27"/>
          <p:cNvSpPr/>
          <p:nvPr/>
        </p:nvSpPr>
        <p:spPr>
          <a:xfrm>
            <a:off x="10806875" y="6256040"/>
            <a:ext cx="57228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38 / 41</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BONNES PRATIQUES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Aide-mémoire scikit-learn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814756"/>
          <a:ext cx="10554951" cy="3991928"/>
        </p:xfrm>
        <a:graphic>
          <a:graphicData uri="http://schemas.openxmlformats.org/drawingml/2006/table">
            <a:tbl>
              <a:tblPr/>
              <a:tblGrid>
                <a:gridCol w="4221980">
                  <a:extLst>
                    <a:ext uri="{9D8B030D-6E8A-4147-A177-3AD203B41FA5}">
                      <a16:colId xmlns:a16="http://schemas.microsoft.com/office/drawing/2014/main" val="20000"/>
                    </a:ext>
                  </a:extLst>
                </a:gridCol>
                <a:gridCol w="6332970">
                  <a:extLst>
                    <a:ext uri="{9D8B030D-6E8A-4147-A177-3AD203B41FA5}">
                      <a16:colId xmlns:a16="http://schemas.microsoft.com/office/drawing/2014/main" val="20001"/>
                    </a:ext>
                  </a:extLst>
                </a:gridCol>
              </a:tblGrid>
              <a:tr h="498991">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Besoin</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marL="0" indent="0">
                        <a:lnSpc>
                          <a:spcPts val="2240"/>
                        </a:lnSpc>
                        <a:buNone/>
                      </a:pPr>
                      <a:r>
                        <a:rPr lang="en-US" sz="1600" b="1" dirty="0">
                          <a:solidFill>
                            <a:srgbClr val="4A2F20"/>
                          </a:solidFill>
                          <a:latin typeface="Space Grotesk" pitchFamily="34" charset="0"/>
                          <a:ea typeface="Space Grotesk" pitchFamily="34" charset="-122"/>
                          <a:cs typeface="Space Grotesk" pitchFamily="34" charset="-120"/>
                        </a:rPr>
                        <a:t>Outil</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extLst>
                  <a:ext uri="{0D108BD9-81ED-4DB2-BD59-A6C34878D82A}">
                    <a16:rowId xmlns:a16="http://schemas.microsoft.com/office/drawing/2014/main" val="10000"/>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Prétraiter par type de colonne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ColumnTransformer · make_pipeline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Valider et comparer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cross_validate · KFold · TimeSeriesSplit</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Optimiser les hyperparamètres</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RandomizedSearchCV · loguniform · randint</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Régler le seuil · calibrer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TunedThresholdClassifierCV · CalibratedClassifierCV</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Diagnostiquer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validation_curve · learning_curve</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Expliquer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permutation_importance · get_feature_names_out</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6"/>
                  </a:ext>
                </a:extLst>
              </a:tr>
              <a:tr h="498991">
                <a:tc>
                  <a:txBody>
                    <a:bodyPr/>
                    <a:lstStyle/>
                    <a:p>
                      <a:pPr marL="0" indent="0">
                        <a:lnSpc>
                          <a:spcPts val="2240"/>
                        </a:lnSpc>
                        <a:buNone/>
                      </a:pPr>
                      <a:r>
                        <a:rPr lang="en-US" sz="1600" dirty="0">
                          <a:solidFill>
                            <a:srgbClr val="6B6158"/>
                          </a:solidFill>
                          <a:latin typeface="Space Grotesk" pitchFamily="34" charset="0"/>
                          <a:ea typeface="Space Grotesk" pitchFamily="34" charset="-122"/>
                          <a:cs typeface="Space Grotesk" pitchFamily="34" charset="-120"/>
                        </a:rPr>
                        <a:t>Sauvegarder</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240"/>
                        </a:lnSpc>
                        <a:buNone/>
                      </a:pPr>
                      <a:r>
                        <a:rPr lang="en-US" sz="1600" dirty="0">
                          <a:solidFill>
                            <a:srgbClr val="2B211B"/>
                          </a:solidFill>
                          <a:latin typeface="Space Grotesk" pitchFamily="34" charset="0"/>
                          <a:ea typeface="Space Grotesk" pitchFamily="34" charset="-122"/>
                          <a:cs typeface="Space Grotesk" pitchFamily="34" charset="-120"/>
                        </a:rPr>
                        <a:t>joblib.dump · joblib.load</a:t>
                      </a:r>
                      <a:endParaRPr lang="en-US" sz="1600" dirty="0">
                        <a:latin typeface="Space Grotesk" charset="0"/>
                        <a:ea typeface="Space Grotesk" charset="0"/>
                        <a:cs typeface="Space Grotesk" charset="0"/>
                      </a:endParaRPr>
                    </a:p>
                  </a:txBody>
                  <a:tcPr marL="139700" marR="139700" marT="101600" marB="10160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5"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6" name="Text 2"/>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7" name="Text 3"/>
          <p:cNvSpPr/>
          <p:nvPr/>
        </p:nvSpPr>
        <p:spPr>
          <a:xfrm>
            <a:off x="10808875" y="6256040"/>
            <a:ext cx="57028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39 / 41</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TRAVAUX PRATIQUES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TP4 : prédire la Ligue Pro</a:t>
            </a:r>
            <a:endParaRPr lang="en-US" sz="3200" dirty="0"/>
          </a:p>
        </p:txBody>
      </p:sp>
      <p:sp>
        <p:nvSpPr>
          <p:cNvPr id="4" name="Text 2"/>
          <p:cNvSpPr/>
          <p:nvPr/>
        </p:nvSpPr>
        <p:spPr>
          <a:xfrm>
            <a:off x="812780" y="1803326"/>
            <a:ext cx="5974073" cy="30984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211B"/>
                </a:solidFill>
                <a:latin typeface="Space Grotesk" pitchFamily="34" charset="0"/>
                <a:ea typeface="Space Grotesk" pitchFamily="34" charset="-122"/>
                <a:cs typeface="Space Grotesk" pitchFamily="34" charset="-120"/>
              </a:rPr>
              <a:t>En binôme · niveau expert</a:t>
            </a:r>
            <a:endParaRPr lang="en-US" sz="1600" dirty="0"/>
          </a:p>
        </p:txBody>
      </p:sp>
      <p:sp>
        <p:nvSpPr>
          <p:cNvPr id="5" name="Text 3"/>
          <p:cNvSpPr/>
          <p:nvPr/>
        </p:nvSpPr>
        <p:spPr>
          <a:xfrm>
            <a:off x="897362" y="2214761"/>
            <a:ext cx="5881871" cy="10922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2B211B"/>
                </a:solidFill>
                <a:latin typeface="Space Grotesk" pitchFamily="34" charset="0"/>
                <a:ea typeface="Space Grotesk" pitchFamily="34" charset="-122"/>
                <a:cs typeface="Space Grotesk" pitchFamily="34" charset="-120"/>
              </a:rPr>
              <a:t>Variables sans fuite : forme récente, Elo, masse salariale</a:t>
            </a:r>
            <a:endParaRPr lang="en-US" sz="1400" dirty="0"/>
          </a:p>
          <a:p>
            <a:pPr marL="169418" indent="-169418" algn="l">
              <a:lnSpc>
                <a:spcPts val="2100"/>
              </a:lnSpc>
              <a:buSzPct val="100000"/>
              <a:buChar char="•"/>
            </a:pPr>
            <a:r>
              <a:rPr lang="en-US" sz="1400" dirty="0">
                <a:solidFill>
                  <a:srgbClr val="2B211B"/>
                </a:solidFill>
                <a:latin typeface="Space Grotesk" pitchFamily="34" charset="0"/>
                <a:ea typeface="Space Grotesk" pitchFamily="34" charset="-122"/>
                <a:cs typeface="Space Grotesk" pitchFamily="34" charset="-120"/>
              </a:rPr>
              <a:t>Références naïves, puis LogReg, forêt et HGB optimisés</a:t>
            </a:r>
            <a:endParaRPr lang="en-US" sz="1400" dirty="0"/>
          </a:p>
          <a:p>
            <a:pPr marL="169418" indent="-169418" algn="l">
              <a:lnSpc>
                <a:spcPts val="2100"/>
              </a:lnSpc>
              <a:buSzPct val="100000"/>
              <a:buChar char="•"/>
            </a:pPr>
            <a:r>
              <a:rPr lang="en-US" sz="1400" dirty="0">
                <a:solidFill>
                  <a:srgbClr val="2B211B"/>
                </a:solidFill>
                <a:latin typeface="Space Grotesk" pitchFamily="34" charset="0"/>
                <a:ea typeface="Space Grotesk" pitchFamily="34" charset="-122"/>
                <a:cs typeface="Space Grotesk" pitchFamily="34" charset="-120"/>
              </a:rPr>
              <a:t>Modèle de Poisson sur les buts, probabilités calibrées</a:t>
            </a:r>
            <a:endParaRPr lang="en-US" sz="1400" dirty="0"/>
          </a:p>
          <a:p>
            <a:pPr marL="169418" indent="-169418" algn="l">
              <a:lnSpc>
                <a:spcPts val="2100"/>
              </a:lnSpc>
              <a:buSzPct val="100000"/>
              <a:buChar char="•"/>
            </a:pPr>
            <a:r>
              <a:rPr lang="en-US" sz="1400" dirty="0">
                <a:solidFill>
                  <a:srgbClr val="2B211B"/>
                </a:solidFill>
                <a:latin typeface="Space Grotesk" pitchFamily="34" charset="0"/>
                <a:ea typeface="Space Grotesk" pitchFamily="34" charset="-122"/>
                <a:cs typeface="Space Grotesk" pitchFamily="34" charset="-120"/>
              </a:rPr>
              <a:t>Interprétation et simulation Monte Carlo de 2025-2026</a:t>
            </a:r>
            <a:endParaRPr lang="en-US" sz="1400" dirty="0"/>
          </a:p>
        </p:txBody>
      </p:sp>
      <p:sp>
        <p:nvSpPr>
          <p:cNvPr id="6" name="Text 4"/>
          <p:cNvSpPr/>
          <p:nvPr/>
        </p:nvSpPr>
        <p:spPr>
          <a:xfrm>
            <a:off x="6917651" y="1803326"/>
            <a:ext cx="4461570" cy="802600"/>
          </a:xfrm>
          <a:prstGeom prst="roundRect">
            <a:avLst>
              <a:gd name="adj" fmla="val 12659"/>
            </a:avLst>
          </a:prstGeom>
          <a:solidFill>
            <a:srgbClr val="FFFFFF"/>
          </a:solidFill>
          <a:ln/>
        </p:spPr>
        <p:txBody>
          <a:bodyPr wrap="square" lIns="222953" tIns="122642" rIns="53252"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Entraînement : 2023-24 et 2024-25. Test : </a:t>
            </a:r>
            <a:r>
              <a:rPr lang="en-US" sz="1400" b="1" dirty="0">
                <a:solidFill>
                  <a:srgbClr val="9A5414"/>
                </a:solidFill>
                <a:latin typeface="Space Grotesk" pitchFamily="34" charset="0"/>
                <a:ea typeface="Space Grotesk" pitchFamily="34" charset="-122"/>
                <a:cs typeface="Space Grotesk" pitchFamily="34" charset="-120"/>
              </a:rPr>
              <a:t>2025-26</a:t>
            </a:r>
            <a:r>
              <a:rPr lang="en-US" sz="1400" dirty="0">
                <a:solidFill>
                  <a:srgbClr val="2B211B"/>
                </a:solidFill>
                <a:latin typeface="Space Grotesk" pitchFamily="34" charset="0"/>
                <a:ea typeface="Space Grotesk" pitchFamily="34" charset="-122"/>
                <a:cs typeface="Space Grotesk" pitchFamily="34" charset="-120"/>
              </a:rPr>
              <a:t>, utilisé une seule fois.</a:t>
            </a:r>
            <a:endParaRPr lang="en-US" sz="1400" dirty="0"/>
          </a:p>
        </p:txBody>
      </p:sp>
      <p:sp>
        <p:nvSpPr>
          <p:cNvPr id="7" name="Shape 5"/>
          <p:cNvSpPr/>
          <p:nvPr/>
        </p:nvSpPr>
        <p:spPr>
          <a:xfrm>
            <a:off x="6917651" y="1803326"/>
            <a:ext cx="4461570" cy="802600"/>
          </a:xfrm>
          <a:custGeom>
            <a:avLst/>
            <a:gdLst/>
            <a:ahLst/>
            <a:cxnLst/>
            <a:rect l="l" t="t" r="r" b="b"/>
            <a:pathLst>
              <a:path w="4461570"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C0392B"/>
          </a:solidFill>
          <a:ln/>
        </p:spPr>
      </p:sp>
      <p:sp>
        <p:nvSpPr>
          <p:cNvPr id="8" name="Text 6"/>
          <p:cNvSpPr/>
          <p:nvPr/>
        </p:nvSpPr>
        <p:spPr>
          <a:xfrm>
            <a:off x="6917651" y="2732906"/>
            <a:ext cx="4461570" cy="802600"/>
          </a:xfrm>
          <a:prstGeom prst="roundRect">
            <a:avLst>
              <a:gd name="adj" fmla="val 12659"/>
            </a:avLst>
          </a:prstGeom>
          <a:solidFill>
            <a:srgbClr val="FFFFFF"/>
          </a:solidFill>
          <a:ln/>
        </p:spPr>
        <p:txBody>
          <a:bodyPr wrap="square" lIns="222953" tIns="122642" rIns="53252"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Métrique principale : </a:t>
            </a:r>
            <a:r>
              <a:rPr lang="en-US" sz="1400" b="1" dirty="0">
                <a:solidFill>
                  <a:srgbClr val="9A5414"/>
                </a:solidFill>
                <a:latin typeface="Space Grotesk" pitchFamily="34" charset="0"/>
                <a:ea typeface="Space Grotesk" pitchFamily="34" charset="-122"/>
                <a:cs typeface="Space Grotesk" pitchFamily="34" charset="-120"/>
              </a:rPr>
              <a:t>log-loss</a:t>
            </a:r>
            <a:r>
              <a:rPr lang="en-US" sz="1400" dirty="0">
                <a:solidFill>
                  <a:srgbClr val="2B211B"/>
                </a:solidFill>
                <a:latin typeface="Space Grotesk" pitchFamily="34" charset="0"/>
                <a:ea typeface="Space Grotesk" pitchFamily="34" charset="-122"/>
                <a:cs typeface="Space Grotesk" pitchFamily="34" charset="-120"/>
              </a:rPr>
              <a:t>. À battre : 1,088 (fréquences des résultats).</a:t>
            </a:r>
            <a:endParaRPr lang="en-US" sz="1400" dirty="0"/>
          </a:p>
        </p:txBody>
      </p:sp>
      <p:sp>
        <p:nvSpPr>
          <p:cNvPr id="9" name="Shape 7"/>
          <p:cNvSpPr/>
          <p:nvPr/>
        </p:nvSpPr>
        <p:spPr>
          <a:xfrm>
            <a:off x="6917651" y="2732906"/>
            <a:ext cx="4461570" cy="802600"/>
          </a:xfrm>
          <a:custGeom>
            <a:avLst/>
            <a:gdLst/>
            <a:ahLst/>
            <a:cxnLst/>
            <a:rect l="l" t="t" r="r" b="b"/>
            <a:pathLst>
              <a:path w="4461570"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9A5414"/>
          </a:solidFill>
          <a:ln/>
        </p:spPr>
      </p:sp>
      <p:sp>
        <p:nvSpPr>
          <p:cNvPr id="10" name="Text 8"/>
          <p:cNvSpPr/>
          <p:nvPr/>
        </p:nvSpPr>
        <p:spPr>
          <a:xfrm>
            <a:off x="6917651" y="3662487"/>
            <a:ext cx="4461570" cy="802600"/>
          </a:xfrm>
          <a:prstGeom prst="roundRect">
            <a:avLst>
              <a:gd name="adj" fmla="val 12659"/>
            </a:avLst>
          </a:prstGeom>
          <a:solidFill>
            <a:srgbClr val="FFFFFF"/>
          </a:solidFill>
          <a:ln/>
        </p:spPr>
        <p:txBody>
          <a:bodyPr wrap="square" lIns="222953" tIns="122642" rIns="53252" bIns="97242" rtlCol="0" anchor="t">
            <a:normAutofit/>
          </a:bodyPr>
          <a:lstStyle/>
          <a:p>
            <a:pPr marL="0" indent="0" algn="l">
              <a:lnSpc>
                <a:spcPts val="1960"/>
              </a:lnSpc>
              <a:buNone/>
            </a:pPr>
            <a:r>
              <a:rPr lang="en-US" sz="1400" dirty="0">
                <a:solidFill>
                  <a:srgbClr val="2B211B"/>
                </a:solidFill>
                <a:latin typeface="Space Grotesk" pitchFamily="34" charset="0"/>
                <a:ea typeface="Space Grotesk" pitchFamily="34" charset="-122"/>
                <a:cs typeface="Space Grotesk" pitchFamily="34" charset="-120"/>
              </a:rPr>
              <a:t>Livrables : notebook reproductible et rapport de 4 pages.</a:t>
            </a:r>
            <a:endParaRPr lang="en-US" sz="1400" dirty="0"/>
          </a:p>
        </p:txBody>
      </p:sp>
      <p:sp>
        <p:nvSpPr>
          <p:cNvPr id="11" name="Shape 9"/>
          <p:cNvSpPr/>
          <p:nvPr/>
        </p:nvSpPr>
        <p:spPr>
          <a:xfrm>
            <a:off x="6917651" y="3662487"/>
            <a:ext cx="4461570" cy="802600"/>
          </a:xfrm>
          <a:custGeom>
            <a:avLst/>
            <a:gdLst/>
            <a:ahLst/>
            <a:cxnLst/>
            <a:rect l="l" t="t" r="r" b="b"/>
            <a:pathLst>
              <a:path w="4461570" h="802600">
                <a:moveTo>
                  <a:pt x="101600" y="802600"/>
                </a:moveTo>
                <a:lnTo>
                  <a:pt x="101600" y="802600"/>
                </a:lnTo>
                <a:arcTo wR="101600" hR="101600" stAng="5400000" swAng="5400000"/>
                <a:lnTo>
                  <a:pt x="0" y="101600"/>
                </a:lnTo>
                <a:arcTo wR="101600" hR="101600" stAng="10800000" swAng="5400000"/>
                <a:lnTo>
                  <a:pt x="101600" y="0"/>
                </a:lnTo>
                <a:arcTo wR="50800" hR="101600" stAng="16200000" swAng="-5400000"/>
                <a:lnTo>
                  <a:pt x="50800" y="701000"/>
                </a:lnTo>
                <a:arcTo wR="50800" hR="101600" stAng="10800000" swAng="-5400000"/>
                <a:close/>
              </a:path>
            </a:pathLst>
          </a:custGeom>
          <a:solidFill>
            <a:srgbClr val="E3A23B"/>
          </a:solidFill>
          <a:ln/>
        </p:spPr>
      </p:sp>
      <p:pic>
        <p:nvPicPr>
          <p:cNvPr id="12"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13" name="Text 10"/>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14" name="Text 11"/>
          <p:cNvSpPr/>
          <p:nvPr/>
        </p:nvSpPr>
        <p:spPr>
          <a:xfrm>
            <a:off x="10799732" y="6256040"/>
            <a:ext cx="57943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40 / 41</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EFE5D3"/>
        </a:solidFill>
        <a:effectLst/>
      </p:bgPr>
    </p:bg>
    <p:spTree>
      <p:nvGrpSpPr>
        <p:cNvPr id="1" name=""/>
        <p:cNvGrpSpPr/>
        <p:nvPr/>
      </p:nvGrpSpPr>
      <p:grpSpPr>
        <a:xfrm>
          <a:off x="0" y="0"/>
          <a:ext cx="0" cy="0"/>
          <a:chOff x="0" y="0"/>
          <a:chExt cx="0" cy="0"/>
        </a:xfrm>
      </p:grpSpPr>
      <p:sp>
        <p:nvSpPr>
          <p:cNvPr id="2" name="Text 0"/>
          <p:cNvSpPr/>
          <p:nvPr/>
        </p:nvSpPr>
        <p:spPr>
          <a:xfrm>
            <a:off x="812780" y="81280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A5414"/>
                </a:solidFill>
                <a:latin typeface="Space Grotesk" pitchFamily="34" charset="0"/>
                <a:ea typeface="Space Grotesk" pitchFamily="34" charset="-122"/>
                <a:cs typeface="Space Grotesk" pitchFamily="34" charset="-120"/>
              </a:rPr>
              <a:t>SYNTHÈSE</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2B211B"/>
                </a:solidFill>
                <a:latin typeface="Space Grotesk" pitchFamily="34" charset="0"/>
                <a:ea typeface="Space Grotesk" pitchFamily="34" charset="-122"/>
                <a:cs typeface="Space Grotesk" pitchFamily="34" charset="-120"/>
              </a:rPr>
              <a:t>Ce qu'il faut retenir</a:t>
            </a:r>
            <a:endParaRPr lang="en-US" sz="3200" dirty="0"/>
          </a:p>
        </p:txBody>
      </p:sp>
      <p:sp>
        <p:nvSpPr>
          <p:cNvPr id="4" name="Shape 2"/>
          <p:cNvSpPr/>
          <p:nvPr/>
        </p:nvSpPr>
        <p:spPr>
          <a:xfrm>
            <a:off x="812780" y="1854175"/>
            <a:ext cx="2451140" cy="1304211"/>
          </a:xfrm>
          <a:prstGeom prst="roundRect">
            <a:avLst>
              <a:gd name="adj" fmla="val 9738"/>
            </a:avLst>
          </a:prstGeom>
          <a:solidFill>
            <a:srgbClr val="FFFFFF"/>
          </a:solidFill>
          <a:ln/>
        </p:spPr>
      </p:sp>
      <p:sp>
        <p:nvSpPr>
          <p:cNvPr id="5" name="Shape 3"/>
          <p:cNvSpPr/>
          <p:nvPr/>
        </p:nvSpPr>
        <p:spPr>
          <a:xfrm>
            <a:off x="812780" y="1854175"/>
            <a:ext cx="2451140" cy="1304211"/>
          </a:xfrm>
          <a:custGeom>
            <a:avLst/>
            <a:gdLst/>
            <a:ahLst/>
            <a:cxnLst/>
            <a:rect l="l" t="t" r="r" b="b"/>
            <a:pathLst>
              <a:path w="2451140" h="1304211">
                <a:moveTo>
                  <a:pt x="0" y="127000"/>
                </a:moveTo>
                <a:lnTo>
                  <a:pt x="0" y="127000"/>
                </a:lnTo>
                <a:arcTo wR="127000" hR="127000" stAng="10800000" swAng="5400000"/>
                <a:lnTo>
                  <a:pt x="2324140" y="0"/>
                </a:lnTo>
                <a:arcTo wR="127000" hR="127000" stAng="16200000" swAng="5400000"/>
                <a:lnTo>
                  <a:pt x="2451140" y="127000"/>
                </a:lnTo>
                <a:arcTo wR="127000" hR="76200" stAng="0" swAng="-5400000"/>
                <a:lnTo>
                  <a:pt x="127000" y="50800"/>
                </a:lnTo>
                <a:arcTo wR="127000" hR="76200" stAng="16200000" swAng="-5400000"/>
                <a:close/>
              </a:path>
            </a:pathLst>
          </a:custGeom>
          <a:solidFill>
            <a:srgbClr val="E3A23B"/>
          </a:solidFill>
          <a:ln/>
        </p:spPr>
      </p:sp>
      <p:sp>
        <p:nvSpPr>
          <p:cNvPr id="6" name="Text 4"/>
          <p:cNvSpPr/>
          <p:nvPr/>
        </p:nvSpPr>
        <p:spPr>
          <a:xfrm>
            <a:off x="1015960" y="2106885"/>
            <a:ext cx="210612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211B"/>
                </a:solidFill>
                <a:latin typeface="Space Grotesk" pitchFamily="34" charset="0"/>
                <a:ea typeface="Space Grotesk" pitchFamily="34" charset="-122"/>
                <a:cs typeface="Space Grotesk" pitchFamily="34" charset="-120"/>
              </a:rPr>
              <a:t>Pipeline</a:t>
            </a:r>
            <a:endParaRPr lang="en-US" sz="1800" dirty="0"/>
          </a:p>
        </p:txBody>
      </p:sp>
      <p:sp>
        <p:nvSpPr>
          <p:cNvPr id="7" name="Text 5"/>
          <p:cNvSpPr/>
          <p:nvPr/>
        </p:nvSpPr>
        <p:spPr>
          <a:xfrm>
            <a:off x="1015960" y="2457400"/>
            <a:ext cx="2106123"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Tout le prétraitement dans un seul objet</a:t>
            </a:r>
            <a:endParaRPr lang="en-US" sz="1400" dirty="0"/>
          </a:p>
        </p:txBody>
      </p:sp>
      <p:sp>
        <p:nvSpPr>
          <p:cNvPr id="8" name="Shape 6"/>
          <p:cNvSpPr/>
          <p:nvPr/>
        </p:nvSpPr>
        <p:spPr>
          <a:xfrm>
            <a:off x="3517880" y="1854175"/>
            <a:ext cx="2451140" cy="1304211"/>
          </a:xfrm>
          <a:prstGeom prst="roundRect">
            <a:avLst>
              <a:gd name="adj" fmla="val 9738"/>
            </a:avLst>
          </a:prstGeom>
          <a:solidFill>
            <a:srgbClr val="FFFFFF"/>
          </a:solidFill>
          <a:ln/>
        </p:spPr>
      </p:sp>
      <p:sp>
        <p:nvSpPr>
          <p:cNvPr id="9" name="Shape 7"/>
          <p:cNvSpPr/>
          <p:nvPr/>
        </p:nvSpPr>
        <p:spPr>
          <a:xfrm>
            <a:off x="3517880" y="1854175"/>
            <a:ext cx="2451140" cy="1304211"/>
          </a:xfrm>
          <a:custGeom>
            <a:avLst/>
            <a:gdLst/>
            <a:ahLst/>
            <a:cxnLst/>
            <a:rect l="l" t="t" r="r" b="b"/>
            <a:pathLst>
              <a:path w="2451140" h="1304211">
                <a:moveTo>
                  <a:pt x="0" y="127000"/>
                </a:moveTo>
                <a:lnTo>
                  <a:pt x="0" y="127000"/>
                </a:lnTo>
                <a:arcTo wR="127000" hR="127000" stAng="10800000" swAng="5400000"/>
                <a:lnTo>
                  <a:pt x="2324140" y="0"/>
                </a:lnTo>
                <a:arcTo wR="127000" hR="127000" stAng="16200000" swAng="5400000"/>
                <a:lnTo>
                  <a:pt x="2451140" y="127000"/>
                </a:lnTo>
                <a:arcTo wR="127000" hR="76200" stAng="0" swAng="-5400000"/>
                <a:lnTo>
                  <a:pt x="127000" y="50800"/>
                </a:lnTo>
                <a:arcTo wR="127000" hR="76200" stAng="16200000" swAng="-5400000"/>
                <a:close/>
              </a:path>
            </a:pathLst>
          </a:custGeom>
          <a:solidFill>
            <a:srgbClr val="E3A23B"/>
          </a:solidFill>
          <a:ln/>
        </p:spPr>
      </p:sp>
      <p:sp>
        <p:nvSpPr>
          <p:cNvPr id="10" name="Text 8"/>
          <p:cNvSpPr/>
          <p:nvPr/>
        </p:nvSpPr>
        <p:spPr>
          <a:xfrm>
            <a:off x="3721060" y="2106885"/>
            <a:ext cx="210612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211B"/>
                </a:solidFill>
                <a:latin typeface="Space Grotesk" pitchFamily="34" charset="0"/>
                <a:ea typeface="Space Grotesk" pitchFamily="34" charset="-122"/>
                <a:cs typeface="Space Grotesk" pitchFamily="34" charset="-120"/>
              </a:rPr>
              <a:t>Valider</a:t>
            </a:r>
            <a:endParaRPr lang="en-US" sz="1800" dirty="0"/>
          </a:p>
        </p:txBody>
      </p:sp>
      <p:sp>
        <p:nvSpPr>
          <p:cNvPr id="11" name="Text 9"/>
          <p:cNvSpPr/>
          <p:nvPr/>
        </p:nvSpPr>
        <p:spPr>
          <a:xfrm>
            <a:off x="3721060" y="2457400"/>
            <a:ext cx="2106123"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Validation croisée, test utilisé une fois</a:t>
            </a:r>
            <a:endParaRPr lang="en-US" sz="1400" dirty="0"/>
          </a:p>
        </p:txBody>
      </p:sp>
      <p:sp>
        <p:nvSpPr>
          <p:cNvPr id="12" name="Shape 10"/>
          <p:cNvSpPr/>
          <p:nvPr/>
        </p:nvSpPr>
        <p:spPr>
          <a:xfrm>
            <a:off x="6222980" y="1854175"/>
            <a:ext cx="2451140" cy="1304211"/>
          </a:xfrm>
          <a:prstGeom prst="roundRect">
            <a:avLst>
              <a:gd name="adj" fmla="val 9738"/>
            </a:avLst>
          </a:prstGeom>
          <a:solidFill>
            <a:srgbClr val="FFFFFF"/>
          </a:solidFill>
          <a:ln/>
        </p:spPr>
      </p:sp>
      <p:sp>
        <p:nvSpPr>
          <p:cNvPr id="13" name="Shape 11"/>
          <p:cNvSpPr/>
          <p:nvPr/>
        </p:nvSpPr>
        <p:spPr>
          <a:xfrm>
            <a:off x="6222980" y="1854175"/>
            <a:ext cx="2451140" cy="1304211"/>
          </a:xfrm>
          <a:custGeom>
            <a:avLst/>
            <a:gdLst/>
            <a:ahLst/>
            <a:cxnLst/>
            <a:rect l="l" t="t" r="r" b="b"/>
            <a:pathLst>
              <a:path w="2451140" h="1304211">
                <a:moveTo>
                  <a:pt x="0" y="127000"/>
                </a:moveTo>
                <a:lnTo>
                  <a:pt x="0" y="127000"/>
                </a:lnTo>
                <a:arcTo wR="127000" hR="127000" stAng="10800000" swAng="5400000"/>
                <a:lnTo>
                  <a:pt x="2324140" y="0"/>
                </a:lnTo>
                <a:arcTo wR="127000" hR="127000" stAng="16200000" swAng="5400000"/>
                <a:lnTo>
                  <a:pt x="2451140" y="127000"/>
                </a:lnTo>
                <a:arcTo wR="127000" hR="76200" stAng="0" swAng="-5400000"/>
                <a:lnTo>
                  <a:pt x="127000" y="50800"/>
                </a:lnTo>
                <a:arcTo wR="127000" hR="76200" stAng="16200000" swAng="-5400000"/>
                <a:close/>
              </a:path>
            </a:pathLst>
          </a:custGeom>
          <a:solidFill>
            <a:srgbClr val="E3A23B"/>
          </a:solidFill>
          <a:ln/>
        </p:spPr>
      </p:sp>
      <p:sp>
        <p:nvSpPr>
          <p:cNvPr id="14" name="Text 12"/>
          <p:cNvSpPr/>
          <p:nvPr/>
        </p:nvSpPr>
        <p:spPr>
          <a:xfrm>
            <a:off x="6426160" y="2106885"/>
            <a:ext cx="210612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211B"/>
                </a:solidFill>
                <a:latin typeface="Space Grotesk" pitchFamily="34" charset="0"/>
                <a:ea typeface="Space Grotesk" pitchFamily="34" charset="-122"/>
                <a:cs typeface="Space Grotesk" pitchFamily="34" charset="-120"/>
              </a:rPr>
              <a:t>Mesurer</a:t>
            </a:r>
            <a:endParaRPr lang="en-US" sz="1800" dirty="0"/>
          </a:p>
        </p:txBody>
      </p:sp>
      <p:sp>
        <p:nvSpPr>
          <p:cNvPr id="15" name="Text 13"/>
          <p:cNvSpPr/>
          <p:nvPr/>
        </p:nvSpPr>
        <p:spPr>
          <a:xfrm>
            <a:off x="6426160" y="2457400"/>
            <a:ext cx="2106123"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La métrique traduit le coût métier</a:t>
            </a:r>
            <a:endParaRPr lang="en-US" sz="1400" dirty="0"/>
          </a:p>
        </p:txBody>
      </p:sp>
      <p:sp>
        <p:nvSpPr>
          <p:cNvPr id="16" name="Shape 14"/>
          <p:cNvSpPr/>
          <p:nvPr/>
        </p:nvSpPr>
        <p:spPr>
          <a:xfrm>
            <a:off x="8928081" y="1854175"/>
            <a:ext cx="2451140" cy="1304211"/>
          </a:xfrm>
          <a:prstGeom prst="roundRect">
            <a:avLst>
              <a:gd name="adj" fmla="val 9738"/>
            </a:avLst>
          </a:prstGeom>
          <a:solidFill>
            <a:srgbClr val="FFFFFF"/>
          </a:solidFill>
          <a:ln/>
        </p:spPr>
      </p:sp>
      <p:sp>
        <p:nvSpPr>
          <p:cNvPr id="17" name="Shape 15"/>
          <p:cNvSpPr/>
          <p:nvPr/>
        </p:nvSpPr>
        <p:spPr>
          <a:xfrm>
            <a:off x="8928081" y="1854175"/>
            <a:ext cx="2451140" cy="1304211"/>
          </a:xfrm>
          <a:custGeom>
            <a:avLst/>
            <a:gdLst/>
            <a:ahLst/>
            <a:cxnLst/>
            <a:rect l="l" t="t" r="r" b="b"/>
            <a:pathLst>
              <a:path w="2451140" h="1304211">
                <a:moveTo>
                  <a:pt x="0" y="127000"/>
                </a:moveTo>
                <a:lnTo>
                  <a:pt x="0" y="127000"/>
                </a:lnTo>
                <a:arcTo wR="127000" hR="127000" stAng="10800000" swAng="5400000"/>
                <a:lnTo>
                  <a:pt x="2324140" y="0"/>
                </a:lnTo>
                <a:arcTo wR="127000" hR="127000" stAng="16200000" swAng="5400000"/>
                <a:lnTo>
                  <a:pt x="2451140" y="127000"/>
                </a:lnTo>
                <a:arcTo wR="127000" hR="76200" stAng="0" swAng="-5400000"/>
                <a:lnTo>
                  <a:pt x="127000" y="50800"/>
                </a:lnTo>
                <a:arcTo wR="127000" hR="76200" stAng="16200000" swAng="-5400000"/>
                <a:close/>
              </a:path>
            </a:pathLst>
          </a:custGeom>
          <a:solidFill>
            <a:srgbClr val="E3A23B"/>
          </a:solidFill>
          <a:ln/>
        </p:spPr>
      </p:sp>
      <p:sp>
        <p:nvSpPr>
          <p:cNvPr id="18" name="Text 16"/>
          <p:cNvSpPr/>
          <p:nvPr/>
        </p:nvSpPr>
        <p:spPr>
          <a:xfrm>
            <a:off x="9131260" y="2106885"/>
            <a:ext cx="210612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211B"/>
                </a:solidFill>
                <a:latin typeface="Space Grotesk" pitchFamily="34" charset="0"/>
                <a:ea typeface="Space Grotesk" pitchFamily="34" charset="-122"/>
                <a:cs typeface="Space Grotesk" pitchFamily="34" charset="-120"/>
              </a:rPr>
              <a:t>Expliquer</a:t>
            </a:r>
            <a:endParaRPr lang="en-US" sz="1800" dirty="0"/>
          </a:p>
        </p:txBody>
      </p:sp>
      <p:sp>
        <p:nvSpPr>
          <p:cNvPr id="19" name="Text 17"/>
          <p:cNvSpPr/>
          <p:nvPr/>
        </p:nvSpPr>
        <p:spPr>
          <a:xfrm>
            <a:off x="9131260" y="2457400"/>
            <a:ext cx="2106123"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6158"/>
                </a:solidFill>
                <a:latin typeface="Space Grotesk" pitchFamily="34" charset="0"/>
                <a:ea typeface="Space Grotesk" pitchFamily="34" charset="-122"/>
                <a:cs typeface="Space Grotesk" pitchFamily="34" charset="-120"/>
              </a:rPr>
              <a:t>Courbes, importances, calibration</a:t>
            </a:r>
            <a:endParaRPr lang="en-US" sz="1400" dirty="0"/>
          </a:p>
        </p:txBody>
      </p:sp>
      <p:sp>
        <p:nvSpPr>
          <p:cNvPr id="20" name="Shape 18"/>
          <p:cNvSpPr/>
          <p:nvPr/>
        </p:nvSpPr>
        <p:spPr>
          <a:xfrm>
            <a:off x="812780" y="3463181"/>
            <a:ext cx="10566440" cy="673060"/>
          </a:xfrm>
          <a:prstGeom prst="roundRect">
            <a:avLst>
              <a:gd name="adj" fmla="val 18869"/>
            </a:avLst>
          </a:prstGeom>
          <a:solidFill>
            <a:srgbClr val="EBE6DA"/>
          </a:solidFill>
          <a:ln/>
        </p:spPr>
      </p:sp>
      <p:sp>
        <p:nvSpPr>
          <p:cNvPr id="21" name="Text 19"/>
          <p:cNvSpPr/>
          <p:nvPr/>
        </p:nvSpPr>
        <p:spPr>
          <a:xfrm>
            <a:off x="1066741" y="3666356"/>
            <a:ext cx="616645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211B"/>
                </a:solidFill>
                <a:latin typeface="Space Grotesk" pitchFamily="34" charset="0"/>
                <a:ea typeface="Space Grotesk" pitchFamily="34" charset="-122"/>
                <a:cs typeface="Space Grotesk" pitchFamily="34" charset="-120"/>
              </a:rPr>
              <a:t>Séance 5</a:t>
            </a:r>
            <a:r>
              <a:rPr lang="en-US" sz="1500" dirty="0">
                <a:solidFill>
                  <a:srgbClr val="2B211B"/>
                </a:solidFill>
                <a:latin typeface="Space Grotesk" pitchFamily="34" charset="0"/>
                <a:ea typeface="Space Grotesk" pitchFamily="34" charset="-122"/>
                <a:cs typeface="Space Grotesk" pitchFamily="34" charset="-120"/>
              </a:rPr>
              <a:t> · Deep learning et vision avec PyTorch et OpenCV</a:t>
            </a:r>
            <a:endParaRPr lang="en-US" sz="1500" dirty="0"/>
          </a:p>
        </p:txBody>
      </p:sp>
      <p:sp>
        <p:nvSpPr>
          <p:cNvPr id="22" name="Text 20"/>
          <p:cNvSpPr/>
          <p:nvPr/>
        </p:nvSpPr>
        <p:spPr>
          <a:xfrm>
            <a:off x="7440442" y="3684166"/>
            <a:ext cx="3684818" cy="25650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9A5414"/>
                </a:solidFill>
                <a:latin typeface="JetBrains Mono" pitchFamily="49" charset="0"/>
                <a:ea typeface="JetBrains Mono" pitchFamily="49" charset="-122"/>
                <a:cs typeface="JetBrains Mono" pitchFamily="49" charset="-120"/>
              </a:rPr>
              <a:t>pip install torch opencv-python</a:t>
            </a:r>
            <a:endParaRPr lang="en-US" sz="1300" dirty="0"/>
          </a:p>
        </p:txBody>
      </p:sp>
      <p:pic>
        <p:nvPicPr>
          <p:cNvPr id="23" name="Image 0" descr="Logo ISM"/>
          <p:cNvPicPr>
            <a:picLocks noChangeAspect="1"/>
          </p:cNvPicPr>
          <p:nvPr/>
        </p:nvPicPr>
        <p:blipFill>
          <a:blip r:embed="rId3"/>
          <a:srcRect l="431" r="431"/>
          <a:stretch/>
        </p:blipFill>
        <p:spPr>
          <a:xfrm>
            <a:off x="812780" y="6223050"/>
            <a:ext cx="279380" cy="279380"/>
          </a:xfrm>
          <a:prstGeom prst="roundRect">
            <a:avLst>
              <a:gd name="adj" fmla="val 13637"/>
            </a:avLst>
          </a:prstGeom>
        </p:spPr>
      </p:pic>
      <p:sp>
        <p:nvSpPr>
          <p:cNvPr id="24" name="Text 21"/>
          <p:cNvSpPr/>
          <p:nvPr/>
        </p:nvSpPr>
        <p:spPr>
          <a:xfrm>
            <a:off x="1193721" y="6256040"/>
            <a:ext cx="54806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158"/>
                </a:solidFill>
                <a:latin typeface="Space Grotesk" pitchFamily="34" charset="0"/>
                <a:ea typeface="Space Grotesk" pitchFamily="34" charset="-122"/>
                <a:cs typeface="Space Grotesk" pitchFamily="34" charset="-120"/>
              </a:rPr>
              <a:t>ISM École d’ingénieurs · Python · L3 IA · Séance 4 — scikit-learn</a:t>
            </a:r>
            <a:endParaRPr lang="en-US" sz="1200" dirty="0"/>
          </a:p>
        </p:txBody>
      </p:sp>
      <p:sp>
        <p:nvSpPr>
          <p:cNvPr id="25" name="Text 22"/>
          <p:cNvSpPr/>
          <p:nvPr/>
        </p:nvSpPr>
        <p:spPr>
          <a:xfrm>
            <a:off x="10845094" y="6256040"/>
            <a:ext cx="53406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158"/>
                </a:solidFill>
                <a:latin typeface="Space Grotesk" pitchFamily="34" charset="0"/>
                <a:ea typeface="Space Grotesk" pitchFamily="34" charset="-122"/>
                <a:cs typeface="Space Grotesk" pitchFamily="34" charset="-120"/>
              </a:rPr>
              <a:t>41 / 41</a:t>
            </a:r>
            <a:endParaRPr lang="en-US" sz="1200" dirty="0"/>
          </a:p>
        </p:txBody>
      </p:sp>
    </p:spTree>
  </p:cSld>
  <p:clrMapOvr>
    <a:masterClrMapping/>
  </p:clrMapOvr>
</p:sld>
</file>

<file path=ppt/theme/theme1.xml><?xml version="1.0" encoding="utf-8"?>
<a:theme xmlns:a="http://schemas.openxmlformats.org/drawingml/2006/main" name="Python — Séance 4 : Machine Learning avancé avec scikit-learn">
  <a:themeElements>
    <a:clrScheme name="Python — Séance 4 : Machine Learning avancé avec scikit-learn">
      <a:dk1>
        <a:srgbClr val="2B211B"/>
      </a:dk1>
      <a:lt1>
        <a:srgbClr val="F7F5EF"/>
      </a:lt1>
      <a:dk2>
        <a:srgbClr val="5E5650"/>
      </a:dk2>
      <a:lt2>
        <a:srgbClr val="E3E0DA"/>
      </a:lt2>
      <a:accent1>
        <a:srgbClr val="9A5414"/>
      </a:accent1>
      <a:accent2>
        <a:srgbClr val="4A2F20"/>
      </a:accent2>
      <a:accent3>
        <a:srgbClr val="E3A23B"/>
      </a:accent3>
      <a:accent4>
        <a:srgbClr val="C0392B"/>
      </a:accent4>
      <a:accent5>
        <a:srgbClr val="1E8449"/>
      </a:accent5>
      <a:accent6>
        <a:srgbClr val="6B6158"/>
      </a:accent6>
      <a:hlink>
        <a:srgbClr val="0563C1"/>
      </a:hlink>
      <a:folHlink>
        <a:srgbClr val="954F72"/>
      </a:folHlink>
    </a:clrScheme>
    <a:fontScheme name="Python — Séance 4 : Machine Learning avancé avec scikit-lear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1035</TotalTime>
  <Words>8023</Words>
  <Application>Microsoft Macintosh PowerPoint</Application>
  <PresentationFormat>Grand écran</PresentationFormat>
  <Paragraphs>703</Paragraphs>
  <Slides>40</Slides>
  <Notes>40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40</vt:i4>
      </vt:variant>
    </vt:vector>
  </HeadingPairs>
  <TitlesOfParts>
    <vt:vector size="44" baseType="lpstr">
      <vt:lpstr>Arial</vt:lpstr>
      <vt:lpstr>JetBrains Mono</vt:lpstr>
      <vt:lpstr>Space Grotesk</vt:lpstr>
      <vt:lpstr>Python — Séance 4 : Machine Learning avancé avec scikit-learn</vt:lpstr>
      <vt:lpstr>Machine Learning avancé avec scikit-learn</vt:lpstr>
      <vt:lpstr>Objectifs de la séance</vt:lpstr>
      <vt:lpstr>Où en sommes-nous ?</vt:lpstr>
      <vt:lpstr>Fondamentaux</vt:lpstr>
      <vt:lpstr>Le flux de travail d'un projet ML</vt:lpstr>
      <vt:lpstr>Une API, trois rôles</vt:lpstr>
      <vt:lpstr>Les grandes familles de problèmes</vt:lpstr>
      <vt:lpstr>Découper avant toute chose</vt:lpstr>
      <vt:lpstr>Pipelines</vt:lpstr>
      <vt:lpstr>Pourquoi un Pipeline ?</vt:lpstr>
      <vt:lpstr>ColumnTransformer : un traitement par type</vt:lpstr>
      <vt:lpstr>Un modèle complet en une ligne</vt:lpstr>
      <vt:lpstr>Transformer la cible</vt:lpstr>
      <vt:lpstr>Écrire son propre transformeur</vt:lpstr>
      <vt:lpstr>Inspecter ce qui sort du pipeline</vt:lpstr>
      <vt:lpstr>Évaluer sans se mentir</vt:lpstr>
      <vt:lpstr>La validation croisée en K plis</vt:lpstr>
      <vt:lpstr>Comparer des modèles en validation croisée</vt:lpstr>
      <vt:lpstr>Choisir sa métrique de régression</vt:lpstr>
      <vt:lpstr>Classification : au-delà de l'exactitude</vt:lpstr>
      <vt:lpstr>Confusion, ROC et précision-rappel</vt:lpstr>
      <vt:lpstr>Optimiser le seuil de décision</vt:lpstr>
      <vt:lpstr>Des probabilités dignes de confiance</vt:lpstr>
      <vt:lpstr>Lire un diagramme de fiabilité</vt:lpstr>
      <vt:lpstr>La fuite de données, démontrée</vt:lpstr>
      <vt:lpstr>Données temporelles : TimeSeriesSplit</vt:lpstr>
      <vt:lpstr>Modèles et optimisation</vt:lpstr>
      <vt:lpstr>Biais et variance : la courbe de validation</vt:lpstr>
      <vt:lpstr>Panorama des modèles utiles</vt:lpstr>
      <vt:lpstr>Recherche aléatoire d'hyperparamètres</vt:lpstr>
      <vt:lpstr>Faut-il plus de données ?</vt:lpstr>
      <vt:lpstr>Qu'a appris le modèle ?</vt:lpstr>
      <vt:lpstr>Classes déséquilibrées</vt:lpstr>
      <vt:lpstr>Non supervisé et production</vt:lpstr>
      <vt:lpstr>K-means et ACP : des profils de joueurs</vt:lpstr>
      <vt:lpstr>Sauvegarder et réutiliser le pipeline</vt:lpstr>
      <vt:lpstr>Check-list de l'expert</vt:lpstr>
      <vt:lpstr>Aide-mémoire scikit-learn</vt:lpstr>
      <vt:lpstr>TP4 : prédire la Ligue Pro</vt:lpstr>
      <vt:lpstr>Ce qu'il faut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 Séance 4 : Machine Learning avancé avec scikit-learn</dc:title>
  <dc:subject/>
  <dc:creator/>
  <cp:lastModifiedBy>ELIAS BADJI</cp:lastModifiedBy>
  <cp:revision>3</cp:revision>
  <dcterms:created xsi:type="dcterms:W3CDTF">2026-10-18T17:42:57Z</dcterms:created>
  <dcterms:modified xsi:type="dcterms:W3CDTF">2026-10-19T13:03:35Z</dcterms:modified>
</cp:coreProperties>
</file>